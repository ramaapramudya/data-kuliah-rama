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71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68638-EA52-40FC-99BD-62548F0A05D2}" type="datetimeFigureOut">
              <a:rPr lang="en-ID" smtClean="0"/>
              <a:t>20/05/24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8146B-A1D7-42F8-AE13-6FE7790D4E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25414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68638-EA52-40FC-99BD-62548F0A05D2}" type="datetimeFigureOut">
              <a:rPr lang="en-ID" smtClean="0"/>
              <a:t>20/05/24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8146B-A1D7-42F8-AE13-6FE7790D4E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92507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68638-EA52-40FC-99BD-62548F0A05D2}" type="datetimeFigureOut">
              <a:rPr lang="en-ID" smtClean="0"/>
              <a:t>20/05/24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8146B-A1D7-42F8-AE13-6FE7790D4E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93413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68638-EA52-40FC-99BD-62548F0A05D2}" type="datetimeFigureOut">
              <a:rPr lang="en-ID" smtClean="0"/>
              <a:t>20/05/24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8146B-A1D7-42F8-AE13-6FE7790D4E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26444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68638-EA52-40FC-99BD-62548F0A05D2}" type="datetimeFigureOut">
              <a:rPr lang="en-ID" smtClean="0"/>
              <a:t>20/05/24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8146B-A1D7-42F8-AE13-6FE7790D4E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71059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68638-EA52-40FC-99BD-62548F0A05D2}" type="datetimeFigureOut">
              <a:rPr lang="en-ID" smtClean="0"/>
              <a:t>20/05/24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8146B-A1D7-42F8-AE13-6FE7790D4E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84293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68638-EA52-40FC-99BD-62548F0A05D2}" type="datetimeFigureOut">
              <a:rPr lang="en-ID" smtClean="0"/>
              <a:t>20/05/24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8146B-A1D7-42F8-AE13-6FE7790D4E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53154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68638-EA52-40FC-99BD-62548F0A05D2}" type="datetimeFigureOut">
              <a:rPr lang="en-ID" smtClean="0"/>
              <a:t>20/05/24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8146B-A1D7-42F8-AE13-6FE7790D4E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71302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68638-EA52-40FC-99BD-62548F0A05D2}" type="datetimeFigureOut">
              <a:rPr lang="en-ID" smtClean="0"/>
              <a:t>20/05/24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8146B-A1D7-42F8-AE13-6FE7790D4E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94083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68638-EA52-40FC-99BD-62548F0A05D2}" type="datetimeFigureOut">
              <a:rPr lang="en-ID" smtClean="0"/>
              <a:t>20/05/24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8146B-A1D7-42F8-AE13-6FE7790D4E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67584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68638-EA52-40FC-99BD-62548F0A05D2}" type="datetimeFigureOut">
              <a:rPr lang="en-ID" smtClean="0"/>
              <a:t>20/05/24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8146B-A1D7-42F8-AE13-6FE7790D4E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90171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68638-EA52-40FC-99BD-62548F0A05D2}" type="datetimeFigureOut">
              <a:rPr lang="en-ID" smtClean="0"/>
              <a:t>20/05/24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8146B-A1D7-42F8-AE13-6FE7790D4E53}" type="slidenum">
              <a:rPr lang="en-ID" smtClean="0"/>
              <a:t>‹#›</a:t>
            </a:fld>
            <a:endParaRPr lang="en-ID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38784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68638-EA52-40FC-99BD-62548F0A05D2}" type="datetimeFigureOut">
              <a:rPr lang="en-ID" smtClean="0"/>
              <a:t>20/05/24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8146B-A1D7-42F8-AE13-6FE7790D4E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074590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68638-EA52-40FC-99BD-62548F0A05D2}" type="datetimeFigureOut">
              <a:rPr lang="en-ID" smtClean="0"/>
              <a:t>20/05/24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8146B-A1D7-42F8-AE13-6FE7790D4E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77393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68638-EA52-40FC-99BD-62548F0A05D2}" type="datetimeFigureOut">
              <a:rPr lang="en-ID" smtClean="0"/>
              <a:t>20/05/24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8146B-A1D7-42F8-AE13-6FE7790D4E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344204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68638-EA52-40FC-99BD-62548F0A05D2}" type="datetimeFigureOut">
              <a:rPr lang="en-ID" smtClean="0"/>
              <a:t>20/05/24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8146B-A1D7-42F8-AE13-6FE7790D4E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618751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68638-EA52-40FC-99BD-62548F0A05D2}" type="datetimeFigureOut">
              <a:rPr lang="en-ID" smtClean="0"/>
              <a:t>20/05/24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8146B-A1D7-42F8-AE13-6FE7790D4E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94553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8568638-EA52-40FC-99BD-62548F0A05D2}" type="datetimeFigureOut">
              <a:rPr lang="en-ID" smtClean="0"/>
              <a:t>20/05/24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9C8146B-A1D7-42F8-AE13-6FE7790D4E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259861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79527-49EB-4959-91DE-F6E38F8E2B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678157"/>
            <a:ext cx="9440034" cy="1765792"/>
          </a:xfrm>
        </p:spPr>
        <p:txBody>
          <a:bodyPr>
            <a:normAutofit fontScale="90000"/>
          </a:bodyPr>
          <a:lstStyle/>
          <a:p>
            <a:r>
              <a:rPr lang="en-ID" sz="35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REVIEW JURNAL</a:t>
            </a:r>
            <a:br>
              <a:rPr lang="en-ID" sz="30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</a:br>
            <a:r>
              <a:rPr lang="en-ID" sz="30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“SISTEM PENDUKUNG KEPUTUSAN PEMILIHAN LAPTOP DENGAN MENGGUNAKAN METODE TOPSIS”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2DBA0-F38D-403D-BAD6-7F9CD7C42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5983" y="4814120"/>
            <a:ext cx="9440034" cy="1049867"/>
          </a:xfrm>
        </p:spPr>
        <p:txBody>
          <a:bodyPr/>
          <a:lstStyle/>
          <a:p>
            <a:r>
              <a:rPr lang="en-US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Disusun</a:t>
            </a:r>
            <a:r>
              <a:rPr lang="en-US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oleh:</a:t>
            </a:r>
          </a:p>
          <a:p>
            <a:r>
              <a:rPr lang="en-US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Rama </a:t>
            </a:r>
            <a:r>
              <a:rPr lang="en-US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Pramudya</a:t>
            </a:r>
            <a:r>
              <a:rPr lang="en-US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Wibisana</a:t>
            </a:r>
            <a:r>
              <a:rPr lang="en-US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		2022320019</a:t>
            </a:r>
            <a:endParaRPr lang="en-ID" b="1" dirty="0">
              <a:solidFill>
                <a:schemeClr val="tx2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9A809625-5338-4B4F-8B85-6B0F372CB57C}"/>
              </a:ext>
            </a:extLst>
          </p:cNvPr>
          <p:cNvPicPr/>
          <p:nvPr/>
        </p:nvPicPr>
        <p:blipFill>
          <a:blip r:embed="rId2"/>
          <a:srcRect l="5660" t="19736" b="22367"/>
          <a:stretch/>
        </p:blipFill>
        <p:spPr bwMode="auto">
          <a:xfrm>
            <a:off x="3641725" y="2909262"/>
            <a:ext cx="4908550" cy="143954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21720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02DBA0-F38D-403D-BAD6-7F9CD7C42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6771" y="1904762"/>
            <a:ext cx="2451958" cy="396966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KRITERIA: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C1 = Harga 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C2 = RAM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C3 = </a:t>
            </a:r>
            <a:r>
              <a:rPr lang="en-US" sz="16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Hardisk</a:t>
            </a:r>
            <a:endParaRPr lang="en-US" sz="1600" b="1" dirty="0">
              <a:solidFill>
                <a:schemeClr val="tx2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C4 = </a:t>
            </a:r>
            <a:r>
              <a:rPr lang="en-US" sz="16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Prosesor</a:t>
            </a:r>
            <a:endParaRPr lang="en-US" sz="1600" b="1" dirty="0">
              <a:solidFill>
                <a:schemeClr val="tx2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C5 = </a:t>
            </a:r>
            <a:r>
              <a:rPr lang="en-US" sz="16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Ukuran</a:t>
            </a:r>
            <a:r>
              <a:rPr lang="en-US" sz="16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Layar</a:t>
            </a:r>
            <a:endParaRPr lang="en-US" sz="1600" b="1" dirty="0">
              <a:solidFill>
                <a:schemeClr val="tx2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C6 = VGA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C7 = </a:t>
            </a:r>
            <a:r>
              <a:rPr lang="en-US" sz="16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Baterai</a:t>
            </a:r>
            <a:endParaRPr lang="en-US" sz="1600" b="1" dirty="0">
              <a:solidFill>
                <a:schemeClr val="tx2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C8 = </a:t>
            </a:r>
            <a:r>
              <a:rPr lang="en-US" sz="16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Berat</a:t>
            </a:r>
            <a:r>
              <a:rPr lang="en-US" sz="16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Laptop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C9 = </a:t>
            </a:r>
            <a:r>
              <a:rPr lang="en-US" sz="16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Garansi</a:t>
            </a:r>
            <a:endParaRPr lang="en-ID" sz="1600" b="1" dirty="0">
              <a:solidFill>
                <a:schemeClr val="tx2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9A809625-5338-4B4F-8B85-6B0F372CB57C}"/>
              </a:ext>
            </a:extLst>
          </p:cNvPr>
          <p:cNvPicPr/>
          <p:nvPr/>
        </p:nvPicPr>
        <p:blipFill>
          <a:blip r:embed="rId2"/>
          <a:srcRect l="5660" t="19736" b="22367"/>
          <a:stretch/>
        </p:blipFill>
        <p:spPr bwMode="auto">
          <a:xfrm>
            <a:off x="10393205" y="360028"/>
            <a:ext cx="1606851" cy="471246"/>
          </a:xfrm>
          <a:prstGeom prst="rect">
            <a:avLst/>
          </a:prstGeom>
          <a:ln/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E8550116-2E0B-45A1-83A5-DC58F080E424}"/>
              </a:ext>
            </a:extLst>
          </p:cNvPr>
          <p:cNvSpPr txBox="1">
            <a:spLocks/>
          </p:cNvSpPr>
          <p:nvPr/>
        </p:nvSpPr>
        <p:spPr>
          <a:xfrm>
            <a:off x="7241903" y="1904762"/>
            <a:ext cx="2325178" cy="212008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PERTIMBANGAN:</a:t>
            </a:r>
            <a:r>
              <a:rPr lang="en-US" sz="16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S1=Acer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S2=HP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S3=Asus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S4=Lenovo</a:t>
            </a:r>
            <a:endParaRPr lang="en-ID" sz="1600" b="1" dirty="0">
              <a:solidFill>
                <a:schemeClr val="tx2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AB09281-C362-4BE3-B6A6-6756C047EDE3}"/>
              </a:ext>
            </a:extLst>
          </p:cNvPr>
          <p:cNvSpPr txBox="1">
            <a:spLocks/>
          </p:cNvSpPr>
          <p:nvPr/>
        </p:nvSpPr>
        <p:spPr>
          <a:xfrm>
            <a:off x="1051797" y="820621"/>
            <a:ext cx="10088405" cy="62354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KRITERIA DAN PERTIMBANGAN</a:t>
            </a:r>
          </a:p>
        </p:txBody>
      </p:sp>
    </p:spTree>
    <p:extLst>
      <p:ext uri="{BB962C8B-B14F-4D97-AF65-F5344CB8AC3E}">
        <p14:creationId xmlns:p14="http://schemas.microsoft.com/office/powerpoint/2010/main" val="1266569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02DBA0-F38D-403D-BAD6-7F9CD7C42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7624" y="886301"/>
            <a:ext cx="5816752" cy="104635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TABEL 1: SPESIFIKASI LAPTOP</a:t>
            </a: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9A809625-5338-4B4F-8B85-6B0F372CB57C}"/>
              </a:ext>
            </a:extLst>
          </p:cNvPr>
          <p:cNvPicPr/>
          <p:nvPr/>
        </p:nvPicPr>
        <p:blipFill>
          <a:blip r:embed="rId2"/>
          <a:srcRect l="5660" t="19736" b="22367"/>
          <a:stretch/>
        </p:blipFill>
        <p:spPr bwMode="auto">
          <a:xfrm>
            <a:off x="10393205" y="360028"/>
            <a:ext cx="1606851" cy="471246"/>
          </a:xfrm>
          <a:prstGeom prst="rect">
            <a:avLst/>
          </a:prstGeom>
          <a:ln/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152F26-49BC-4AB9-9BCB-25DB58AF7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114692"/>
              </p:ext>
            </p:extLst>
          </p:nvPr>
        </p:nvGraphicFramePr>
        <p:xfrm>
          <a:off x="1618467" y="1711037"/>
          <a:ext cx="8955065" cy="25427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887927">
                  <a:extLst>
                    <a:ext uri="{9D8B030D-6E8A-4147-A177-3AD203B41FA5}">
                      <a16:colId xmlns:a16="http://schemas.microsoft.com/office/drawing/2014/main" val="289756767"/>
                    </a:ext>
                  </a:extLst>
                </a:gridCol>
                <a:gridCol w="1082837">
                  <a:extLst>
                    <a:ext uri="{9D8B030D-6E8A-4147-A177-3AD203B41FA5}">
                      <a16:colId xmlns:a16="http://schemas.microsoft.com/office/drawing/2014/main" val="3091329899"/>
                    </a:ext>
                  </a:extLst>
                </a:gridCol>
                <a:gridCol w="727470">
                  <a:extLst>
                    <a:ext uri="{9D8B030D-6E8A-4147-A177-3AD203B41FA5}">
                      <a16:colId xmlns:a16="http://schemas.microsoft.com/office/drawing/2014/main" val="2054904696"/>
                    </a:ext>
                  </a:extLst>
                </a:gridCol>
                <a:gridCol w="971601">
                  <a:extLst>
                    <a:ext uri="{9D8B030D-6E8A-4147-A177-3AD203B41FA5}">
                      <a16:colId xmlns:a16="http://schemas.microsoft.com/office/drawing/2014/main" val="1752534148"/>
                    </a:ext>
                  </a:extLst>
                </a:gridCol>
                <a:gridCol w="1018851">
                  <a:extLst>
                    <a:ext uri="{9D8B030D-6E8A-4147-A177-3AD203B41FA5}">
                      <a16:colId xmlns:a16="http://schemas.microsoft.com/office/drawing/2014/main" val="1272092903"/>
                    </a:ext>
                  </a:extLst>
                </a:gridCol>
                <a:gridCol w="784564">
                  <a:extLst>
                    <a:ext uri="{9D8B030D-6E8A-4147-A177-3AD203B41FA5}">
                      <a16:colId xmlns:a16="http://schemas.microsoft.com/office/drawing/2014/main" val="3896570264"/>
                    </a:ext>
                  </a:extLst>
                </a:gridCol>
                <a:gridCol w="690063">
                  <a:extLst>
                    <a:ext uri="{9D8B030D-6E8A-4147-A177-3AD203B41FA5}">
                      <a16:colId xmlns:a16="http://schemas.microsoft.com/office/drawing/2014/main" val="1655258128"/>
                    </a:ext>
                  </a:extLst>
                </a:gridCol>
                <a:gridCol w="897771">
                  <a:extLst>
                    <a:ext uri="{9D8B030D-6E8A-4147-A177-3AD203B41FA5}">
                      <a16:colId xmlns:a16="http://schemas.microsoft.com/office/drawing/2014/main" val="3032709412"/>
                    </a:ext>
                  </a:extLst>
                </a:gridCol>
                <a:gridCol w="728454">
                  <a:extLst>
                    <a:ext uri="{9D8B030D-6E8A-4147-A177-3AD203B41FA5}">
                      <a16:colId xmlns:a16="http://schemas.microsoft.com/office/drawing/2014/main" val="3687178581"/>
                    </a:ext>
                  </a:extLst>
                </a:gridCol>
                <a:gridCol w="1165527">
                  <a:extLst>
                    <a:ext uri="{9D8B030D-6E8A-4147-A177-3AD203B41FA5}">
                      <a16:colId xmlns:a16="http://schemas.microsoft.com/office/drawing/2014/main" val="3144093512"/>
                    </a:ext>
                  </a:extLst>
                </a:gridCol>
              </a:tblGrid>
              <a:tr h="495152">
                <a:tc>
                  <a:txBody>
                    <a:bodyPr/>
                    <a:lstStyle/>
                    <a:p>
                      <a:pPr marL="76200">
                        <a:lnSpc>
                          <a:spcPts val="1245"/>
                        </a:lnSpc>
                      </a:pPr>
                      <a:r>
                        <a:rPr lang="id-ID" sz="1700" b="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Merk</a:t>
                      </a:r>
                      <a:endParaRPr lang="en-ID" sz="1700" b="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45"/>
                        </a:lnSpc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Harga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45"/>
                        </a:lnSpc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RAM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7785" marR="53975" algn="ctr">
                        <a:lnSpc>
                          <a:spcPts val="1245"/>
                        </a:lnSpc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Hardisk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7150" marR="53975" algn="ctr">
                        <a:lnSpc>
                          <a:spcPts val="1245"/>
                        </a:lnSpc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Prosesor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120" marR="57150">
                        <a:lnSpc>
                          <a:spcPts val="1190"/>
                        </a:lnSpc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Uk,</a:t>
                      </a:r>
                      <a:r>
                        <a:rPr lang="id-ID" sz="1700" b="0" spc="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Layar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 marR="64770" algn="r">
                        <a:lnSpc>
                          <a:spcPts val="1245"/>
                        </a:lnSpc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VGA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8420" marR="52705" algn="ctr">
                        <a:lnSpc>
                          <a:spcPts val="1245"/>
                        </a:lnSpc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Baterai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45"/>
                        </a:lnSpc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Berat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245"/>
                        </a:lnSpc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Garansi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02911405"/>
                  </a:ext>
                </a:extLst>
              </a:tr>
              <a:tr h="511887">
                <a:tc>
                  <a:txBody>
                    <a:bodyPr/>
                    <a:lstStyle/>
                    <a:p>
                      <a:pPr marL="76200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Acer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7.159.000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6</a:t>
                      </a:r>
                      <a:r>
                        <a:rPr lang="id-ID" sz="1700" b="0" spc="-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GB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7150" marR="53975" algn="ctr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</a:t>
                      </a:r>
                      <a:r>
                        <a:rPr lang="id-ID" sz="1700" b="0" spc="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TB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7150" marR="52705" algn="ctr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i5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 marR="177165" algn="r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14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 marR="69850" algn="r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</a:t>
                      </a:r>
                      <a:r>
                        <a:rPr lang="id-ID" sz="1700" b="0" spc="-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GB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8420" marR="52705" algn="ctr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12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37795" marR="131445"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2,2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37795" marR="129540" algn="ctr">
                        <a:lnSpc>
                          <a:spcPts val="1220"/>
                        </a:lnSpc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kg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Distributor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68644045"/>
                  </a:ext>
                </a:extLst>
              </a:tr>
              <a:tr h="511887">
                <a:tc>
                  <a:txBody>
                    <a:bodyPr/>
                    <a:lstStyle/>
                    <a:p>
                      <a:pPr marL="76200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HP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4.349.000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r>
                        <a:rPr lang="id-ID" sz="1700" b="0" spc="-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GB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7150" marR="53975" algn="ctr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</a:t>
                      </a:r>
                      <a:r>
                        <a:rPr lang="id-ID" sz="1700" b="0" spc="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TB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7150" marR="50800" algn="ctr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A9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 marR="177165" algn="r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14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 marR="69850" algn="r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</a:t>
                      </a:r>
                      <a:r>
                        <a:rPr lang="id-ID" sz="1700" b="0" spc="-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GB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6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37795" marR="131445"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1,5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37795" marR="129540" algn="ctr">
                        <a:lnSpc>
                          <a:spcPts val="1230"/>
                        </a:lnSpc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kg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Resmi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46529097"/>
                  </a:ext>
                </a:extLst>
              </a:tr>
              <a:tr h="511887">
                <a:tc>
                  <a:txBody>
                    <a:bodyPr/>
                    <a:lstStyle/>
                    <a:p>
                      <a:pPr marL="76200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Asus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8.599.000</a:t>
                      </a:r>
                      <a:endParaRPr lang="en-ID" sz="1700" b="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8</a:t>
                      </a:r>
                      <a:r>
                        <a:rPr lang="id-ID" sz="1700" b="0" spc="-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GB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7150" marR="53975" algn="ctr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</a:t>
                      </a:r>
                      <a:r>
                        <a:rPr lang="id-ID" sz="1700" b="0" spc="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TB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7150" marR="52705" algn="ctr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i5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 marR="177165" algn="r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14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 marR="69850" algn="r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</a:t>
                      </a:r>
                      <a:r>
                        <a:rPr lang="id-ID" sz="1700" b="0" spc="-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GB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6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37795" marR="131445" algn="ctr">
                        <a:lnSpc>
                          <a:spcPts val="1195"/>
                        </a:lnSpc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1,6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37795" marR="129540" algn="ctr">
                        <a:lnSpc>
                          <a:spcPts val="1225"/>
                        </a:lnSpc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kg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Resmi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9907616"/>
                  </a:ext>
                </a:extLst>
              </a:tr>
              <a:tr h="511887">
                <a:tc>
                  <a:txBody>
                    <a:bodyPr/>
                    <a:lstStyle/>
                    <a:p>
                      <a:pPr marL="76200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Lenovo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7.259.000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5095" marR="121920" algn="ctr">
                        <a:lnSpc>
                          <a:spcPts val="1195"/>
                        </a:lnSpc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12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5095" marR="123825" algn="ctr">
                        <a:lnSpc>
                          <a:spcPts val="1225"/>
                        </a:lnSpc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GB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7150" marR="53975" algn="ctr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</a:t>
                      </a:r>
                      <a:r>
                        <a:rPr lang="id-ID" sz="1700" b="0" spc="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TB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7150" marR="52705" algn="ctr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i5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 marR="177165" algn="r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14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 marR="69850" algn="r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</a:t>
                      </a:r>
                      <a:r>
                        <a:rPr lang="id-ID" sz="1700" b="0" spc="-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GB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37795" marR="131445" algn="ctr">
                        <a:lnSpc>
                          <a:spcPts val="1195"/>
                        </a:lnSpc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2,3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37795" marR="129540" algn="ctr">
                        <a:lnSpc>
                          <a:spcPts val="1225"/>
                        </a:lnSpc>
                        <a:spcAft>
                          <a:spcPts val="0"/>
                        </a:spcAft>
                      </a:pPr>
                      <a:r>
                        <a:rPr lang="id-ID" sz="1700" b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kg</a:t>
                      </a:r>
                      <a:endParaRPr lang="en-ID" sz="1700" b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ts val="129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id-ID" sz="1700" b="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Resmi</a:t>
                      </a:r>
                      <a:endParaRPr lang="en-ID" sz="1700" b="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73660565"/>
                  </a:ext>
                </a:extLst>
              </a:tr>
            </a:tbl>
          </a:graphicData>
        </a:graphic>
      </p:graphicFrame>
      <p:sp>
        <p:nvSpPr>
          <p:cNvPr id="6" name="Subtitle 2">
            <a:extLst>
              <a:ext uri="{FF2B5EF4-FFF2-40B4-BE49-F238E27FC236}">
                <a16:creationId xmlns:a16="http://schemas.microsoft.com/office/drawing/2014/main" id="{0D3DBCF7-D53E-46AB-841D-2D856D83682F}"/>
              </a:ext>
            </a:extLst>
          </p:cNvPr>
          <p:cNvSpPr txBox="1">
            <a:spLocks/>
          </p:cNvSpPr>
          <p:nvPr/>
        </p:nvSpPr>
        <p:spPr>
          <a:xfrm>
            <a:off x="3187623" y="4610323"/>
            <a:ext cx="5816752" cy="68211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TABEL 2: BOBOT TIAP KRITERIA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145D2B-D39C-4813-A31F-28969D559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510602"/>
              </p:ext>
            </p:extLst>
          </p:nvPr>
        </p:nvGraphicFramePr>
        <p:xfrm>
          <a:off x="2777517" y="5301324"/>
          <a:ext cx="6636963" cy="69539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1082563">
                  <a:extLst>
                    <a:ext uri="{9D8B030D-6E8A-4147-A177-3AD203B41FA5}">
                      <a16:colId xmlns:a16="http://schemas.microsoft.com/office/drawing/2014/main" val="2402091359"/>
                    </a:ext>
                  </a:extLst>
                </a:gridCol>
                <a:gridCol w="572606">
                  <a:extLst>
                    <a:ext uri="{9D8B030D-6E8A-4147-A177-3AD203B41FA5}">
                      <a16:colId xmlns:a16="http://schemas.microsoft.com/office/drawing/2014/main" val="3106487037"/>
                    </a:ext>
                  </a:extLst>
                </a:gridCol>
                <a:gridCol w="623977">
                  <a:extLst>
                    <a:ext uri="{9D8B030D-6E8A-4147-A177-3AD203B41FA5}">
                      <a16:colId xmlns:a16="http://schemas.microsoft.com/office/drawing/2014/main" val="1467998642"/>
                    </a:ext>
                  </a:extLst>
                </a:gridCol>
                <a:gridCol w="622725">
                  <a:extLst>
                    <a:ext uri="{9D8B030D-6E8A-4147-A177-3AD203B41FA5}">
                      <a16:colId xmlns:a16="http://schemas.microsoft.com/office/drawing/2014/main" val="2181172037"/>
                    </a:ext>
                  </a:extLst>
                </a:gridCol>
                <a:gridCol w="621471">
                  <a:extLst>
                    <a:ext uri="{9D8B030D-6E8A-4147-A177-3AD203B41FA5}">
                      <a16:colId xmlns:a16="http://schemas.microsoft.com/office/drawing/2014/main" val="1812114211"/>
                    </a:ext>
                  </a:extLst>
                </a:gridCol>
                <a:gridCol w="625231">
                  <a:extLst>
                    <a:ext uri="{9D8B030D-6E8A-4147-A177-3AD203B41FA5}">
                      <a16:colId xmlns:a16="http://schemas.microsoft.com/office/drawing/2014/main" val="1806155610"/>
                    </a:ext>
                  </a:extLst>
                </a:gridCol>
                <a:gridCol w="623977">
                  <a:extLst>
                    <a:ext uri="{9D8B030D-6E8A-4147-A177-3AD203B41FA5}">
                      <a16:colId xmlns:a16="http://schemas.microsoft.com/office/drawing/2014/main" val="3837539809"/>
                    </a:ext>
                  </a:extLst>
                </a:gridCol>
                <a:gridCol w="621471">
                  <a:extLst>
                    <a:ext uri="{9D8B030D-6E8A-4147-A177-3AD203B41FA5}">
                      <a16:colId xmlns:a16="http://schemas.microsoft.com/office/drawing/2014/main" val="1280988811"/>
                    </a:ext>
                  </a:extLst>
                </a:gridCol>
                <a:gridCol w="621471">
                  <a:extLst>
                    <a:ext uri="{9D8B030D-6E8A-4147-A177-3AD203B41FA5}">
                      <a16:colId xmlns:a16="http://schemas.microsoft.com/office/drawing/2014/main" val="2278574678"/>
                    </a:ext>
                  </a:extLst>
                </a:gridCol>
                <a:gridCol w="621471">
                  <a:extLst>
                    <a:ext uri="{9D8B030D-6E8A-4147-A177-3AD203B41FA5}">
                      <a16:colId xmlns:a16="http://schemas.microsoft.com/office/drawing/2014/main" val="3256206609"/>
                    </a:ext>
                  </a:extLst>
                </a:gridCol>
              </a:tblGrid>
              <a:tr h="344566"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0480" marR="55245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C1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5245" marR="55245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5880" marR="55880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C3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5245" marR="55245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5880" marR="56515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C5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5880" marR="54610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C6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5245" marR="55245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C7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4610" marR="55245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C8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4610" marR="55245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C9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23437352"/>
                  </a:ext>
                </a:extLst>
              </a:tr>
              <a:tr h="350830">
                <a:tc>
                  <a:txBody>
                    <a:bodyPr/>
                    <a:lstStyle/>
                    <a:p>
                      <a:pPr marL="8191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Bobot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 marR="23495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5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 marR="1905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5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 marR="1905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5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 marR="3810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 marR="3175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 marR="635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id-ID" sz="17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endParaRPr lang="en-ID" sz="17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83818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1922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02DBA0-F38D-403D-BAD6-7F9CD7C42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8353" y="659203"/>
            <a:ext cx="10088405" cy="623548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TABEL 3: NILAI SETIAP ALTERNATIF PADA SETIAP KRITERIA DAN SUB KRITERIA</a:t>
            </a: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9A809625-5338-4B4F-8B85-6B0F372CB57C}"/>
              </a:ext>
            </a:extLst>
          </p:cNvPr>
          <p:cNvPicPr/>
          <p:nvPr/>
        </p:nvPicPr>
        <p:blipFill>
          <a:blip r:embed="rId2"/>
          <a:srcRect l="5660" t="19736" b="22367"/>
          <a:stretch/>
        </p:blipFill>
        <p:spPr bwMode="auto">
          <a:xfrm>
            <a:off x="10393205" y="360028"/>
            <a:ext cx="1606851" cy="471246"/>
          </a:xfrm>
          <a:prstGeom prst="rect">
            <a:avLst/>
          </a:prstGeom>
          <a:ln/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8FD7EF2-3BDA-43C9-A286-1AC741B55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255608"/>
              </p:ext>
            </p:extLst>
          </p:nvPr>
        </p:nvGraphicFramePr>
        <p:xfrm>
          <a:off x="408353" y="1581926"/>
          <a:ext cx="3441626" cy="430635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1092340">
                  <a:extLst>
                    <a:ext uri="{9D8B030D-6E8A-4147-A177-3AD203B41FA5}">
                      <a16:colId xmlns:a16="http://schemas.microsoft.com/office/drawing/2014/main" val="934992507"/>
                    </a:ext>
                  </a:extLst>
                </a:gridCol>
                <a:gridCol w="1202297">
                  <a:extLst>
                    <a:ext uri="{9D8B030D-6E8A-4147-A177-3AD203B41FA5}">
                      <a16:colId xmlns:a16="http://schemas.microsoft.com/office/drawing/2014/main" val="2765859573"/>
                    </a:ext>
                  </a:extLst>
                </a:gridCol>
                <a:gridCol w="1146989">
                  <a:extLst>
                    <a:ext uri="{9D8B030D-6E8A-4147-A177-3AD203B41FA5}">
                      <a16:colId xmlns:a16="http://schemas.microsoft.com/office/drawing/2014/main" val="1016293983"/>
                    </a:ext>
                  </a:extLst>
                </a:gridCol>
              </a:tblGrid>
              <a:tr h="174757">
                <a:tc>
                  <a:txBody>
                    <a:bodyPr/>
                    <a:lstStyle/>
                    <a:p>
                      <a:pPr marL="79375">
                        <a:lnSpc>
                          <a:spcPts val="1265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Kriteria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6365">
                        <a:lnSpc>
                          <a:spcPts val="1265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Sub</a:t>
                      </a:r>
                      <a:r>
                        <a:rPr lang="id-ID" sz="1200" spc="-1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Kriteria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265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Nilai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58184756"/>
                  </a:ext>
                </a:extLst>
              </a:tr>
              <a:tr h="1046583">
                <a:tc>
                  <a:txBody>
                    <a:bodyPr/>
                    <a:lstStyle/>
                    <a:p>
                      <a:pPr marL="79375">
                        <a:lnSpc>
                          <a:spcPts val="1365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Harga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6365">
                        <a:lnSpc>
                          <a:spcPts val="1355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&gt;15 Juta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>
                        <a:lnSpc>
                          <a:spcPts val="1375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8 Juta-15</a:t>
                      </a:r>
                      <a:r>
                        <a:rPr lang="id-ID" sz="1200" spc="-1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Juta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>
                        <a:lnSpc>
                          <a:spcPts val="1290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5</a:t>
                      </a:r>
                      <a:r>
                        <a:rPr lang="id-ID" sz="1200" spc="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Juta-8</a:t>
                      </a:r>
                      <a:r>
                        <a:rPr lang="id-ID" sz="1200" spc="-2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Juta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>
                        <a:lnSpc>
                          <a:spcPts val="1350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</a:t>
                      </a:r>
                      <a:r>
                        <a:rPr lang="id-ID" sz="1200" spc="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Juta-5</a:t>
                      </a:r>
                      <a:r>
                        <a:rPr lang="id-ID" sz="1200" spc="-2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Juta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>
                        <a:lnSpc>
                          <a:spcPts val="1350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&lt;3 Juta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355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375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29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35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35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5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41682111"/>
                  </a:ext>
                </a:extLst>
              </a:tr>
              <a:tr h="1019217">
                <a:tc>
                  <a:txBody>
                    <a:bodyPr/>
                    <a:lstStyle/>
                    <a:p>
                      <a:pPr marL="79375">
                        <a:lnSpc>
                          <a:spcPts val="1350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RAM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6365">
                        <a:lnSpc>
                          <a:spcPts val="1345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r>
                        <a:rPr lang="id-ID" sz="1200" spc="-3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GB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>
                        <a:lnSpc>
                          <a:spcPts val="1375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6</a:t>
                      </a:r>
                      <a:r>
                        <a:rPr lang="id-ID" sz="1200" spc="-3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GB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>
                        <a:lnSpc>
                          <a:spcPts val="1290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8</a:t>
                      </a:r>
                      <a:r>
                        <a:rPr lang="id-ID" sz="1200" spc="-3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GB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>
                        <a:lnSpc>
                          <a:spcPts val="1350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12</a:t>
                      </a:r>
                      <a:r>
                        <a:rPr lang="id-ID" sz="1200" spc="-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GB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>
                        <a:lnSpc>
                          <a:spcPts val="1335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&gt;16</a:t>
                      </a:r>
                      <a:r>
                        <a:rPr lang="id-ID" sz="1200" spc="-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GB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345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375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290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350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335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5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9286961"/>
                  </a:ext>
                </a:extLst>
              </a:tr>
              <a:tr h="1034854">
                <a:tc>
                  <a:txBody>
                    <a:bodyPr/>
                    <a:lstStyle/>
                    <a:p>
                      <a:pPr marL="79375">
                        <a:lnSpc>
                          <a:spcPts val="1365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Hardisk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6365">
                        <a:lnSpc>
                          <a:spcPts val="1355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&lt;=250</a:t>
                      </a:r>
                      <a:r>
                        <a:rPr lang="id-ID" sz="1200" spc="-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GB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>
                        <a:lnSpc>
                          <a:spcPts val="1375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320</a:t>
                      </a:r>
                      <a:r>
                        <a:rPr lang="id-ID" sz="1200" spc="-3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GB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>
                        <a:lnSpc>
                          <a:spcPts val="129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500</a:t>
                      </a:r>
                      <a:r>
                        <a:rPr lang="id-ID" sz="1200" spc="-3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GB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>
                        <a:lnSpc>
                          <a:spcPts val="1350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 TB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>
                        <a:lnSpc>
                          <a:spcPts val="1335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&gt;1</a:t>
                      </a:r>
                      <a:r>
                        <a:rPr lang="id-ID" sz="1200" spc="-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TB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355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375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29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350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335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5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8943167"/>
                  </a:ext>
                </a:extLst>
              </a:tr>
              <a:tr h="1030944">
                <a:tc>
                  <a:txBody>
                    <a:bodyPr/>
                    <a:lstStyle/>
                    <a:p>
                      <a:pPr marL="79375">
                        <a:lnSpc>
                          <a:spcPts val="1350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Prosesor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6365" marR="511810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Pentium</a:t>
                      </a:r>
                      <a:r>
                        <a:rPr lang="id-ID" sz="1200" spc="-29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Celeron</a:t>
                      </a:r>
                      <a:r>
                        <a:rPr lang="id-ID" sz="1200" spc="-28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Core i3</a:t>
                      </a:r>
                      <a:r>
                        <a:rPr lang="id-ID" sz="1200" spc="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Core</a:t>
                      </a:r>
                      <a:r>
                        <a:rPr lang="id-ID" sz="1200" spc="8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i5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>
                        <a:lnSpc>
                          <a:spcPts val="1320"/>
                        </a:lnSpc>
                      </a:pPr>
                      <a:r>
                        <a:rPr lang="id-ID" sz="1200" spc="-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Core</a:t>
                      </a:r>
                      <a:r>
                        <a:rPr lang="id-ID" sz="1200" spc="-6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 spc="-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i7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345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375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29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35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35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5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3689125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7DBCBEC-2FB0-486A-9C47-6B1FD1ADD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329505"/>
              </p:ext>
            </p:extLst>
          </p:nvPr>
        </p:nvGraphicFramePr>
        <p:xfrm>
          <a:off x="4326041" y="1581926"/>
          <a:ext cx="3539915" cy="467971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1123535">
                  <a:extLst>
                    <a:ext uri="{9D8B030D-6E8A-4147-A177-3AD203B41FA5}">
                      <a16:colId xmlns:a16="http://schemas.microsoft.com/office/drawing/2014/main" val="934992507"/>
                    </a:ext>
                  </a:extLst>
                </a:gridCol>
                <a:gridCol w="1236634">
                  <a:extLst>
                    <a:ext uri="{9D8B030D-6E8A-4147-A177-3AD203B41FA5}">
                      <a16:colId xmlns:a16="http://schemas.microsoft.com/office/drawing/2014/main" val="2765859573"/>
                    </a:ext>
                  </a:extLst>
                </a:gridCol>
                <a:gridCol w="1179746">
                  <a:extLst>
                    <a:ext uri="{9D8B030D-6E8A-4147-A177-3AD203B41FA5}">
                      <a16:colId xmlns:a16="http://schemas.microsoft.com/office/drawing/2014/main" val="1016293983"/>
                    </a:ext>
                  </a:extLst>
                </a:gridCol>
              </a:tblGrid>
              <a:tr h="177242">
                <a:tc>
                  <a:txBody>
                    <a:bodyPr/>
                    <a:lstStyle/>
                    <a:p>
                      <a:pPr marL="79375">
                        <a:lnSpc>
                          <a:spcPts val="1265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Kriteria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6365">
                        <a:lnSpc>
                          <a:spcPts val="1265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Sub</a:t>
                      </a:r>
                      <a:r>
                        <a:rPr lang="id-ID" sz="1200" spc="-1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Kriteria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265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Nilai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58184756"/>
                  </a:ext>
                </a:extLst>
              </a:tr>
              <a:tr h="1017849">
                <a:tc>
                  <a:txBody>
                    <a:bodyPr/>
                    <a:lstStyle/>
                    <a:p>
                      <a:pPr marL="79375">
                        <a:lnSpc>
                          <a:spcPts val="135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Ukuran</a:t>
                      </a:r>
                      <a:r>
                        <a:rPr lang="id-ID" sz="1200" spc="-1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Layar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6365">
                        <a:lnSpc>
                          <a:spcPts val="135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&lt;13</a:t>
                      </a:r>
                      <a:r>
                        <a:rPr lang="id-ID" sz="1200" spc="-5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inci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 marR="70485">
                        <a:lnSpc>
                          <a:spcPts val="1290"/>
                        </a:lnSpc>
                        <a:spcAft>
                          <a:spcPts val="0"/>
                        </a:spcAft>
                        <a:tabLst>
                          <a:tab pos="545465" algn="l"/>
                        </a:tabLst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13	</a:t>
                      </a:r>
                      <a:r>
                        <a:rPr lang="id-ID" sz="1200" spc="-1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inci-14,9</a:t>
                      </a:r>
                      <a:r>
                        <a:rPr lang="id-ID" sz="1200" spc="-285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inci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 marR="70485">
                        <a:lnSpc>
                          <a:spcPts val="1290"/>
                        </a:lnSpc>
                        <a:spcAft>
                          <a:spcPts val="0"/>
                        </a:spcAft>
                        <a:tabLst>
                          <a:tab pos="545465" algn="l"/>
                        </a:tabLst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15	</a:t>
                      </a:r>
                      <a:r>
                        <a:rPr lang="id-ID" sz="1200" spc="-1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inci-15,6</a:t>
                      </a:r>
                      <a:r>
                        <a:rPr lang="id-ID" sz="1200" spc="-285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inci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 marR="75565">
                        <a:lnSpc>
                          <a:spcPct val="98000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  <a:tabLst>
                          <a:tab pos="659765" algn="l"/>
                        </a:tabLst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15,6	</a:t>
                      </a:r>
                      <a:r>
                        <a:rPr lang="id-ID" sz="1200" spc="-15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inci-17</a:t>
                      </a:r>
                      <a:r>
                        <a:rPr lang="id-ID" sz="1200" spc="-285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inci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>
                        <a:lnSpc>
                          <a:spcPts val="1325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&gt;17</a:t>
                      </a:r>
                      <a:r>
                        <a:rPr lang="id-ID" sz="1200" spc="-5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inci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35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29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29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29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29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5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10521060"/>
                  </a:ext>
                </a:extLst>
              </a:tr>
              <a:tr h="1045605">
                <a:tc>
                  <a:txBody>
                    <a:bodyPr/>
                    <a:lstStyle/>
                    <a:p>
                      <a:pPr marL="79375">
                        <a:lnSpc>
                          <a:spcPts val="1350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VGA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6365">
                        <a:lnSpc>
                          <a:spcPts val="134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</a:t>
                      </a:r>
                      <a:r>
                        <a:rPr lang="id-ID" sz="1200" spc="-3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GB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>
                        <a:lnSpc>
                          <a:spcPts val="137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r>
                        <a:rPr lang="id-ID" sz="1200" spc="-3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GB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>
                        <a:lnSpc>
                          <a:spcPts val="129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6</a:t>
                      </a:r>
                      <a:r>
                        <a:rPr lang="id-ID" sz="1200" spc="-3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GB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>
                        <a:lnSpc>
                          <a:spcPts val="135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8</a:t>
                      </a:r>
                      <a:r>
                        <a:rPr lang="id-ID" sz="1200" spc="-3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GB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>
                        <a:lnSpc>
                          <a:spcPts val="135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&gt;8</a:t>
                      </a:r>
                      <a:r>
                        <a:rPr lang="id-ID" sz="1200" spc="-5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GB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340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370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290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350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350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5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91945631"/>
                  </a:ext>
                </a:extLst>
              </a:tr>
              <a:tr h="1061466">
                <a:tc>
                  <a:txBody>
                    <a:bodyPr/>
                    <a:lstStyle/>
                    <a:p>
                      <a:pPr marL="79375">
                        <a:lnSpc>
                          <a:spcPts val="1365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Baterai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6365">
                        <a:lnSpc>
                          <a:spcPts val="1355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&lt;3</a:t>
                      </a:r>
                      <a:r>
                        <a:rPr lang="id-ID" sz="1200" spc="-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Jam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>
                        <a:lnSpc>
                          <a:spcPts val="1375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 Jam-6</a:t>
                      </a:r>
                      <a:r>
                        <a:rPr lang="id-ID" sz="1200" spc="-1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Jam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>
                        <a:lnSpc>
                          <a:spcPts val="1290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6 Jam-9</a:t>
                      </a:r>
                      <a:r>
                        <a:rPr lang="id-ID" sz="1200" spc="-1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Jam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>
                        <a:lnSpc>
                          <a:spcPts val="1350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9 Jam-12</a:t>
                      </a:r>
                      <a:r>
                        <a:rPr lang="id-ID" sz="1200" spc="-1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Jam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>
                        <a:lnSpc>
                          <a:spcPts val="1350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&gt;=12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355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375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29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35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35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5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43421296"/>
                  </a:ext>
                </a:extLst>
              </a:tr>
              <a:tr h="1033710">
                <a:tc>
                  <a:txBody>
                    <a:bodyPr/>
                    <a:lstStyle/>
                    <a:p>
                      <a:pPr marL="79375">
                        <a:lnSpc>
                          <a:spcPts val="1350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Berat</a:t>
                      </a:r>
                      <a:r>
                        <a:rPr lang="id-ID" sz="1200" spc="-1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Laptop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6365">
                        <a:lnSpc>
                          <a:spcPts val="134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&lt;1,5</a:t>
                      </a:r>
                      <a:r>
                        <a:rPr lang="id-ID" sz="1200" spc="-5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kg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>
                        <a:lnSpc>
                          <a:spcPts val="137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1,5</a:t>
                      </a:r>
                      <a:r>
                        <a:rPr lang="id-ID" sz="1200" spc="-5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kg-2 kg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0" lvl="0" indent="0">
                        <a:lnSpc>
                          <a:spcPts val="129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241300" algn="l"/>
                        </a:tabLst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  2 </a:t>
                      </a: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kg-3</a:t>
                      </a:r>
                      <a:r>
                        <a:rPr lang="id-ID" sz="1200" spc="-1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kg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0" lvl="0" indent="0">
                        <a:lnSpc>
                          <a:spcPts val="135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241300" algn="l"/>
                        </a:tabLst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  3 </a:t>
                      </a: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kg-4</a:t>
                      </a:r>
                      <a:r>
                        <a:rPr lang="id-ID" sz="1200" spc="-1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kg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>
                        <a:lnSpc>
                          <a:spcPts val="134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&gt;4</a:t>
                      </a:r>
                      <a:r>
                        <a:rPr lang="id-ID" sz="1200" spc="-5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kg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34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37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29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35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34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5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2887087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D968EAB-C971-4E89-8DBB-6A8D05E4F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783465"/>
              </p:ext>
            </p:extLst>
          </p:nvPr>
        </p:nvGraphicFramePr>
        <p:xfrm>
          <a:off x="8342018" y="1581926"/>
          <a:ext cx="3539915" cy="102398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1123535">
                  <a:extLst>
                    <a:ext uri="{9D8B030D-6E8A-4147-A177-3AD203B41FA5}">
                      <a16:colId xmlns:a16="http://schemas.microsoft.com/office/drawing/2014/main" val="934992507"/>
                    </a:ext>
                  </a:extLst>
                </a:gridCol>
                <a:gridCol w="1236634">
                  <a:extLst>
                    <a:ext uri="{9D8B030D-6E8A-4147-A177-3AD203B41FA5}">
                      <a16:colId xmlns:a16="http://schemas.microsoft.com/office/drawing/2014/main" val="2765859573"/>
                    </a:ext>
                  </a:extLst>
                </a:gridCol>
                <a:gridCol w="1179746">
                  <a:extLst>
                    <a:ext uri="{9D8B030D-6E8A-4147-A177-3AD203B41FA5}">
                      <a16:colId xmlns:a16="http://schemas.microsoft.com/office/drawing/2014/main" val="1016293983"/>
                    </a:ext>
                  </a:extLst>
                </a:gridCol>
              </a:tblGrid>
              <a:tr h="269861">
                <a:tc>
                  <a:txBody>
                    <a:bodyPr/>
                    <a:lstStyle/>
                    <a:p>
                      <a:pPr marL="79375">
                        <a:lnSpc>
                          <a:spcPts val="1265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Kriteria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6365">
                        <a:lnSpc>
                          <a:spcPts val="1265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Sub</a:t>
                      </a:r>
                      <a:r>
                        <a:rPr lang="id-ID" sz="1200" spc="-1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Kriteria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265"/>
                        </a:lnSpc>
                      </a:pPr>
                      <a:r>
                        <a:rPr lang="id-ID" sz="12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Nilai</a:t>
                      </a:r>
                      <a:endParaRPr lang="en-ID" sz="12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58184756"/>
                  </a:ext>
                </a:extLst>
              </a:tr>
              <a:tr h="754123">
                <a:tc>
                  <a:txBody>
                    <a:bodyPr/>
                    <a:lstStyle/>
                    <a:p>
                      <a:pPr marL="79375">
                        <a:lnSpc>
                          <a:spcPts val="1350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Garansi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6365">
                        <a:lnSpc>
                          <a:spcPts val="1345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Toko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>
                        <a:lnSpc>
                          <a:spcPts val="1315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Distributor</a:t>
                      </a:r>
                      <a:endParaRPr lang="en-US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126365">
                        <a:lnSpc>
                          <a:spcPts val="1315"/>
                        </a:lnSpc>
                      </a:pPr>
                      <a:r>
                        <a:rPr lang="en-US" sz="1200" dirty="0" err="1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Resmi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315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345"/>
                        </a:lnSpc>
                      </a:pPr>
                      <a:r>
                        <a:rPr lang="id-ID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</a:t>
                      </a:r>
                      <a:endParaRPr lang="en-US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0485">
                        <a:lnSpc>
                          <a:spcPts val="1345"/>
                        </a:lnSpc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5</a:t>
                      </a:r>
                      <a:endParaRPr lang="en-ID" sz="12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48488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5299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02DBA0-F38D-403D-BAD6-7F9CD7C42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796" y="659203"/>
            <a:ext cx="10088405" cy="62354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TABEL 4: MEMBUAT KEPUTUSAN TERNORMALISASI</a:t>
            </a: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9A809625-5338-4B4F-8B85-6B0F372CB57C}"/>
              </a:ext>
            </a:extLst>
          </p:cNvPr>
          <p:cNvPicPr/>
          <p:nvPr/>
        </p:nvPicPr>
        <p:blipFill>
          <a:blip r:embed="rId2"/>
          <a:srcRect l="5660" t="19736" b="22367"/>
          <a:stretch/>
        </p:blipFill>
        <p:spPr bwMode="auto">
          <a:xfrm>
            <a:off x="10393205" y="360028"/>
            <a:ext cx="1606851" cy="471246"/>
          </a:xfrm>
          <a:prstGeom prst="rect">
            <a:avLst/>
          </a:prstGeom>
          <a:ln/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0F9402-4F5E-4102-964E-684391150F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600248"/>
              </p:ext>
            </p:extLst>
          </p:nvPr>
        </p:nvGraphicFramePr>
        <p:xfrm>
          <a:off x="896554" y="1558779"/>
          <a:ext cx="10398888" cy="464001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1409196">
                  <a:extLst>
                    <a:ext uri="{9D8B030D-6E8A-4147-A177-3AD203B41FA5}">
                      <a16:colId xmlns:a16="http://schemas.microsoft.com/office/drawing/2014/main" val="4003570361"/>
                    </a:ext>
                  </a:extLst>
                </a:gridCol>
                <a:gridCol w="999799">
                  <a:extLst>
                    <a:ext uri="{9D8B030D-6E8A-4147-A177-3AD203B41FA5}">
                      <a16:colId xmlns:a16="http://schemas.microsoft.com/office/drawing/2014/main" val="2920853226"/>
                    </a:ext>
                  </a:extLst>
                </a:gridCol>
                <a:gridCol w="997369">
                  <a:extLst>
                    <a:ext uri="{9D8B030D-6E8A-4147-A177-3AD203B41FA5}">
                      <a16:colId xmlns:a16="http://schemas.microsoft.com/office/drawing/2014/main" val="2988177142"/>
                    </a:ext>
                  </a:extLst>
                </a:gridCol>
                <a:gridCol w="998586">
                  <a:extLst>
                    <a:ext uri="{9D8B030D-6E8A-4147-A177-3AD203B41FA5}">
                      <a16:colId xmlns:a16="http://schemas.microsoft.com/office/drawing/2014/main" val="1230662666"/>
                    </a:ext>
                  </a:extLst>
                </a:gridCol>
                <a:gridCol w="998586">
                  <a:extLst>
                    <a:ext uri="{9D8B030D-6E8A-4147-A177-3AD203B41FA5}">
                      <a16:colId xmlns:a16="http://schemas.microsoft.com/office/drawing/2014/main" val="276478538"/>
                    </a:ext>
                  </a:extLst>
                </a:gridCol>
                <a:gridCol w="997369">
                  <a:extLst>
                    <a:ext uri="{9D8B030D-6E8A-4147-A177-3AD203B41FA5}">
                      <a16:colId xmlns:a16="http://schemas.microsoft.com/office/drawing/2014/main" val="3200933029"/>
                    </a:ext>
                  </a:extLst>
                </a:gridCol>
                <a:gridCol w="997369">
                  <a:extLst>
                    <a:ext uri="{9D8B030D-6E8A-4147-A177-3AD203B41FA5}">
                      <a16:colId xmlns:a16="http://schemas.microsoft.com/office/drawing/2014/main" val="2843983631"/>
                    </a:ext>
                  </a:extLst>
                </a:gridCol>
                <a:gridCol w="998586">
                  <a:extLst>
                    <a:ext uri="{9D8B030D-6E8A-4147-A177-3AD203B41FA5}">
                      <a16:colId xmlns:a16="http://schemas.microsoft.com/office/drawing/2014/main" val="2681827161"/>
                    </a:ext>
                  </a:extLst>
                </a:gridCol>
                <a:gridCol w="997369">
                  <a:extLst>
                    <a:ext uri="{9D8B030D-6E8A-4147-A177-3AD203B41FA5}">
                      <a16:colId xmlns:a16="http://schemas.microsoft.com/office/drawing/2014/main" val="3791783294"/>
                    </a:ext>
                  </a:extLst>
                </a:gridCol>
                <a:gridCol w="1004659">
                  <a:extLst>
                    <a:ext uri="{9D8B030D-6E8A-4147-A177-3AD203B41FA5}">
                      <a16:colId xmlns:a16="http://schemas.microsoft.com/office/drawing/2014/main" val="412517386"/>
                    </a:ext>
                  </a:extLst>
                </a:gridCol>
              </a:tblGrid>
              <a:tr h="298847"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C1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C3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70"/>
                        </a:lnSpc>
                      </a:pPr>
                      <a:r>
                        <a:rPr lang="id-ID" sz="17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C4</a:t>
                      </a:r>
                      <a:endParaRPr lang="en-ID" sz="17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C5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C6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C7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C8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C9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37102235"/>
                  </a:ext>
                </a:extLst>
              </a:tr>
              <a:tr h="308565">
                <a:tc>
                  <a:txBody>
                    <a:bodyPr/>
                    <a:lstStyle/>
                    <a:p>
                      <a:pPr marL="76200">
                        <a:lnSpc>
                          <a:spcPts val="116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S1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16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6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6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6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6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6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6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6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29511511"/>
                  </a:ext>
                </a:extLst>
              </a:tr>
              <a:tr h="307349">
                <a:tc>
                  <a:txBody>
                    <a:bodyPr/>
                    <a:lstStyle/>
                    <a:p>
                      <a:pPr marL="76200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S2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5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4310895"/>
                  </a:ext>
                </a:extLst>
              </a:tr>
              <a:tr h="308565">
                <a:tc>
                  <a:txBody>
                    <a:bodyPr/>
                    <a:lstStyle/>
                    <a:p>
                      <a:pPr marL="76200">
                        <a:lnSpc>
                          <a:spcPts val="116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S3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16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6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6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6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6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6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6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6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5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73432063"/>
                  </a:ext>
                </a:extLst>
              </a:tr>
              <a:tr h="310995">
                <a:tc>
                  <a:txBody>
                    <a:bodyPr/>
                    <a:lstStyle/>
                    <a:p>
                      <a:pPr marL="76200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S4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7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5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2991791"/>
                  </a:ext>
                </a:extLst>
              </a:tr>
              <a:tr h="1210573">
                <a:tc>
                  <a:txBody>
                    <a:bodyPr/>
                    <a:lstStyle/>
                    <a:p>
                      <a:pPr marL="76200">
                        <a:lnSpc>
                          <a:spcPts val="124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Hasil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6200" marR="57785">
                        <a:lnSpc>
                          <a:spcPct val="93000"/>
                        </a:lnSpc>
                        <a:spcBef>
                          <a:spcPts val="60"/>
                        </a:spcBef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Pangkat</a:t>
                      </a:r>
                      <a:r>
                        <a:rPr lang="id-ID" sz="1700" spc="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Perkriteria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921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38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667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15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64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731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64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858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16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667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38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26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731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84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4701935"/>
                  </a:ext>
                </a:extLst>
              </a:tr>
              <a:tr h="1895124">
                <a:tc>
                  <a:txBody>
                    <a:bodyPr/>
                    <a:lstStyle/>
                    <a:p>
                      <a:pPr marL="76200" marR="201930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Akar</a:t>
                      </a:r>
                      <a:r>
                        <a:rPr lang="id-ID" sz="1700" spc="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Hasil</a:t>
                      </a:r>
                      <a:r>
                        <a:rPr lang="id-ID" sz="1700" spc="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700" spc="-5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Pangkat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76200" marR="205105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Perkrite</a:t>
                      </a:r>
                      <a:r>
                        <a:rPr lang="id-ID" sz="1700" spc="-26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</a:t>
                      </a: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ria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7945">
                        <a:lnSpc>
                          <a:spcPts val="1290"/>
                        </a:lnSpc>
                        <a:spcBef>
                          <a:spcPts val="30"/>
                        </a:spcBef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921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6,1644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7945">
                        <a:lnSpc>
                          <a:spcPts val="1290"/>
                        </a:lnSpc>
                        <a:spcBef>
                          <a:spcPts val="30"/>
                        </a:spcBef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667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3,8730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7945">
                        <a:lnSpc>
                          <a:spcPts val="1290"/>
                        </a:lnSpc>
                        <a:spcBef>
                          <a:spcPts val="30"/>
                        </a:spcBef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8,0000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7945">
                        <a:lnSpc>
                          <a:spcPts val="1290"/>
                        </a:lnSpc>
                        <a:spcBef>
                          <a:spcPts val="30"/>
                        </a:spcBef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731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8,0000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7945">
                        <a:lnSpc>
                          <a:spcPts val="1290"/>
                        </a:lnSpc>
                        <a:spcBef>
                          <a:spcPts val="30"/>
                        </a:spcBef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858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4,0000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7945">
                        <a:lnSpc>
                          <a:spcPts val="1290"/>
                        </a:lnSpc>
                        <a:spcBef>
                          <a:spcPts val="30"/>
                        </a:spcBef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667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2,0000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7945">
                        <a:lnSpc>
                          <a:spcPts val="1290"/>
                        </a:lnSpc>
                        <a:spcBef>
                          <a:spcPts val="30"/>
                        </a:spcBef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6,1644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7945">
                        <a:lnSpc>
                          <a:spcPts val="1290"/>
                        </a:lnSpc>
                        <a:spcBef>
                          <a:spcPts val="30"/>
                        </a:spcBef>
                        <a:spcAft>
                          <a:spcPts val="0"/>
                        </a:spcAft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5,0990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7945">
                        <a:lnSpc>
                          <a:spcPts val="1290"/>
                        </a:lnSpc>
                        <a:spcBef>
                          <a:spcPts val="30"/>
                        </a:spcBef>
                        <a:spcAft>
                          <a:spcPts val="0"/>
                        </a:spcAft>
                      </a:pPr>
                      <a:r>
                        <a:rPr lang="id-ID" sz="17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  <a:p>
                      <a:pPr marL="67310">
                        <a:lnSpc>
                          <a:spcPts val="1290"/>
                        </a:lnSpc>
                      </a:pPr>
                      <a:r>
                        <a:rPr lang="id-ID" sz="17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9,1652</a:t>
                      </a:r>
                      <a:endParaRPr lang="en-ID" sz="17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30622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4666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02DBA0-F38D-403D-BAD6-7F9CD7C42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795" y="360028"/>
            <a:ext cx="10088405" cy="62354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RUMUS MENORMALISASIKAN</a:t>
            </a: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9A809625-5338-4B4F-8B85-6B0F372CB57C}"/>
              </a:ext>
            </a:extLst>
          </p:cNvPr>
          <p:cNvPicPr/>
          <p:nvPr/>
        </p:nvPicPr>
        <p:blipFill>
          <a:blip r:embed="rId2"/>
          <a:srcRect l="5660" t="19736" b="22367"/>
          <a:stretch/>
        </p:blipFill>
        <p:spPr bwMode="auto">
          <a:xfrm>
            <a:off x="10393205" y="360028"/>
            <a:ext cx="1606851" cy="471246"/>
          </a:xfrm>
          <a:prstGeom prst="rect">
            <a:avLst/>
          </a:prstGeom>
          <a:ln/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20300E88-C8E2-4FBD-9B8B-AC82A6005529}"/>
              </a:ext>
            </a:extLst>
          </p:cNvPr>
          <p:cNvSpPr txBox="1">
            <a:spLocks/>
          </p:cNvSpPr>
          <p:nvPr/>
        </p:nvSpPr>
        <p:spPr>
          <a:xfrm>
            <a:off x="140703" y="2247793"/>
            <a:ext cx="2768752" cy="228265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id-ID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R1.1 = 3:6,1644 = 0,4867</a:t>
            </a:r>
            <a:endParaRPr lang="en-ID" sz="1400" b="1" dirty="0">
              <a:solidFill>
                <a:schemeClr val="tx2"/>
              </a:solidFill>
              <a:effectLst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id-ID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R1.2 = 4:6,1644 = 0,6489</a:t>
            </a:r>
            <a:endParaRPr lang="en-ID" sz="1400" b="1" dirty="0">
              <a:solidFill>
                <a:schemeClr val="tx2"/>
              </a:solidFill>
              <a:effectLst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id-ID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R1.3 = 2:6,1644 = 0,3244</a:t>
            </a:r>
            <a:endParaRPr lang="en-ID" sz="1400" b="1" dirty="0">
              <a:solidFill>
                <a:schemeClr val="tx2"/>
              </a:solidFill>
              <a:effectLst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id-ID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R1.4 = 3:6,1644 = 0,4867</a:t>
            </a:r>
            <a:endParaRPr lang="en-ID" sz="1400" b="1" dirty="0">
              <a:solidFill>
                <a:schemeClr val="tx2"/>
              </a:solidFill>
              <a:effectLst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A108A9-9736-4291-8B2E-0D3C8E939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347" y="1140217"/>
            <a:ext cx="2665298" cy="734758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C88AE8FC-112C-45F5-B2E6-052FA911F474}"/>
              </a:ext>
            </a:extLst>
          </p:cNvPr>
          <p:cNvSpPr txBox="1">
            <a:spLocks/>
          </p:cNvSpPr>
          <p:nvPr/>
        </p:nvSpPr>
        <p:spPr>
          <a:xfrm>
            <a:off x="2579103" y="2247793"/>
            <a:ext cx="2768752" cy="228265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id-ID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R2.1=2:3,8730</a:t>
            </a:r>
            <a:r>
              <a:rPr lang="id-ID" sz="1400" b="1" spc="-5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id-ID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=</a:t>
            </a:r>
            <a:r>
              <a:rPr lang="id-ID" sz="1400" b="1" spc="-5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id-ID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0,5164</a:t>
            </a:r>
            <a:endParaRPr lang="en-ID" sz="1400" b="1" dirty="0">
              <a:solidFill>
                <a:schemeClr val="tx2"/>
              </a:solidFill>
              <a:effectLst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id-ID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R2.2=1:3,8730</a:t>
            </a:r>
            <a:r>
              <a:rPr lang="id-ID" sz="1400" b="1" spc="-5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id-ID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=</a:t>
            </a:r>
            <a:r>
              <a:rPr lang="id-ID" sz="1400" b="1" spc="10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id-ID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0,2582</a:t>
            </a:r>
            <a:endParaRPr lang="en-ID" sz="1400" b="1" dirty="0">
              <a:solidFill>
                <a:schemeClr val="tx2"/>
              </a:solidFill>
              <a:effectLst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id-ID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R2.3=3:3,8730</a:t>
            </a:r>
            <a:r>
              <a:rPr lang="id-ID" sz="1400" b="1" spc="-5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id-ID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=</a:t>
            </a:r>
            <a:r>
              <a:rPr lang="id-ID" sz="1400" b="1" spc="10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id-ID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0,7746</a:t>
            </a:r>
            <a:endParaRPr lang="en-ID" sz="1400" b="1" dirty="0">
              <a:solidFill>
                <a:schemeClr val="tx2"/>
              </a:solidFill>
              <a:effectLst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id-ID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R2.4=1:3,8730</a:t>
            </a:r>
            <a:r>
              <a:rPr lang="id-ID" sz="1400" b="1" spc="-5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id-ID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=</a:t>
            </a:r>
            <a:r>
              <a:rPr lang="id-ID" sz="1400" b="1" spc="10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id-ID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0,2582</a:t>
            </a:r>
            <a:endParaRPr lang="en-ID" sz="1400" b="1" dirty="0">
              <a:solidFill>
                <a:schemeClr val="tx2"/>
              </a:solidFill>
              <a:effectLst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0C89C43-C30F-4336-9AC0-9225EB7A1C73}"/>
              </a:ext>
            </a:extLst>
          </p:cNvPr>
          <p:cNvSpPr txBox="1">
            <a:spLocks/>
          </p:cNvSpPr>
          <p:nvPr/>
        </p:nvSpPr>
        <p:spPr>
          <a:xfrm>
            <a:off x="4920521" y="2247793"/>
            <a:ext cx="2768752" cy="228265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R3.1=4:8,0000 = 0,5000</a:t>
            </a: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R3.2=4:8,0000 = 0,5000</a:t>
            </a: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R3.3=4:8,0000 = 0,5000</a:t>
            </a: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R3.4=4:8,0000 = 0,5000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4E83900-4D26-4929-8D17-ED11AFF84157}"/>
              </a:ext>
            </a:extLst>
          </p:cNvPr>
          <p:cNvSpPr txBox="1">
            <a:spLocks/>
          </p:cNvSpPr>
          <p:nvPr/>
        </p:nvSpPr>
        <p:spPr>
          <a:xfrm>
            <a:off x="7361531" y="2247793"/>
            <a:ext cx="2768752" cy="228265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R4.1=3:8,0000 = 0,5000</a:t>
            </a: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R4.2=4:8,0000 = 0,5000</a:t>
            </a: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R4.3=5:8,0000 = 0,5000</a:t>
            </a: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R4.4=4:8,0000 = 0,5000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017033D-A6FB-4DF9-858D-529D2F1F3E20}"/>
              </a:ext>
            </a:extLst>
          </p:cNvPr>
          <p:cNvSpPr txBox="1">
            <a:spLocks/>
          </p:cNvSpPr>
          <p:nvPr/>
        </p:nvSpPr>
        <p:spPr>
          <a:xfrm>
            <a:off x="9700339" y="2247793"/>
            <a:ext cx="2768752" cy="228265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R5.1=2:4,0000 = 0,2182</a:t>
            </a: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R5.2=2:4,0000 = 0,2182</a:t>
            </a: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R5.3=2:4,0000 = 0,2182</a:t>
            </a: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R5.4=2:4,0000 = 0,2182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F61EF20-3FC0-4835-9029-4198168710E8}"/>
              </a:ext>
            </a:extLst>
          </p:cNvPr>
          <p:cNvSpPr txBox="1">
            <a:spLocks/>
          </p:cNvSpPr>
          <p:nvPr/>
        </p:nvSpPr>
        <p:spPr>
          <a:xfrm>
            <a:off x="1276773" y="4561692"/>
            <a:ext cx="2768752" cy="228265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R7.1=4:6,1644 = 0,6489</a:t>
            </a: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R7.2=3:6,1644 = 0,4867</a:t>
            </a: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R7.3=3:6,1644 = 0,4867</a:t>
            </a: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R7.4=2:6,1644 = 0,3244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FCE0510E-687F-4423-9B4A-67239069EA8A}"/>
              </a:ext>
            </a:extLst>
          </p:cNvPr>
          <p:cNvSpPr txBox="1">
            <a:spLocks/>
          </p:cNvSpPr>
          <p:nvPr/>
        </p:nvSpPr>
        <p:spPr>
          <a:xfrm>
            <a:off x="3715173" y="4561692"/>
            <a:ext cx="2768752" cy="228265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R7.1=4:6,1644 = 0,6489</a:t>
            </a: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R7.2=3:6,1644 = 0,4867</a:t>
            </a: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R7.3=3:6,1644 = 0,4867</a:t>
            </a: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R7.4=2:6,1644 = 0,3244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0ABB2CC7-2E62-4DBD-875A-FA3DF7BB7913}"/>
              </a:ext>
            </a:extLst>
          </p:cNvPr>
          <p:cNvSpPr txBox="1">
            <a:spLocks/>
          </p:cNvSpPr>
          <p:nvPr/>
        </p:nvSpPr>
        <p:spPr>
          <a:xfrm>
            <a:off x="6056591" y="4550813"/>
            <a:ext cx="2768752" cy="228265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R8.1=3:5,0909 = 0,5883</a:t>
            </a: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R8.2=2:5,0909 = 0,3922</a:t>
            </a: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R8.3=2:5,0909 = 0,3922</a:t>
            </a: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R8.4=2:5,0909 = 0,5883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DFC5786D-67D3-4368-95D7-2A92A7530EAF}"/>
              </a:ext>
            </a:extLst>
          </p:cNvPr>
          <p:cNvSpPr txBox="1">
            <a:spLocks/>
          </p:cNvSpPr>
          <p:nvPr/>
        </p:nvSpPr>
        <p:spPr>
          <a:xfrm>
            <a:off x="8497601" y="4550813"/>
            <a:ext cx="2768752" cy="228265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R9.1=3:9,1652 = 0,3273</a:t>
            </a: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R9.2=5:9,1652 = 0,5455</a:t>
            </a: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R9.3=5:9,1652 = 0,5455</a:t>
            </a:r>
          </a:p>
          <a:p>
            <a:pPr marL="99060" algn="l">
              <a:lnSpc>
                <a:spcPct val="150000"/>
              </a:lnSpc>
              <a:spcBef>
                <a:spcPts val="1420"/>
              </a:spcBef>
              <a:spcAft>
                <a:spcPts val="0"/>
              </a:spcAft>
            </a:pPr>
            <a:r>
              <a:rPr lang="pt-BR" sz="1400" b="1" dirty="0">
                <a:solidFill>
                  <a:schemeClr val="tx2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R9.4=5:9,1652 = 0,5455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70A92E-1DF0-4C5B-9E8D-7C2182DC4253}"/>
              </a:ext>
            </a:extLst>
          </p:cNvPr>
          <p:cNvSpPr/>
          <p:nvPr/>
        </p:nvSpPr>
        <p:spPr>
          <a:xfrm>
            <a:off x="464124" y="4344281"/>
            <a:ext cx="11263745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27570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02DBA0-F38D-403D-BAD6-7F9CD7C42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796" y="775857"/>
            <a:ext cx="10088405" cy="62354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TABEL 5: DATA NORMALISASI</a:t>
            </a: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9A809625-5338-4B4F-8B85-6B0F372CB57C}"/>
              </a:ext>
            </a:extLst>
          </p:cNvPr>
          <p:cNvPicPr/>
          <p:nvPr/>
        </p:nvPicPr>
        <p:blipFill>
          <a:blip r:embed="rId2"/>
          <a:srcRect l="5660" t="19736" b="22367"/>
          <a:stretch/>
        </p:blipFill>
        <p:spPr bwMode="auto">
          <a:xfrm>
            <a:off x="10393205" y="360028"/>
            <a:ext cx="1606851" cy="471246"/>
          </a:xfrm>
          <a:prstGeom prst="rect">
            <a:avLst/>
          </a:prstGeom>
          <a:ln/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0B6CC6-22CF-43DC-8A81-B0D2E0F2D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384667"/>
              </p:ext>
            </p:extLst>
          </p:nvPr>
        </p:nvGraphicFramePr>
        <p:xfrm>
          <a:off x="605939" y="1523809"/>
          <a:ext cx="10980120" cy="175952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762846">
                  <a:extLst>
                    <a:ext uri="{9D8B030D-6E8A-4147-A177-3AD203B41FA5}">
                      <a16:colId xmlns:a16="http://schemas.microsoft.com/office/drawing/2014/main" val="1530652219"/>
                    </a:ext>
                  </a:extLst>
                </a:gridCol>
                <a:gridCol w="1258631">
                  <a:extLst>
                    <a:ext uri="{9D8B030D-6E8A-4147-A177-3AD203B41FA5}">
                      <a16:colId xmlns:a16="http://schemas.microsoft.com/office/drawing/2014/main" val="889920068"/>
                    </a:ext>
                  </a:extLst>
                </a:gridCol>
                <a:gridCol w="1120629">
                  <a:extLst>
                    <a:ext uri="{9D8B030D-6E8A-4147-A177-3AD203B41FA5}">
                      <a16:colId xmlns:a16="http://schemas.microsoft.com/office/drawing/2014/main" val="2693551300"/>
                    </a:ext>
                  </a:extLst>
                </a:gridCol>
                <a:gridCol w="1120629">
                  <a:extLst>
                    <a:ext uri="{9D8B030D-6E8A-4147-A177-3AD203B41FA5}">
                      <a16:colId xmlns:a16="http://schemas.microsoft.com/office/drawing/2014/main" val="590837886"/>
                    </a:ext>
                  </a:extLst>
                </a:gridCol>
                <a:gridCol w="1120629">
                  <a:extLst>
                    <a:ext uri="{9D8B030D-6E8A-4147-A177-3AD203B41FA5}">
                      <a16:colId xmlns:a16="http://schemas.microsoft.com/office/drawing/2014/main" val="2547516865"/>
                    </a:ext>
                  </a:extLst>
                </a:gridCol>
                <a:gridCol w="1120629">
                  <a:extLst>
                    <a:ext uri="{9D8B030D-6E8A-4147-A177-3AD203B41FA5}">
                      <a16:colId xmlns:a16="http://schemas.microsoft.com/office/drawing/2014/main" val="3920376289"/>
                    </a:ext>
                  </a:extLst>
                </a:gridCol>
                <a:gridCol w="1120629">
                  <a:extLst>
                    <a:ext uri="{9D8B030D-6E8A-4147-A177-3AD203B41FA5}">
                      <a16:colId xmlns:a16="http://schemas.microsoft.com/office/drawing/2014/main" val="216016152"/>
                    </a:ext>
                  </a:extLst>
                </a:gridCol>
                <a:gridCol w="1120629">
                  <a:extLst>
                    <a:ext uri="{9D8B030D-6E8A-4147-A177-3AD203B41FA5}">
                      <a16:colId xmlns:a16="http://schemas.microsoft.com/office/drawing/2014/main" val="1597071391"/>
                    </a:ext>
                  </a:extLst>
                </a:gridCol>
                <a:gridCol w="1120629">
                  <a:extLst>
                    <a:ext uri="{9D8B030D-6E8A-4147-A177-3AD203B41FA5}">
                      <a16:colId xmlns:a16="http://schemas.microsoft.com/office/drawing/2014/main" val="1520391430"/>
                    </a:ext>
                  </a:extLst>
                </a:gridCol>
                <a:gridCol w="1114240">
                  <a:extLst>
                    <a:ext uri="{9D8B030D-6E8A-4147-A177-3AD203B41FA5}">
                      <a16:colId xmlns:a16="http://schemas.microsoft.com/office/drawing/2014/main" val="2885283789"/>
                    </a:ext>
                  </a:extLst>
                </a:gridCol>
              </a:tblGrid>
              <a:tr h="347561"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C1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C3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lang="id-ID" sz="17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C5</a:t>
                      </a:r>
                      <a:endParaRPr lang="en-ID" sz="17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265"/>
                        </a:lnSpc>
                      </a:pPr>
                      <a:r>
                        <a:rPr lang="id-ID" sz="17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C6</a:t>
                      </a:r>
                      <a:endParaRPr lang="en-ID" sz="17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C7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C8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4770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C9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73321889"/>
                  </a:ext>
                </a:extLst>
              </a:tr>
              <a:tr h="348839">
                <a:tc>
                  <a:txBody>
                    <a:bodyPr/>
                    <a:lstStyle/>
                    <a:p>
                      <a:pPr marL="7937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S1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0,4867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0,5164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0,5000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0,5000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0,2182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0,5000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0,6489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0,5883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477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0,3273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42721779"/>
                  </a:ext>
                </a:extLst>
              </a:tr>
              <a:tr h="351395">
                <a:tc>
                  <a:txBody>
                    <a:bodyPr/>
                    <a:lstStyle/>
                    <a:p>
                      <a:pPr marL="79375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S2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0,6489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0,2582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0,5000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0,5000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0,2182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0,5000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0,4867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0,3922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4770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0,5455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70606099"/>
                  </a:ext>
                </a:extLst>
              </a:tr>
              <a:tr h="353950">
                <a:tc>
                  <a:txBody>
                    <a:bodyPr/>
                    <a:lstStyle/>
                    <a:p>
                      <a:pPr marL="7937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S3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0,3244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0,7746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0,5000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0,5000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0,2182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0,5000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0,4867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0,3922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477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0,5455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36195755"/>
                  </a:ext>
                </a:extLst>
              </a:tr>
              <a:tr h="357784">
                <a:tc>
                  <a:txBody>
                    <a:bodyPr/>
                    <a:lstStyle/>
                    <a:p>
                      <a:pPr marL="7937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S4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0,4867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0,2582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0,5000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0,5000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0,2182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0,5000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0,3244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0,5883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4770">
                        <a:lnSpc>
                          <a:spcPts val="1290"/>
                        </a:lnSpc>
                      </a:pPr>
                      <a:r>
                        <a:rPr lang="id-ID" sz="17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0,5455</a:t>
                      </a:r>
                      <a:endParaRPr lang="en-ID" sz="17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04626809"/>
                  </a:ext>
                </a:extLst>
              </a:tr>
            </a:tbl>
          </a:graphicData>
        </a:graphic>
      </p:graphicFrame>
      <p:sp>
        <p:nvSpPr>
          <p:cNvPr id="6" name="Subtitle 2">
            <a:extLst>
              <a:ext uri="{FF2B5EF4-FFF2-40B4-BE49-F238E27FC236}">
                <a16:creationId xmlns:a16="http://schemas.microsoft.com/office/drawing/2014/main" id="{6FF17970-5AE1-4C3C-854A-6819E4981A2C}"/>
              </a:ext>
            </a:extLst>
          </p:cNvPr>
          <p:cNvSpPr txBox="1">
            <a:spLocks/>
          </p:cNvSpPr>
          <p:nvPr/>
        </p:nvSpPr>
        <p:spPr>
          <a:xfrm>
            <a:off x="1051796" y="3574663"/>
            <a:ext cx="10088405" cy="62354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TABEL 6: NORMALISASI BERBOBOT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(DATA NORMALISASI) X (BOBOT KRITERIA)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B1C7EC5-D4E0-460F-9BB7-F55B9233C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020280"/>
              </p:ext>
            </p:extLst>
          </p:nvPr>
        </p:nvGraphicFramePr>
        <p:xfrm>
          <a:off x="605939" y="4627322"/>
          <a:ext cx="10972137" cy="175952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762292">
                  <a:extLst>
                    <a:ext uri="{9D8B030D-6E8A-4147-A177-3AD203B41FA5}">
                      <a16:colId xmlns:a16="http://schemas.microsoft.com/office/drawing/2014/main" val="2662176999"/>
                    </a:ext>
                  </a:extLst>
                </a:gridCol>
                <a:gridCol w="1257717">
                  <a:extLst>
                    <a:ext uri="{9D8B030D-6E8A-4147-A177-3AD203B41FA5}">
                      <a16:colId xmlns:a16="http://schemas.microsoft.com/office/drawing/2014/main" val="4107427066"/>
                    </a:ext>
                  </a:extLst>
                </a:gridCol>
                <a:gridCol w="1119814">
                  <a:extLst>
                    <a:ext uri="{9D8B030D-6E8A-4147-A177-3AD203B41FA5}">
                      <a16:colId xmlns:a16="http://schemas.microsoft.com/office/drawing/2014/main" val="2988444036"/>
                    </a:ext>
                  </a:extLst>
                </a:gridCol>
                <a:gridCol w="1119814">
                  <a:extLst>
                    <a:ext uri="{9D8B030D-6E8A-4147-A177-3AD203B41FA5}">
                      <a16:colId xmlns:a16="http://schemas.microsoft.com/office/drawing/2014/main" val="2910100139"/>
                    </a:ext>
                  </a:extLst>
                </a:gridCol>
                <a:gridCol w="1119814">
                  <a:extLst>
                    <a:ext uri="{9D8B030D-6E8A-4147-A177-3AD203B41FA5}">
                      <a16:colId xmlns:a16="http://schemas.microsoft.com/office/drawing/2014/main" val="3666956193"/>
                    </a:ext>
                  </a:extLst>
                </a:gridCol>
                <a:gridCol w="1119814">
                  <a:extLst>
                    <a:ext uri="{9D8B030D-6E8A-4147-A177-3AD203B41FA5}">
                      <a16:colId xmlns:a16="http://schemas.microsoft.com/office/drawing/2014/main" val="1011298917"/>
                    </a:ext>
                  </a:extLst>
                </a:gridCol>
                <a:gridCol w="1119814">
                  <a:extLst>
                    <a:ext uri="{9D8B030D-6E8A-4147-A177-3AD203B41FA5}">
                      <a16:colId xmlns:a16="http://schemas.microsoft.com/office/drawing/2014/main" val="1075002501"/>
                    </a:ext>
                  </a:extLst>
                </a:gridCol>
                <a:gridCol w="1119814">
                  <a:extLst>
                    <a:ext uri="{9D8B030D-6E8A-4147-A177-3AD203B41FA5}">
                      <a16:colId xmlns:a16="http://schemas.microsoft.com/office/drawing/2014/main" val="433565070"/>
                    </a:ext>
                  </a:extLst>
                </a:gridCol>
                <a:gridCol w="1119814">
                  <a:extLst>
                    <a:ext uri="{9D8B030D-6E8A-4147-A177-3AD203B41FA5}">
                      <a16:colId xmlns:a16="http://schemas.microsoft.com/office/drawing/2014/main" val="33849665"/>
                    </a:ext>
                  </a:extLst>
                </a:gridCol>
                <a:gridCol w="1113430">
                  <a:extLst>
                    <a:ext uri="{9D8B030D-6E8A-4147-A177-3AD203B41FA5}">
                      <a16:colId xmlns:a16="http://schemas.microsoft.com/office/drawing/2014/main" val="1957695337"/>
                    </a:ext>
                  </a:extLst>
                </a:gridCol>
              </a:tblGrid>
              <a:tr h="347309"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C1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C3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lang="id-ID" sz="17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C5</a:t>
                      </a:r>
                      <a:endParaRPr lang="en-ID" sz="17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C6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C7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C8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4770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C9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63768753"/>
                  </a:ext>
                </a:extLst>
              </a:tr>
              <a:tr h="348586">
                <a:tc>
                  <a:txBody>
                    <a:bodyPr/>
                    <a:lstStyle/>
                    <a:p>
                      <a:pPr marL="7937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S1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2,4333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2,5820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2,0000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2,5000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0,6547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2,0000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2,5955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1,7650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477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1,3093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72568588"/>
                  </a:ext>
                </a:extLst>
              </a:tr>
              <a:tr h="354970">
                <a:tc>
                  <a:txBody>
                    <a:bodyPr/>
                    <a:lstStyle/>
                    <a:p>
                      <a:pPr marL="79375">
                        <a:lnSpc>
                          <a:spcPts val="125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S2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125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3,2444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5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1,2910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5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2,0000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25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2,5000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0,6547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25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2,0000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5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1,9467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5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1,1767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4770">
                        <a:lnSpc>
                          <a:spcPts val="125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2,1822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50635025"/>
                  </a:ext>
                </a:extLst>
              </a:tr>
              <a:tr h="353693">
                <a:tc>
                  <a:txBody>
                    <a:bodyPr/>
                    <a:lstStyle/>
                    <a:p>
                      <a:pPr marL="7937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S3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1,6222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3,8730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2,0000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2,5000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0,6547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2,0000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1,9467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1,1767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477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2,1822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98352590"/>
                  </a:ext>
                </a:extLst>
              </a:tr>
              <a:tr h="354970">
                <a:tc>
                  <a:txBody>
                    <a:bodyPr/>
                    <a:lstStyle/>
                    <a:p>
                      <a:pPr marL="7937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S4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2,4333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1,2910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2,0000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2,5000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0,6547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2,0000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1,2978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1,7650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4770">
                        <a:lnSpc>
                          <a:spcPts val="1290"/>
                        </a:lnSpc>
                      </a:pPr>
                      <a:r>
                        <a:rPr lang="id-ID" sz="17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2,1822</a:t>
                      </a:r>
                      <a:endParaRPr lang="en-ID" sz="17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14180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2548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02DBA0-F38D-403D-BAD6-7F9CD7C42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796" y="796402"/>
            <a:ext cx="10088405" cy="62354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TABEL 7: MAX &amp; MIN DARI NORMALISASI BERBOBOT</a:t>
            </a: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9A809625-5338-4B4F-8B85-6B0F372CB57C}"/>
              </a:ext>
            </a:extLst>
          </p:cNvPr>
          <p:cNvPicPr/>
          <p:nvPr/>
        </p:nvPicPr>
        <p:blipFill>
          <a:blip r:embed="rId2"/>
          <a:srcRect l="5660" t="19736" b="22367"/>
          <a:stretch/>
        </p:blipFill>
        <p:spPr bwMode="auto">
          <a:xfrm>
            <a:off x="10393205" y="360028"/>
            <a:ext cx="1606851" cy="471246"/>
          </a:xfrm>
          <a:prstGeom prst="rect">
            <a:avLst/>
          </a:prstGeom>
          <a:ln/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108BDE4-26EC-477C-8435-F4A9EA040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315327"/>
              </p:ext>
            </p:extLst>
          </p:nvPr>
        </p:nvGraphicFramePr>
        <p:xfrm>
          <a:off x="726626" y="1555196"/>
          <a:ext cx="10738743" cy="320040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877296">
                  <a:extLst>
                    <a:ext uri="{9D8B030D-6E8A-4147-A177-3AD203B41FA5}">
                      <a16:colId xmlns:a16="http://schemas.microsoft.com/office/drawing/2014/main" val="1704137216"/>
                    </a:ext>
                  </a:extLst>
                </a:gridCol>
                <a:gridCol w="1099743">
                  <a:extLst>
                    <a:ext uri="{9D8B030D-6E8A-4147-A177-3AD203B41FA5}">
                      <a16:colId xmlns:a16="http://schemas.microsoft.com/office/drawing/2014/main" val="2732636409"/>
                    </a:ext>
                  </a:extLst>
                </a:gridCol>
                <a:gridCol w="1095994">
                  <a:extLst>
                    <a:ext uri="{9D8B030D-6E8A-4147-A177-3AD203B41FA5}">
                      <a16:colId xmlns:a16="http://schemas.microsoft.com/office/drawing/2014/main" val="3200683449"/>
                    </a:ext>
                  </a:extLst>
                </a:gridCol>
                <a:gridCol w="1095994">
                  <a:extLst>
                    <a:ext uri="{9D8B030D-6E8A-4147-A177-3AD203B41FA5}">
                      <a16:colId xmlns:a16="http://schemas.microsoft.com/office/drawing/2014/main" val="2156875358"/>
                    </a:ext>
                  </a:extLst>
                </a:gridCol>
                <a:gridCol w="1095994">
                  <a:extLst>
                    <a:ext uri="{9D8B030D-6E8A-4147-A177-3AD203B41FA5}">
                      <a16:colId xmlns:a16="http://schemas.microsoft.com/office/drawing/2014/main" val="3539772257"/>
                    </a:ext>
                  </a:extLst>
                </a:gridCol>
                <a:gridCol w="1095994">
                  <a:extLst>
                    <a:ext uri="{9D8B030D-6E8A-4147-A177-3AD203B41FA5}">
                      <a16:colId xmlns:a16="http://schemas.microsoft.com/office/drawing/2014/main" val="1593303616"/>
                    </a:ext>
                  </a:extLst>
                </a:gridCol>
                <a:gridCol w="1097244">
                  <a:extLst>
                    <a:ext uri="{9D8B030D-6E8A-4147-A177-3AD203B41FA5}">
                      <a16:colId xmlns:a16="http://schemas.microsoft.com/office/drawing/2014/main" val="1427950428"/>
                    </a:ext>
                  </a:extLst>
                </a:gridCol>
                <a:gridCol w="1095994">
                  <a:extLst>
                    <a:ext uri="{9D8B030D-6E8A-4147-A177-3AD203B41FA5}">
                      <a16:colId xmlns:a16="http://schemas.microsoft.com/office/drawing/2014/main" val="3663397010"/>
                    </a:ext>
                  </a:extLst>
                </a:gridCol>
                <a:gridCol w="1095994">
                  <a:extLst>
                    <a:ext uri="{9D8B030D-6E8A-4147-A177-3AD203B41FA5}">
                      <a16:colId xmlns:a16="http://schemas.microsoft.com/office/drawing/2014/main" val="2237252190"/>
                    </a:ext>
                  </a:extLst>
                </a:gridCol>
                <a:gridCol w="1088496">
                  <a:extLst>
                    <a:ext uri="{9D8B030D-6E8A-4147-A177-3AD203B41FA5}">
                      <a16:colId xmlns:a16="http://schemas.microsoft.com/office/drawing/2014/main" val="3038450758"/>
                    </a:ext>
                  </a:extLst>
                </a:gridCol>
              </a:tblGrid>
              <a:tr h="451275"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 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C1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C2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C3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265"/>
                        </a:lnSpc>
                      </a:pPr>
                      <a:r>
                        <a:rPr lang="id-ID" sz="16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C4</a:t>
                      </a:r>
                      <a:endParaRPr lang="en-ID" sz="16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lang="id-ID" sz="16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C5</a:t>
                      </a:r>
                      <a:endParaRPr lang="en-ID" sz="16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C6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C7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4770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C8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C9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03914348"/>
                  </a:ext>
                </a:extLst>
              </a:tr>
              <a:tr h="447957">
                <a:tc>
                  <a:txBody>
                    <a:bodyPr/>
                    <a:lstStyle/>
                    <a:p>
                      <a:pPr marL="78740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S1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2,4333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2,5820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2,0000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2,5000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90"/>
                        </a:lnSpc>
                      </a:pPr>
                      <a:r>
                        <a:rPr lang="id-ID" sz="16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0,6547</a:t>
                      </a:r>
                      <a:endParaRPr lang="en-ID" sz="16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2,0000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2,5955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4770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1,7650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1,3093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51692945"/>
                  </a:ext>
                </a:extLst>
              </a:tr>
              <a:tr h="461229">
                <a:tc>
                  <a:txBody>
                    <a:bodyPr/>
                    <a:lstStyle/>
                    <a:p>
                      <a:pPr marL="78740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S2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3,2444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1,2910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2,0000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2,5000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0,6547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2,0000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1,9467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4770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1,1767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2,1822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49204548"/>
                  </a:ext>
                </a:extLst>
              </a:tr>
              <a:tr h="452934">
                <a:tc>
                  <a:txBody>
                    <a:bodyPr/>
                    <a:lstStyle/>
                    <a:p>
                      <a:pPr marL="78740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S3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1,6222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3,8730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2,0000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2,5000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0,6547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2,0000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1,9467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4770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1,1767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2,1822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96806"/>
                  </a:ext>
                </a:extLst>
              </a:tr>
              <a:tr h="461229">
                <a:tc>
                  <a:txBody>
                    <a:bodyPr/>
                    <a:lstStyle/>
                    <a:p>
                      <a:pPr marL="78740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S4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2,4333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1,2910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2,0000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2,5000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0,6547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2,0000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1,2978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4770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1,7650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65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2,1822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66145244"/>
                  </a:ext>
                </a:extLst>
              </a:tr>
              <a:tr h="461229">
                <a:tc>
                  <a:txBody>
                    <a:bodyPr/>
                    <a:lstStyle/>
                    <a:p>
                      <a:pPr marL="78740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Max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3,2444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3,8730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2,0000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2,5000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0,6547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2,0000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2,5955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4770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1,7650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2,1822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04538310"/>
                  </a:ext>
                </a:extLst>
              </a:tr>
              <a:tr h="464548">
                <a:tc>
                  <a:txBody>
                    <a:bodyPr/>
                    <a:lstStyle/>
                    <a:p>
                      <a:pPr marL="78740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Min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1,6222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1,2910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2,0000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2,5000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0,6547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2,0000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1,2978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4770">
                        <a:lnSpc>
                          <a:spcPts val="1290"/>
                        </a:lnSpc>
                      </a:pPr>
                      <a:r>
                        <a:rPr lang="id-ID" sz="16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1,1767</a:t>
                      </a:r>
                      <a:endParaRPr lang="en-ID" sz="16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290"/>
                        </a:lnSpc>
                      </a:pPr>
                      <a:r>
                        <a:rPr lang="id-ID" sz="16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1,3093</a:t>
                      </a:r>
                      <a:endParaRPr lang="en-ID" sz="16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3751923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52C557D7-E7DD-49BD-B171-E114D2FEF9EB}"/>
              </a:ext>
            </a:extLst>
          </p:cNvPr>
          <p:cNvSpPr txBox="1">
            <a:spLocks/>
          </p:cNvSpPr>
          <p:nvPr/>
        </p:nvSpPr>
        <p:spPr>
          <a:xfrm>
            <a:off x="2417044" y="4991030"/>
            <a:ext cx="7313810" cy="13961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Jika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kriteria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bersifat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Benefit (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makin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besar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makin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baik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maka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D+ = max dan D- = min.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Jika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kriteria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bersifat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Cost (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makin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kecil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makin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baik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maka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D+ = min dan D- = max.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1" dirty="0">
              <a:solidFill>
                <a:schemeClr val="tx2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Dalam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kasus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ini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semua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telah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di grade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maka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semua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sifatnya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adalah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Benefit.</a:t>
            </a:r>
          </a:p>
        </p:txBody>
      </p:sp>
    </p:spTree>
    <p:extLst>
      <p:ext uri="{BB962C8B-B14F-4D97-AF65-F5344CB8AC3E}">
        <p14:creationId xmlns:p14="http://schemas.microsoft.com/office/powerpoint/2010/main" val="1154346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02DBA0-F38D-403D-BAD6-7F9CD7C42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796" y="796402"/>
            <a:ext cx="10088405" cy="62354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MENCARI D+</a:t>
            </a: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9A809625-5338-4B4F-8B85-6B0F372CB57C}"/>
              </a:ext>
            </a:extLst>
          </p:cNvPr>
          <p:cNvPicPr/>
          <p:nvPr/>
        </p:nvPicPr>
        <p:blipFill>
          <a:blip r:embed="rId2"/>
          <a:srcRect l="5660" t="19736" b="22367"/>
          <a:stretch/>
        </p:blipFill>
        <p:spPr bwMode="auto">
          <a:xfrm>
            <a:off x="10393205" y="360028"/>
            <a:ext cx="1606851" cy="471246"/>
          </a:xfrm>
          <a:prstGeom prst="rect">
            <a:avLst/>
          </a:prstGeom>
          <a:ln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52CD6D-3FDA-4610-BA24-097459905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35" y="1981107"/>
            <a:ext cx="5526596" cy="2895785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6D6D1E40-C04F-4548-ACC2-1CC6A0D3C43A}"/>
              </a:ext>
            </a:extLst>
          </p:cNvPr>
          <p:cNvSpPr txBox="1">
            <a:spLocks/>
          </p:cNvSpPr>
          <p:nvPr/>
        </p:nvSpPr>
        <p:spPr>
          <a:xfrm>
            <a:off x="7065818" y="2174979"/>
            <a:ext cx="4391108" cy="62354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TABEL 8: HASIL PERHITUNGAN D+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03C2247-60E0-4CF0-9DCC-2C0ADC5B9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303949"/>
              </p:ext>
            </p:extLst>
          </p:nvPr>
        </p:nvGraphicFramePr>
        <p:xfrm>
          <a:off x="8037919" y="2916246"/>
          <a:ext cx="2446907" cy="146360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1031330">
                  <a:extLst>
                    <a:ext uri="{9D8B030D-6E8A-4147-A177-3AD203B41FA5}">
                      <a16:colId xmlns:a16="http://schemas.microsoft.com/office/drawing/2014/main" val="2689412529"/>
                    </a:ext>
                  </a:extLst>
                </a:gridCol>
                <a:gridCol w="1415577">
                  <a:extLst>
                    <a:ext uri="{9D8B030D-6E8A-4147-A177-3AD203B41FA5}">
                      <a16:colId xmlns:a16="http://schemas.microsoft.com/office/drawing/2014/main" val="2945634106"/>
                    </a:ext>
                  </a:extLst>
                </a:gridCol>
              </a:tblGrid>
              <a:tr h="364234">
                <a:tc>
                  <a:txBody>
                    <a:bodyPr/>
                    <a:lstStyle/>
                    <a:p>
                      <a:pPr marL="69850">
                        <a:lnSpc>
                          <a:spcPts val="1265"/>
                        </a:lnSpc>
                      </a:pPr>
                      <a:r>
                        <a:rPr lang="id-ID" sz="20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D1+</a:t>
                      </a:r>
                      <a:endParaRPr lang="en-ID" sz="20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65"/>
                        </a:lnSpc>
                      </a:pPr>
                      <a:r>
                        <a:rPr lang="id-ID" sz="20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1,7568</a:t>
                      </a:r>
                      <a:endParaRPr lang="en-ID" sz="20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85029312"/>
                  </a:ext>
                </a:extLst>
              </a:tr>
              <a:tr h="370905">
                <a:tc>
                  <a:txBody>
                    <a:bodyPr/>
                    <a:lstStyle/>
                    <a:p>
                      <a:pPr marL="69850">
                        <a:lnSpc>
                          <a:spcPts val="1290"/>
                        </a:lnSpc>
                      </a:pPr>
                      <a:r>
                        <a:rPr lang="id-ID" sz="20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D2+</a:t>
                      </a:r>
                      <a:endParaRPr lang="en-ID" sz="20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90"/>
                        </a:lnSpc>
                      </a:pPr>
                      <a:r>
                        <a:rPr lang="id-ID" sz="20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2,7265</a:t>
                      </a:r>
                      <a:endParaRPr lang="en-ID" sz="20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24917022"/>
                  </a:ext>
                </a:extLst>
              </a:tr>
              <a:tr h="364234">
                <a:tc>
                  <a:txBody>
                    <a:bodyPr/>
                    <a:lstStyle/>
                    <a:p>
                      <a:pPr marL="69850">
                        <a:lnSpc>
                          <a:spcPts val="1265"/>
                        </a:lnSpc>
                      </a:pPr>
                      <a:r>
                        <a:rPr lang="id-ID" sz="20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D3+</a:t>
                      </a:r>
                      <a:endParaRPr lang="en-ID" sz="20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65"/>
                        </a:lnSpc>
                      </a:pPr>
                      <a:r>
                        <a:rPr lang="id-ID" sz="20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1,8436</a:t>
                      </a:r>
                      <a:endParaRPr lang="en-ID" sz="20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56364469"/>
                  </a:ext>
                </a:extLst>
              </a:tr>
              <a:tr h="364234">
                <a:tc>
                  <a:txBody>
                    <a:bodyPr/>
                    <a:lstStyle/>
                    <a:p>
                      <a:pPr marL="69850">
                        <a:lnSpc>
                          <a:spcPts val="1265"/>
                        </a:lnSpc>
                      </a:pPr>
                      <a:r>
                        <a:rPr lang="id-ID" sz="20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D4+</a:t>
                      </a:r>
                      <a:endParaRPr lang="en-ID" sz="20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65"/>
                        </a:lnSpc>
                      </a:pPr>
                      <a:r>
                        <a:rPr lang="id-ID" sz="20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3,0015</a:t>
                      </a:r>
                      <a:endParaRPr lang="en-ID" sz="20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8136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7473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02DBA0-F38D-403D-BAD6-7F9CD7C42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796" y="796402"/>
            <a:ext cx="10088405" cy="62354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MENCARI D-</a:t>
            </a: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9A809625-5338-4B4F-8B85-6B0F372CB57C}"/>
              </a:ext>
            </a:extLst>
          </p:cNvPr>
          <p:cNvPicPr/>
          <p:nvPr/>
        </p:nvPicPr>
        <p:blipFill>
          <a:blip r:embed="rId2"/>
          <a:srcRect l="5660" t="19736" b="22367"/>
          <a:stretch/>
        </p:blipFill>
        <p:spPr bwMode="auto">
          <a:xfrm>
            <a:off x="10393205" y="360028"/>
            <a:ext cx="1606851" cy="471246"/>
          </a:xfrm>
          <a:prstGeom prst="rect">
            <a:avLst/>
          </a:prstGeom>
          <a:ln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84E5E8-9D60-4210-8B75-9CB7A1BA7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9" y="2419764"/>
            <a:ext cx="6027280" cy="2018471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C134866F-61E0-4F4E-BBBE-DC4B20B02E6B}"/>
              </a:ext>
            </a:extLst>
          </p:cNvPr>
          <p:cNvSpPr txBox="1">
            <a:spLocks/>
          </p:cNvSpPr>
          <p:nvPr/>
        </p:nvSpPr>
        <p:spPr>
          <a:xfrm>
            <a:off x="7107380" y="2174979"/>
            <a:ext cx="4307983" cy="62354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TABEL 9: HASIL PERHITUNGAN D-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64486D4-E9CF-4F30-A8A4-9645AD86D1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34417"/>
              </p:ext>
            </p:extLst>
          </p:nvPr>
        </p:nvGraphicFramePr>
        <p:xfrm>
          <a:off x="8037918" y="2974628"/>
          <a:ext cx="2446906" cy="146360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994331">
                  <a:extLst>
                    <a:ext uri="{9D8B030D-6E8A-4147-A177-3AD203B41FA5}">
                      <a16:colId xmlns:a16="http://schemas.microsoft.com/office/drawing/2014/main" val="772367751"/>
                    </a:ext>
                  </a:extLst>
                </a:gridCol>
                <a:gridCol w="1452575">
                  <a:extLst>
                    <a:ext uri="{9D8B030D-6E8A-4147-A177-3AD203B41FA5}">
                      <a16:colId xmlns:a16="http://schemas.microsoft.com/office/drawing/2014/main" val="444637296"/>
                    </a:ext>
                  </a:extLst>
                </a:gridCol>
              </a:tblGrid>
              <a:tr h="369557">
                <a:tc>
                  <a:txBody>
                    <a:bodyPr/>
                    <a:lstStyle/>
                    <a:p>
                      <a:pPr marL="71120">
                        <a:lnSpc>
                          <a:spcPts val="1290"/>
                        </a:lnSpc>
                      </a:pPr>
                      <a:r>
                        <a:rPr lang="id-ID" sz="20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D1-</a:t>
                      </a:r>
                      <a:endParaRPr lang="en-ID" sz="20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90"/>
                        </a:lnSpc>
                      </a:pPr>
                      <a:r>
                        <a:rPr lang="id-ID" sz="20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2,0868</a:t>
                      </a:r>
                      <a:endParaRPr lang="en-ID" sz="20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16225383"/>
                  </a:ext>
                </a:extLst>
              </a:tr>
              <a:tr h="362911">
                <a:tc>
                  <a:txBody>
                    <a:bodyPr/>
                    <a:lstStyle/>
                    <a:p>
                      <a:pPr marL="71120">
                        <a:lnSpc>
                          <a:spcPts val="1270"/>
                        </a:lnSpc>
                      </a:pPr>
                      <a:r>
                        <a:rPr lang="id-ID" sz="20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D2-</a:t>
                      </a:r>
                      <a:endParaRPr lang="en-ID" sz="20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70"/>
                        </a:lnSpc>
                      </a:pPr>
                      <a:r>
                        <a:rPr lang="id-ID" sz="20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1,9531</a:t>
                      </a:r>
                      <a:endParaRPr lang="en-ID" sz="20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65402467"/>
                  </a:ext>
                </a:extLst>
              </a:tr>
              <a:tr h="368228">
                <a:tc>
                  <a:txBody>
                    <a:bodyPr/>
                    <a:lstStyle/>
                    <a:p>
                      <a:pPr marL="71120">
                        <a:lnSpc>
                          <a:spcPts val="1290"/>
                        </a:lnSpc>
                      </a:pPr>
                      <a:r>
                        <a:rPr lang="id-ID" sz="20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D3-</a:t>
                      </a:r>
                      <a:endParaRPr lang="en-ID" sz="20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90"/>
                        </a:lnSpc>
                      </a:pPr>
                      <a:r>
                        <a:rPr lang="id-ID" sz="20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2,8017</a:t>
                      </a:r>
                      <a:endParaRPr lang="en-ID" sz="20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89920460"/>
                  </a:ext>
                </a:extLst>
              </a:tr>
              <a:tr h="362911">
                <a:tc>
                  <a:txBody>
                    <a:bodyPr/>
                    <a:lstStyle/>
                    <a:p>
                      <a:pPr marL="71120">
                        <a:lnSpc>
                          <a:spcPts val="1265"/>
                        </a:lnSpc>
                      </a:pPr>
                      <a:r>
                        <a:rPr lang="id-ID" sz="20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D4-</a:t>
                      </a:r>
                      <a:endParaRPr lang="en-ID" sz="20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65"/>
                        </a:lnSpc>
                      </a:pPr>
                      <a:r>
                        <a:rPr lang="id-ID" sz="20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1,3289</a:t>
                      </a:r>
                      <a:endParaRPr lang="en-ID" sz="20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97455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9126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02DBA0-F38D-403D-BAD6-7F9CD7C42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796" y="796402"/>
            <a:ext cx="10088405" cy="62354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MENCARI V / HASIL</a:t>
            </a: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9A809625-5338-4B4F-8B85-6B0F372CB57C}"/>
              </a:ext>
            </a:extLst>
          </p:cNvPr>
          <p:cNvPicPr/>
          <p:nvPr/>
        </p:nvPicPr>
        <p:blipFill>
          <a:blip r:embed="rId2"/>
          <a:srcRect l="5660" t="19736" b="22367"/>
          <a:stretch/>
        </p:blipFill>
        <p:spPr bwMode="auto">
          <a:xfrm>
            <a:off x="10393205" y="360028"/>
            <a:ext cx="1606851" cy="471246"/>
          </a:xfrm>
          <a:prstGeom prst="rect">
            <a:avLst/>
          </a:prstGeom>
          <a:ln/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C134866F-61E0-4F4E-BBBE-DC4B20B02E6B}"/>
              </a:ext>
            </a:extLst>
          </p:cNvPr>
          <p:cNvSpPr txBox="1">
            <a:spLocks/>
          </p:cNvSpPr>
          <p:nvPr/>
        </p:nvSpPr>
        <p:spPr>
          <a:xfrm>
            <a:off x="4755371" y="1735517"/>
            <a:ext cx="6565094" cy="62354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TABEL 10: PREFERENSI DAN RANGKING ALTERNATIF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9E15209-4905-40B1-85DF-55E29289F1ED}"/>
              </a:ext>
            </a:extLst>
          </p:cNvPr>
          <p:cNvGrpSpPr/>
          <p:nvPr/>
        </p:nvGrpSpPr>
        <p:grpSpPr>
          <a:xfrm>
            <a:off x="349504" y="1916543"/>
            <a:ext cx="4250205" cy="3841962"/>
            <a:chOff x="653124" y="831274"/>
            <a:chExt cx="3500958" cy="315575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224CEA2-078D-4356-8069-311BF2D921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4775"/>
            <a:stretch/>
          </p:blipFill>
          <p:spPr>
            <a:xfrm>
              <a:off x="653124" y="3134210"/>
              <a:ext cx="3500957" cy="85281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8E1F331-B79C-4349-B2D2-A786DE4CF7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55974"/>
            <a:stretch/>
          </p:blipFill>
          <p:spPr>
            <a:xfrm>
              <a:off x="653125" y="831274"/>
              <a:ext cx="3500957" cy="2466108"/>
            </a:xfrm>
            <a:prstGeom prst="rect">
              <a:avLst/>
            </a:prstGeom>
          </p:spPr>
        </p:pic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D00BD99-A0F0-4233-9E63-292E273A4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5773"/>
              </p:ext>
            </p:extLst>
          </p:nvPr>
        </p:nvGraphicFramePr>
        <p:xfrm>
          <a:off x="6116989" y="2483252"/>
          <a:ext cx="3841857" cy="198119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1265579">
                  <a:extLst>
                    <a:ext uri="{9D8B030D-6E8A-4147-A177-3AD203B41FA5}">
                      <a16:colId xmlns:a16="http://schemas.microsoft.com/office/drawing/2014/main" val="244099048"/>
                    </a:ext>
                  </a:extLst>
                </a:gridCol>
                <a:gridCol w="1310699">
                  <a:extLst>
                    <a:ext uri="{9D8B030D-6E8A-4147-A177-3AD203B41FA5}">
                      <a16:colId xmlns:a16="http://schemas.microsoft.com/office/drawing/2014/main" val="198318308"/>
                    </a:ext>
                  </a:extLst>
                </a:gridCol>
                <a:gridCol w="1265579">
                  <a:extLst>
                    <a:ext uri="{9D8B030D-6E8A-4147-A177-3AD203B41FA5}">
                      <a16:colId xmlns:a16="http://schemas.microsoft.com/office/drawing/2014/main" val="2586086385"/>
                    </a:ext>
                  </a:extLst>
                </a:gridCol>
              </a:tblGrid>
              <a:tr h="635941">
                <a:tc>
                  <a:txBody>
                    <a:bodyPr/>
                    <a:lstStyle/>
                    <a:p>
                      <a:pPr marL="69850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Alternatif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265"/>
                        </a:lnSpc>
                      </a:pPr>
                      <a:r>
                        <a:rPr lang="id-ID" sz="17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Preferensi</a:t>
                      </a:r>
                      <a:endParaRPr lang="en-ID" sz="17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65"/>
                        </a:lnSpc>
                      </a:pPr>
                      <a:r>
                        <a:rPr lang="id-ID" sz="17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Rangking</a:t>
                      </a:r>
                      <a:endParaRPr lang="en-ID" sz="17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07395503"/>
                  </a:ext>
                </a:extLst>
              </a:tr>
              <a:tr h="338761">
                <a:tc>
                  <a:txBody>
                    <a:bodyPr/>
                    <a:lstStyle/>
                    <a:p>
                      <a:pPr marL="69850">
                        <a:lnSpc>
                          <a:spcPts val="1290"/>
                        </a:lnSpc>
                      </a:pPr>
                      <a:r>
                        <a:rPr lang="id-ID" sz="17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S1</a:t>
                      </a:r>
                      <a:r>
                        <a:rPr lang="en-US" sz="17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(Acer)</a:t>
                      </a:r>
                      <a:endParaRPr lang="en-ID" sz="17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0,5429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9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2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53649007"/>
                  </a:ext>
                </a:extLst>
              </a:tr>
              <a:tr h="333869">
                <a:tc>
                  <a:txBody>
                    <a:bodyPr/>
                    <a:lstStyle/>
                    <a:p>
                      <a:pPr marL="69850">
                        <a:lnSpc>
                          <a:spcPts val="1265"/>
                        </a:lnSpc>
                      </a:pPr>
                      <a:r>
                        <a:rPr lang="id-ID" sz="17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S2</a:t>
                      </a:r>
                      <a:r>
                        <a:rPr lang="en-US" sz="17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(HP)</a:t>
                      </a:r>
                      <a:endParaRPr lang="en-ID" sz="17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0,4174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65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3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18914368"/>
                  </a:ext>
                </a:extLst>
              </a:tr>
              <a:tr h="336314">
                <a:tc>
                  <a:txBody>
                    <a:bodyPr/>
                    <a:lstStyle/>
                    <a:p>
                      <a:pPr marL="69850">
                        <a:lnSpc>
                          <a:spcPts val="1280"/>
                        </a:lnSpc>
                      </a:pPr>
                      <a:r>
                        <a:rPr lang="id-ID" sz="17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S3</a:t>
                      </a:r>
                      <a:r>
                        <a:rPr lang="en-US" sz="17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(Asus)</a:t>
                      </a:r>
                      <a:endParaRPr lang="en-ID" sz="17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28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0,6031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8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1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18450167"/>
                  </a:ext>
                </a:extLst>
              </a:tr>
              <a:tr h="336314">
                <a:tc>
                  <a:txBody>
                    <a:bodyPr/>
                    <a:lstStyle/>
                    <a:p>
                      <a:pPr marL="69850">
                        <a:lnSpc>
                          <a:spcPts val="1280"/>
                        </a:lnSpc>
                      </a:pPr>
                      <a:r>
                        <a:rPr lang="id-ID" sz="17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S4</a:t>
                      </a:r>
                      <a:r>
                        <a:rPr lang="en-US" sz="17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 (Lenovo)</a:t>
                      </a:r>
                      <a:endParaRPr lang="en-ID" sz="17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280"/>
                        </a:lnSpc>
                      </a:pPr>
                      <a:r>
                        <a:rPr lang="id-ID" sz="170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0,3069</a:t>
                      </a:r>
                      <a:endParaRPr lang="en-ID" sz="170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80"/>
                        </a:lnSpc>
                      </a:pPr>
                      <a:r>
                        <a:rPr lang="id-ID" sz="1700" dirty="0">
                          <a:solidFill>
                            <a:schemeClr val="tx2"/>
                          </a:solidFill>
                          <a:effectLst/>
                          <a:latin typeface="Nirmala UI" panose="020B0502040204020203" pitchFamily="34" charset="0"/>
                          <a:ea typeface="Nirmala UI" panose="020B0502040204020203" pitchFamily="34" charset="0"/>
                          <a:cs typeface="Nirmala UI" panose="020B0502040204020203" pitchFamily="34" charset="0"/>
                        </a:rPr>
                        <a:t>4</a:t>
                      </a:r>
                      <a:endParaRPr lang="en-ID" sz="1700" dirty="0">
                        <a:solidFill>
                          <a:schemeClr val="tx2"/>
                        </a:solidFill>
                        <a:effectLst/>
                        <a:latin typeface="Nirmala UI" panose="020B0502040204020203" pitchFamily="34" charset="0"/>
                        <a:ea typeface="Nirmala UI" panose="020B0502040204020203" pitchFamily="34" charset="0"/>
                        <a:cs typeface="Nirmala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50066933"/>
                  </a:ext>
                </a:extLst>
              </a:tr>
            </a:tbl>
          </a:graphicData>
        </a:graphic>
      </p:graphicFrame>
      <p:sp>
        <p:nvSpPr>
          <p:cNvPr id="16" name="Subtitle 2">
            <a:extLst>
              <a:ext uri="{FF2B5EF4-FFF2-40B4-BE49-F238E27FC236}">
                <a16:creationId xmlns:a16="http://schemas.microsoft.com/office/drawing/2014/main" id="{E7A8B1C4-A83F-472C-9065-5251B0EA0DD0}"/>
              </a:ext>
            </a:extLst>
          </p:cNvPr>
          <p:cNvSpPr txBox="1">
            <a:spLocks/>
          </p:cNvSpPr>
          <p:nvPr/>
        </p:nvSpPr>
        <p:spPr>
          <a:xfrm>
            <a:off x="4755371" y="4710321"/>
            <a:ext cx="6565094" cy="98665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Hasil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perhitungan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memperoleh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keputusan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bahwa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laptop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dengan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merk Asus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merupakan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laptop yang paling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direkomendasikan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karena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memiliki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nilai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terbaik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dibandingkan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dengan</a:t>
            </a:r>
            <a:r>
              <a:rPr lang="en-US" sz="14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merk lain.</a:t>
            </a:r>
          </a:p>
        </p:txBody>
      </p:sp>
    </p:spTree>
    <p:extLst>
      <p:ext uri="{BB962C8B-B14F-4D97-AF65-F5344CB8AC3E}">
        <p14:creationId xmlns:p14="http://schemas.microsoft.com/office/powerpoint/2010/main" val="874859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02DBA0-F38D-403D-BAD6-7F9CD7C42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795" y="3117226"/>
            <a:ext cx="10088405" cy="62354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0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TERIMA KASIH</a:t>
            </a: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9A809625-5338-4B4F-8B85-6B0F372CB57C}"/>
              </a:ext>
            </a:extLst>
          </p:cNvPr>
          <p:cNvPicPr/>
          <p:nvPr/>
        </p:nvPicPr>
        <p:blipFill>
          <a:blip r:embed="rId2"/>
          <a:srcRect l="5660" t="19736" b="22367"/>
          <a:stretch/>
        </p:blipFill>
        <p:spPr bwMode="auto">
          <a:xfrm>
            <a:off x="5292573" y="2334206"/>
            <a:ext cx="1606851" cy="47124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7503652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200</TotalTime>
  <Words>936</Words>
  <Application>Microsoft Office PowerPoint</Application>
  <PresentationFormat>Widescreen</PresentationFormat>
  <Paragraphs>552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Calisto MT</vt:lpstr>
      <vt:lpstr>Nirmala UI</vt:lpstr>
      <vt:lpstr>Times New Roman</vt:lpstr>
      <vt:lpstr>Wingdings 2</vt:lpstr>
      <vt:lpstr>Slate</vt:lpstr>
      <vt:lpstr>REVIEW JURNAL “SISTEM PENDUKUNG KEPUTUSAN PEMILIHAN LAPTOP DENGAN MENGGUNAKAN METODE TOPSIS”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JURNAL “SISTEM PENDUKUNG KEPUTUSAN PEMILIHAN LAPTOP DENGAN MENGGUNAKAN METODE TOPSIS”</dc:title>
  <dc:creator>Rama Rama</dc:creator>
  <cp:lastModifiedBy>Rama Rama</cp:lastModifiedBy>
  <cp:revision>27</cp:revision>
  <dcterms:created xsi:type="dcterms:W3CDTF">2024-05-19T15:44:47Z</dcterms:created>
  <dcterms:modified xsi:type="dcterms:W3CDTF">2024-05-20T04:27:10Z</dcterms:modified>
</cp:coreProperties>
</file>
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Quicksand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53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05/17/25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05/17/25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05/17/25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05/17/25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05/17/25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05/17/25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05/17/25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05/17/25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05/17/25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05/17/25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05/17/25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05/17/25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33333">
              <a:srgbClr val="EEEEEE">
                <a:alpha val="100000"/>
              </a:srgbClr>
            </a:gs>
            <a:gs pos="66667">
              <a:srgbClr val="EEEEEE">
                <a:alpha val="100000"/>
              </a:srgbClr>
            </a:gs>
            <a:gs pos="100000">
              <a:srgbClr val="000000">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7743270" y="2941792"/>
            <a:ext cx="2801460" cy="840438"/>
          </a:xfrm>
          <a:custGeom>
            <a:avLst/>
            <a:gdLst/>
            <a:ahLst/>
            <a:cxnLst/>
            <a:rect l="l" t="t" r="r" b="b"/>
            <a:pathLst>
              <a:path w="2801460" h="840438">
                <a:moveTo>
                  <a:pt x="0" y="0"/>
                </a:moveTo>
                <a:lnTo>
                  <a:pt x="2801460" y="0"/>
                </a:lnTo>
                <a:lnTo>
                  <a:pt x="2801460" y="840438"/>
                </a:lnTo>
                <a:lnTo>
                  <a:pt x="0" y="840438"/>
                </a:lnTo>
                <a:lnTo>
                  <a:pt x="0" y="0"/>
                </a:lnTo>
                <a:close/>
              </a:path>
            </a:pathLst>
          </a:custGeom>
          <a:blipFill>
            <a:blip r:embed="rId2"/>
            <a:stretch>
              <a:fillRect/>
            </a:stretch>
          </a:blipFill>
        </p:spPr>
        <p:txBody>
          <a:bodyPr/>
          <a:lstStyle/>
          <a:p>
            <a:endParaRPr lang="en-ID"/>
          </a:p>
        </p:txBody>
      </p:sp>
      <p:sp>
        <p:nvSpPr>
          <p:cNvPr id="3" name="TextBox 3"/>
          <p:cNvSpPr txBox="1"/>
          <p:nvPr/>
        </p:nvSpPr>
        <p:spPr>
          <a:xfrm>
            <a:off x="2497256" y="4344205"/>
            <a:ext cx="13293488" cy="1659254"/>
          </a:xfrm>
          <a:prstGeom prst="rect">
            <a:avLst/>
          </a:prstGeom>
        </p:spPr>
        <p:txBody>
          <a:bodyPr lIns="0" tIns="0" rIns="0" bIns="0" rtlCol="0" anchor="t">
            <a:spAutoFit/>
          </a:bodyPr>
          <a:lstStyle/>
          <a:p>
            <a:pPr algn="ctr">
              <a:lnSpc>
                <a:spcPts val="6720"/>
              </a:lnSpc>
            </a:pPr>
            <a:r>
              <a:rPr lang="en-US" sz="4800" b="1">
                <a:solidFill>
                  <a:srgbClr val="000000"/>
                </a:solidFill>
                <a:latin typeface="Quicksand Bold"/>
                <a:ea typeface="Quicksand Bold"/>
                <a:cs typeface="Quicksand Bold"/>
                <a:sym typeface="Quicksand Bold"/>
              </a:rPr>
              <a:t>Optimalisasi Saluran Konsumen Melalui Media Sosial dan Website Perusahaan</a:t>
            </a:r>
          </a:p>
        </p:txBody>
      </p:sp>
      <p:sp>
        <p:nvSpPr>
          <p:cNvPr id="4" name="TextBox 4"/>
          <p:cNvSpPr txBox="1"/>
          <p:nvPr/>
        </p:nvSpPr>
        <p:spPr>
          <a:xfrm>
            <a:off x="2382637" y="6607973"/>
            <a:ext cx="13522726" cy="737235"/>
          </a:xfrm>
          <a:prstGeom prst="rect">
            <a:avLst/>
          </a:prstGeom>
        </p:spPr>
        <p:txBody>
          <a:bodyPr lIns="0" tIns="0" rIns="0" bIns="0" rtlCol="0" anchor="t">
            <a:spAutoFit/>
          </a:bodyPr>
          <a:lstStyle/>
          <a:p>
            <a:pPr algn="ctr">
              <a:lnSpc>
                <a:spcPts val="2940"/>
              </a:lnSpc>
            </a:pPr>
            <a:r>
              <a:rPr lang="en-US" sz="2100" b="1">
                <a:solidFill>
                  <a:srgbClr val="000000"/>
                </a:solidFill>
                <a:latin typeface="Quicksand Bold"/>
                <a:ea typeface="Quicksand Bold"/>
                <a:cs typeface="Quicksand Bold"/>
                <a:sym typeface="Quicksand Bold"/>
              </a:rPr>
              <a:t>Rama Pramudya Wibisana</a:t>
            </a:r>
          </a:p>
          <a:p>
            <a:pPr algn="ctr">
              <a:lnSpc>
                <a:spcPts val="2940"/>
              </a:lnSpc>
            </a:pPr>
            <a:r>
              <a:rPr lang="en-US" sz="2100" b="1">
                <a:solidFill>
                  <a:srgbClr val="000000"/>
                </a:solidFill>
                <a:latin typeface="Quicksand Bold"/>
                <a:ea typeface="Quicksand Bold"/>
                <a:cs typeface="Quicksand Bold"/>
                <a:sym typeface="Quicksand Bold"/>
              </a:rPr>
              <a:t>2022320019</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868437" y="4216400"/>
            <a:ext cx="8551126" cy="1749424"/>
          </a:xfrm>
          <a:prstGeom prst="rect">
            <a:avLst/>
          </a:prstGeom>
        </p:spPr>
        <p:txBody>
          <a:bodyPr lIns="0" tIns="0" rIns="0" bIns="0" rtlCol="0" anchor="t">
            <a:spAutoFit/>
          </a:bodyPr>
          <a:lstStyle/>
          <a:p>
            <a:pPr algn="ctr">
              <a:lnSpc>
                <a:spcPts val="7000"/>
              </a:lnSpc>
            </a:pPr>
            <a:r>
              <a:rPr lang="en-US" sz="5000" b="1">
                <a:solidFill>
                  <a:srgbClr val="EEEEEE"/>
                </a:solidFill>
                <a:latin typeface="Quicksand Bold"/>
                <a:ea typeface="Quicksand Bold"/>
                <a:cs typeface="Quicksand Bold"/>
                <a:sym typeface="Quicksand Bold"/>
              </a:rPr>
              <a:t>Saluran Media Sosial sebagai Kanal Konsumen</a:t>
            </a:r>
          </a:p>
        </p:txBody>
      </p:sp>
      <p:sp>
        <p:nvSpPr>
          <p:cNvPr id="3" name="Freeform 3"/>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331160" y="4322968"/>
            <a:ext cx="9625680" cy="2787015"/>
          </a:xfrm>
          <a:prstGeom prst="rect">
            <a:avLst/>
          </a:prstGeom>
        </p:spPr>
        <p:txBody>
          <a:bodyPr lIns="0" tIns="0" rIns="0" bIns="0" rtlCol="0" anchor="t">
            <a:spAutoFit/>
          </a:bodyPr>
          <a:lstStyle/>
          <a:p>
            <a:pPr algn="just">
              <a:lnSpc>
                <a:spcPts val="3150"/>
              </a:lnSpc>
            </a:pPr>
            <a:r>
              <a:rPr lang="en-US" sz="2100" b="1">
                <a:solidFill>
                  <a:srgbClr val="EEEEEE"/>
                </a:solidFill>
                <a:latin typeface="Quicksand Bold"/>
                <a:ea typeface="Quicksand Bold"/>
                <a:cs typeface="Quicksand Bold"/>
                <a:sym typeface="Quicksand Bold"/>
              </a:rPr>
              <a:t>Media sosial adalah platform digital interaktif untuk berbagi konten (teks, foto, video) dan berjejaring. Fungsi utamanya sebagai saluran pemasaran/komunikasi dengan konsumen: menjangkau audiens luas dengan cepat, membangun hubungan dua arah (komentar, direct message), serta mendapatkan umpan balik langsung dari pelanggan. Media sosial juga menyediakan beragam format konten (gambar, video, story) yang menarik dan berpotensi viral. </a:t>
            </a:r>
          </a:p>
        </p:txBody>
      </p:sp>
      <p:sp>
        <p:nvSpPr>
          <p:cNvPr id="3" name="TextBox 3"/>
          <p:cNvSpPr txBox="1"/>
          <p:nvPr/>
        </p:nvSpPr>
        <p:spPr>
          <a:xfrm>
            <a:off x="1028700" y="3091292"/>
            <a:ext cx="16230600" cy="811529"/>
          </a:xfrm>
          <a:prstGeom prst="rect">
            <a:avLst/>
          </a:prstGeom>
        </p:spPr>
        <p:txBody>
          <a:bodyPr lIns="0" tIns="0" rIns="0" bIns="0" rtlCol="0" anchor="t">
            <a:spAutoFit/>
          </a:bodyPr>
          <a:lstStyle/>
          <a:p>
            <a:pPr algn="ctr">
              <a:lnSpc>
                <a:spcPts val="6720"/>
              </a:lnSpc>
            </a:pPr>
            <a:r>
              <a:rPr lang="en-US" sz="4800" b="1">
                <a:solidFill>
                  <a:srgbClr val="EEEEEE"/>
                </a:solidFill>
                <a:latin typeface="Quicksand Bold"/>
                <a:ea typeface="Quicksand Bold"/>
                <a:cs typeface="Quicksand Bold"/>
                <a:sym typeface="Quicksand Bold"/>
              </a:rPr>
              <a:t>Definisi &amp; Fungsi</a:t>
            </a:r>
          </a:p>
        </p:txBody>
      </p:sp>
      <p:sp>
        <p:nvSpPr>
          <p:cNvPr id="4" name="Freeform 4"/>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75979" y="2473731"/>
            <a:ext cx="1204384" cy="1204384"/>
          </a:xfrm>
          <a:custGeom>
            <a:avLst/>
            <a:gdLst/>
            <a:ahLst/>
            <a:cxnLst/>
            <a:rect l="l" t="t" r="r" b="b"/>
            <a:pathLst>
              <a:path w="1204384" h="1204384">
                <a:moveTo>
                  <a:pt x="0" y="0"/>
                </a:moveTo>
                <a:lnTo>
                  <a:pt x="1204384" y="0"/>
                </a:lnTo>
                <a:lnTo>
                  <a:pt x="1204384" y="1204383"/>
                </a:lnTo>
                <a:lnTo>
                  <a:pt x="0" y="1204383"/>
                </a:lnTo>
                <a:lnTo>
                  <a:pt x="0" y="0"/>
                </a:lnTo>
                <a:close/>
              </a:path>
            </a:pathLst>
          </a:custGeom>
          <a:blipFill>
            <a:blip r:embed="rId2"/>
            <a:stretch>
              <a:fillRect/>
            </a:stretch>
          </a:blipFill>
        </p:spPr>
        <p:txBody>
          <a:bodyPr/>
          <a:lstStyle/>
          <a:p>
            <a:endParaRPr lang="en-ID"/>
          </a:p>
        </p:txBody>
      </p:sp>
      <p:sp>
        <p:nvSpPr>
          <p:cNvPr id="3" name="Freeform 3"/>
          <p:cNvSpPr/>
          <p:nvPr/>
        </p:nvSpPr>
        <p:spPr>
          <a:xfrm>
            <a:off x="15818005" y="3866358"/>
            <a:ext cx="1441295" cy="1441295"/>
          </a:xfrm>
          <a:custGeom>
            <a:avLst/>
            <a:gdLst/>
            <a:ahLst/>
            <a:cxnLst/>
            <a:rect l="l" t="t" r="r" b="b"/>
            <a:pathLst>
              <a:path w="1441295" h="1441295">
                <a:moveTo>
                  <a:pt x="0" y="0"/>
                </a:moveTo>
                <a:lnTo>
                  <a:pt x="1441295" y="0"/>
                </a:lnTo>
                <a:lnTo>
                  <a:pt x="1441295" y="1441296"/>
                </a:lnTo>
                <a:lnTo>
                  <a:pt x="0" y="1441296"/>
                </a:lnTo>
                <a:lnTo>
                  <a:pt x="0" y="0"/>
                </a:lnTo>
                <a:close/>
              </a:path>
            </a:pathLst>
          </a:custGeom>
          <a:blipFill>
            <a:blip r:embed="rId3"/>
            <a:stretch>
              <a:fillRect/>
            </a:stretch>
          </a:blipFill>
        </p:spPr>
        <p:txBody>
          <a:bodyPr/>
          <a:lstStyle/>
          <a:p>
            <a:endParaRPr lang="en-ID"/>
          </a:p>
        </p:txBody>
      </p:sp>
      <p:grpSp>
        <p:nvGrpSpPr>
          <p:cNvPr id="4" name="Group 4"/>
          <p:cNvGrpSpPr/>
          <p:nvPr/>
        </p:nvGrpSpPr>
        <p:grpSpPr>
          <a:xfrm>
            <a:off x="1370755" y="5911619"/>
            <a:ext cx="1414832" cy="1298899"/>
            <a:chOff x="0" y="0"/>
            <a:chExt cx="1886443" cy="1731865"/>
          </a:xfrm>
        </p:grpSpPr>
        <p:grpSp>
          <p:nvGrpSpPr>
            <p:cNvPr id="5" name="Group 5"/>
            <p:cNvGrpSpPr/>
            <p:nvPr/>
          </p:nvGrpSpPr>
          <p:grpSpPr>
            <a:xfrm>
              <a:off x="77289" y="0"/>
              <a:ext cx="1731865" cy="173186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EEEE"/>
              </a:solidFill>
            </p:spPr>
            <p:txBody>
              <a:bodyPr/>
              <a:lstStyle/>
              <a:p>
                <a:endParaRPr lang="en-ID"/>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939"/>
                  </a:lnSpc>
                </a:pPr>
                <a:endParaRPr/>
              </a:p>
            </p:txBody>
          </p:sp>
        </p:grpSp>
        <p:sp>
          <p:nvSpPr>
            <p:cNvPr id="8" name="Freeform 8"/>
            <p:cNvSpPr/>
            <p:nvPr/>
          </p:nvSpPr>
          <p:spPr>
            <a:xfrm>
              <a:off x="0" y="204499"/>
              <a:ext cx="1886443" cy="1322868"/>
            </a:xfrm>
            <a:custGeom>
              <a:avLst/>
              <a:gdLst/>
              <a:ahLst/>
              <a:cxnLst/>
              <a:rect l="l" t="t" r="r" b="b"/>
              <a:pathLst>
                <a:path w="1886443" h="1322868">
                  <a:moveTo>
                    <a:pt x="0" y="0"/>
                  </a:moveTo>
                  <a:lnTo>
                    <a:pt x="1886443" y="0"/>
                  </a:lnTo>
                  <a:lnTo>
                    <a:pt x="1886443" y="1322868"/>
                  </a:lnTo>
                  <a:lnTo>
                    <a:pt x="0" y="1322868"/>
                  </a:lnTo>
                  <a:lnTo>
                    <a:pt x="0" y="0"/>
                  </a:lnTo>
                  <a:close/>
                </a:path>
              </a:pathLst>
            </a:custGeom>
            <a:blipFill>
              <a:blip r:embed="rId4"/>
              <a:stretch>
                <a:fillRect/>
              </a:stretch>
            </a:blipFill>
          </p:spPr>
          <p:txBody>
            <a:bodyPr/>
            <a:lstStyle/>
            <a:p>
              <a:endParaRPr lang="en-ID"/>
            </a:p>
          </p:txBody>
        </p:sp>
      </p:grpSp>
      <p:sp>
        <p:nvSpPr>
          <p:cNvPr id="9" name="Freeform 9"/>
          <p:cNvSpPr/>
          <p:nvPr/>
        </p:nvSpPr>
        <p:spPr>
          <a:xfrm>
            <a:off x="15662816" y="7595948"/>
            <a:ext cx="1751672" cy="1751672"/>
          </a:xfrm>
          <a:custGeom>
            <a:avLst/>
            <a:gdLst/>
            <a:ahLst/>
            <a:cxnLst/>
            <a:rect l="l" t="t" r="r" b="b"/>
            <a:pathLst>
              <a:path w="1751672" h="1751672">
                <a:moveTo>
                  <a:pt x="0" y="0"/>
                </a:moveTo>
                <a:lnTo>
                  <a:pt x="1751672" y="0"/>
                </a:lnTo>
                <a:lnTo>
                  <a:pt x="1751672" y="1751672"/>
                </a:lnTo>
                <a:lnTo>
                  <a:pt x="0" y="1751672"/>
                </a:lnTo>
                <a:lnTo>
                  <a:pt x="0" y="0"/>
                </a:lnTo>
                <a:close/>
              </a:path>
            </a:pathLst>
          </a:custGeom>
          <a:blipFill>
            <a:blip r:embed="rId5"/>
            <a:stretch>
              <a:fillRect/>
            </a:stretch>
          </a:blipFill>
        </p:spPr>
        <p:txBody>
          <a:bodyPr/>
          <a:lstStyle/>
          <a:p>
            <a:endParaRPr lang="en-ID"/>
          </a:p>
        </p:txBody>
      </p:sp>
      <p:sp>
        <p:nvSpPr>
          <p:cNvPr id="10" name="TextBox 10"/>
          <p:cNvSpPr txBox="1"/>
          <p:nvPr/>
        </p:nvSpPr>
        <p:spPr>
          <a:xfrm>
            <a:off x="3328281" y="2649203"/>
            <a:ext cx="6616931" cy="786765"/>
          </a:xfrm>
          <a:prstGeom prst="rect">
            <a:avLst/>
          </a:prstGeom>
        </p:spPr>
        <p:txBody>
          <a:bodyPr lIns="0" tIns="0" rIns="0" bIns="0" rtlCol="0" anchor="t">
            <a:spAutoFit/>
          </a:bodyPr>
          <a:lstStyle/>
          <a:p>
            <a:pPr algn="just">
              <a:lnSpc>
                <a:spcPts val="3150"/>
              </a:lnSpc>
            </a:pPr>
            <a:r>
              <a:rPr lang="en-US" sz="2100" b="1">
                <a:solidFill>
                  <a:srgbClr val="EEEEEE"/>
                </a:solidFill>
                <a:latin typeface="Quicksand Bold"/>
                <a:ea typeface="Quicksand Bold"/>
                <a:cs typeface="Quicksand Bold"/>
                <a:sym typeface="Quicksand Bold"/>
              </a:rPr>
              <a:t>Facebook diluncurkan 4 Februari 2004 oleh Mark Zuckerberg dkk. saat mereka kuliah di Harvard.</a:t>
            </a:r>
          </a:p>
        </p:txBody>
      </p:sp>
      <p:sp>
        <p:nvSpPr>
          <p:cNvPr id="11" name="TextBox 11"/>
          <p:cNvSpPr txBox="1"/>
          <p:nvPr/>
        </p:nvSpPr>
        <p:spPr>
          <a:xfrm>
            <a:off x="1028700" y="934279"/>
            <a:ext cx="16230600" cy="811529"/>
          </a:xfrm>
          <a:prstGeom prst="rect">
            <a:avLst/>
          </a:prstGeom>
        </p:spPr>
        <p:txBody>
          <a:bodyPr lIns="0" tIns="0" rIns="0" bIns="0" rtlCol="0" anchor="t">
            <a:spAutoFit/>
          </a:bodyPr>
          <a:lstStyle/>
          <a:p>
            <a:pPr algn="ctr">
              <a:lnSpc>
                <a:spcPts val="6720"/>
              </a:lnSpc>
            </a:pPr>
            <a:r>
              <a:rPr lang="en-US" sz="4800" b="1">
                <a:solidFill>
                  <a:srgbClr val="EEEEEE"/>
                </a:solidFill>
                <a:latin typeface="Quicksand Bold"/>
                <a:ea typeface="Quicksand Bold"/>
                <a:cs typeface="Quicksand Bold"/>
                <a:sym typeface="Quicksand Bold"/>
              </a:rPr>
              <a:t>Sejarah Singkat Platform</a:t>
            </a:r>
          </a:p>
        </p:txBody>
      </p:sp>
      <p:sp>
        <p:nvSpPr>
          <p:cNvPr id="12" name="TextBox 12"/>
          <p:cNvSpPr txBox="1"/>
          <p:nvPr/>
        </p:nvSpPr>
        <p:spPr>
          <a:xfrm>
            <a:off x="8677589" y="3960261"/>
            <a:ext cx="6616931" cy="1186815"/>
          </a:xfrm>
          <a:prstGeom prst="rect">
            <a:avLst/>
          </a:prstGeom>
        </p:spPr>
        <p:txBody>
          <a:bodyPr lIns="0" tIns="0" rIns="0" bIns="0" rtlCol="0" anchor="t">
            <a:spAutoFit/>
          </a:bodyPr>
          <a:lstStyle/>
          <a:p>
            <a:pPr algn="just">
              <a:lnSpc>
                <a:spcPts val="3150"/>
              </a:lnSpc>
            </a:pPr>
            <a:r>
              <a:rPr lang="en-US" sz="2100" b="1">
                <a:solidFill>
                  <a:srgbClr val="EEEEEE"/>
                </a:solidFill>
                <a:latin typeface="Quicksand Bold"/>
                <a:ea typeface="Quicksand Bold"/>
                <a:cs typeface="Quicksand Bold"/>
                <a:sym typeface="Quicksand Bold"/>
              </a:rPr>
              <a:t>Instagram diluncurkan 6 Oktober 2010 oleh Kevin Systrom &amp; Mike Krieger (sebelumnya Burbn, Inc). Diakuisisi Facebook pada 2012 senilai ~$1 miliar. </a:t>
            </a:r>
          </a:p>
        </p:txBody>
      </p:sp>
      <p:sp>
        <p:nvSpPr>
          <p:cNvPr id="13" name="TextBox 13"/>
          <p:cNvSpPr txBox="1"/>
          <p:nvPr/>
        </p:nvSpPr>
        <p:spPr>
          <a:xfrm>
            <a:off x="3328281" y="5734299"/>
            <a:ext cx="6616931" cy="1586865"/>
          </a:xfrm>
          <a:prstGeom prst="rect">
            <a:avLst/>
          </a:prstGeom>
        </p:spPr>
        <p:txBody>
          <a:bodyPr lIns="0" tIns="0" rIns="0" bIns="0" rtlCol="0" anchor="t">
            <a:spAutoFit/>
          </a:bodyPr>
          <a:lstStyle/>
          <a:p>
            <a:pPr algn="just">
              <a:lnSpc>
                <a:spcPts val="3150"/>
              </a:lnSpc>
            </a:pPr>
            <a:r>
              <a:rPr lang="en-US" sz="2100" b="1">
                <a:solidFill>
                  <a:srgbClr val="EEEEEE"/>
                </a:solidFill>
                <a:latin typeface="Quicksand Bold"/>
                <a:ea typeface="Quicksand Bold"/>
                <a:cs typeface="Quicksand Bold"/>
                <a:sym typeface="Quicksand Bold"/>
              </a:rPr>
              <a:t>TikTok awalnya diluncurkan Sept 2016 sebagai Douyin oleh Zhang Yiming (ByteDance) di Tiongkok. Ekspansi global terjadi setelah akuisisi Musical.ly tahun 2017 dan rebranding ke “TikTok”. </a:t>
            </a:r>
          </a:p>
        </p:txBody>
      </p:sp>
      <p:sp>
        <p:nvSpPr>
          <p:cNvPr id="14" name="TextBox 14"/>
          <p:cNvSpPr txBox="1"/>
          <p:nvPr/>
        </p:nvSpPr>
        <p:spPr>
          <a:xfrm>
            <a:off x="8677589" y="7845039"/>
            <a:ext cx="6616931" cy="1186815"/>
          </a:xfrm>
          <a:prstGeom prst="rect">
            <a:avLst/>
          </a:prstGeom>
        </p:spPr>
        <p:txBody>
          <a:bodyPr lIns="0" tIns="0" rIns="0" bIns="0" rtlCol="0" anchor="t">
            <a:spAutoFit/>
          </a:bodyPr>
          <a:lstStyle/>
          <a:p>
            <a:pPr algn="just">
              <a:lnSpc>
                <a:spcPts val="3150"/>
              </a:lnSpc>
            </a:pPr>
            <a:r>
              <a:rPr lang="en-US" sz="2100" b="1">
                <a:solidFill>
                  <a:srgbClr val="EEEEEE"/>
                </a:solidFill>
                <a:latin typeface="Quicksand Bold"/>
                <a:ea typeface="Quicksand Bold"/>
                <a:cs typeface="Quicksand Bold"/>
                <a:sym typeface="Quicksand Bold"/>
              </a:rPr>
              <a:t>WhatsApp didirikan tahun 2009 oleh Jan Koum &amp; Brian Acton sebagai aplikasi pesan lintas platform. Diakuisisi Facebook (Meta) pada 2014. </a:t>
            </a:r>
          </a:p>
        </p:txBody>
      </p:sp>
      <p:sp>
        <p:nvSpPr>
          <p:cNvPr id="15" name="Freeform 15"/>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6"/>
            <a:stretch>
              <a:fillRect/>
            </a:stretch>
          </a:blipFill>
        </p:spPr>
        <p:txBody>
          <a:bodyPr/>
          <a:lstStyle/>
          <a:p>
            <a:endParaRPr lang="en-ID"/>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925393" y="2265490"/>
            <a:ext cx="12437213" cy="1761673"/>
            <a:chOff x="0" y="0"/>
            <a:chExt cx="3275645" cy="463980"/>
          </a:xfrm>
        </p:grpSpPr>
        <p:sp>
          <p:nvSpPr>
            <p:cNvPr id="3" name="Freeform 3"/>
            <p:cNvSpPr/>
            <p:nvPr/>
          </p:nvSpPr>
          <p:spPr>
            <a:xfrm>
              <a:off x="0" y="0"/>
              <a:ext cx="3275645" cy="463980"/>
            </a:xfrm>
            <a:custGeom>
              <a:avLst/>
              <a:gdLst/>
              <a:ahLst/>
              <a:cxnLst/>
              <a:rect l="l" t="t" r="r" b="b"/>
              <a:pathLst>
                <a:path w="3275645" h="463980">
                  <a:moveTo>
                    <a:pt x="31746" y="0"/>
                  </a:moveTo>
                  <a:lnTo>
                    <a:pt x="3243898" y="0"/>
                  </a:lnTo>
                  <a:cubicBezTo>
                    <a:pt x="3252318" y="0"/>
                    <a:pt x="3260393" y="3345"/>
                    <a:pt x="3266346" y="9298"/>
                  </a:cubicBezTo>
                  <a:cubicBezTo>
                    <a:pt x="3272300" y="15252"/>
                    <a:pt x="3275645" y="23327"/>
                    <a:pt x="3275645" y="31746"/>
                  </a:cubicBezTo>
                  <a:lnTo>
                    <a:pt x="3275645" y="432233"/>
                  </a:lnTo>
                  <a:cubicBezTo>
                    <a:pt x="3275645" y="449766"/>
                    <a:pt x="3261431" y="463980"/>
                    <a:pt x="3243898" y="463980"/>
                  </a:cubicBezTo>
                  <a:lnTo>
                    <a:pt x="31746" y="463980"/>
                  </a:lnTo>
                  <a:cubicBezTo>
                    <a:pt x="23327" y="463980"/>
                    <a:pt x="15252" y="460635"/>
                    <a:pt x="9298" y="454682"/>
                  </a:cubicBezTo>
                  <a:cubicBezTo>
                    <a:pt x="3345" y="448728"/>
                    <a:pt x="0" y="440653"/>
                    <a:pt x="0" y="432233"/>
                  </a:cubicBezTo>
                  <a:lnTo>
                    <a:pt x="0" y="31746"/>
                  </a:lnTo>
                  <a:cubicBezTo>
                    <a:pt x="0" y="23327"/>
                    <a:pt x="3345" y="15252"/>
                    <a:pt x="9298" y="9298"/>
                  </a:cubicBezTo>
                  <a:cubicBezTo>
                    <a:pt x="15252" y="3345"/>
                    <a:pt x="23327" y="0"/>
                    <a:pt x="31746" y="0"/>
                  </a:cubicBezTo>
                  <a:close/>
                </a:path>
              </a:pathLst>
            </a:custGeom>
            <a:solidFill>
              <a:srgbClr val="000000"/>
            </a:solidFill>
            <a:ln w="28575" cap="rnd">
              <a:solidFill>
                <a:srgbClr val="EEEEEE"/>
              </a:solidFill>
              <a:prstDash val="solid"/>
              <a:round/>
            </a:ln>
          </p:spPr>
          <p:txBody>
            <a:bodyPr/>
            <a:lstStyle/>
            <a:p>
              <a:endParaRPr lang="en-ID"/>
            </a:p>
          </p:txBody>
        </p:sp>
        <p:sp>
          <p:nvSpPr>
            <p:cNvPr id="4" name="TextBox 4"/>
            <p:cNvSpPr txBox="1"/>
            <p:nvPr/>
          </p:nvSpPr>
          <p:spPr>
            <a:xfrm>
              <a:off x="0" y="-47625"/>
              <a:ext cx="3275645" cy="511605"/>
            </a:xfrm>
            <a:prstGeom prst="rect">
              <a:avLst/>
            </a:prstGeom>
          </p:spPr>
          <p:txBody>
            <a:bodyPr lIns="50800" tIns="50800" rIns="50800" bIns="50800" rtlCol="0" anchor="ctr"/>
            <a:lstStyle/>
            <a:p>
              <a:pPr algn="ctr">
                <a:lnSpc>
                  <a:spcPts val="2940"/>
                </a:lnSpc>
              </a:pPr>
              <a:endParaRPr/>
            </a:p>
          </p:txBody>
        </p:sp>
      </p:grpSp>
      <p:sp>
        <p:nvSpPr>
          <p:cNvPr id="5" name="TextBox 5"/>
          <p:cNvSpPr txBox="1"/>
          <p:nvPr/>
        </p:nvSpPr>
        <p:spPr>
          <a:xfrm>
            <a:off x="3461887" y="2519581"/>
            <a:ext cx="11364226" cy="1186815"/>
          </a:xfrm>
          <a:prstGeom prst="rect">
            <a:avLst/>
          </a:prstGeom>
        </p:spPr>
        <p:txBody>
          <a:bodyPr lIns="0" tIns="0" rIns="0" bIns="0" rtlCol="0" anchor="t">
            <a:spAutoFit/>
          </a:bodyPr>
          <a:lstStyle/>
          <a:p>
            <a:pPr algn="just">
              <a:lnSpc>
                <a:spcPts val="3150"/>
              </a:lnSpc>
            </a:pPr>
            <a:r>
              <a:rPr lang="en-US" sz="2100" b="1">
                <a:solidFill>
                  <a:srgbClr val="EEEEEE"/>
                </a:solidFill>
                <a:latin typeface="Quicksand Bold"/>
                <a:ea typeface="Quicksand Bold"/>
                <a:cs typeface="Quicksand Bold"/>
                <a:sym typeface="Quicksand Bold"/>
              </a:rPr>
              <a:t>Brand membuat akun resmi &amp; rutin posting konten promosi (foto, video, artikel, story) untuk meningkatkan kesadaran merek. Konten dibuat sesuai target audiens agar relevan dan menarik. </a:t>
            </a:r>
          </a:p>
        </p:txBody>
      </p:sp>
      <p:sp>
        <p:nvSpPr>
          <p:cNvPr id="6" name="TextBox 6"/>
          <p:cNvSpPr txBox="1"/>
          <p:nvPr/>
        </p:nvSpPr>
        <p:spPr>
          <a:xfrm>
            <a:off x="1028700" y="934279"/>
            <a:ext cx="16230600" cy="811529"/>
          </a:xfrm>
          <a:prstGeom prst="rect">
            <a:avLst/>
          </a:prstGeom>
        </p:spPr>
        <p:txBody>
          <a:bodyPr lIns="0" tIns="0" rIns="0" bIns="0" rtlCol="0" anchor="t">
            <a:spAutoFit/>
          </a:bodyPr>
          <a:lstStyle/>
          <a:p>
            <a:pPr algn="ctr">
              <a:lnSpc>
                <a:spcPts val="6720"/>
              </a:lnSpc>
            </a:pPr>
            <a:r>
              <a:rPr lang="en-US" sz="4800" b="1">
                <a:solidFill>
                  <a:srgbClr val="EEEEEE"/>
                </a:solidFill>
                <a:latin typeface="Quicksand Bold"/>
                <a:ea typeface="Quicksand Bold"/>
                <a:cs typeface="Quicksand Bold"/>
                <a:sym typeface="Quicksand Bold"/>
              </a:rPr>
              <a:t>Cara Kerja sebagai Kanal Pemasaran</a:t>
            </a:r>
          </a:p>
        </p:txBody>
      </p:sp>
      <p:grpSp>
        <p:nvGrpSpPr>
          <p:cNvPr id="7" name="Group 7"/>
          <p:cNvGrpSpPr/>
          <p:nvPr/>
        </p:nvGrpSpPr>
        <p:grpSpPr>
          <a:xfrm>
            <a:off x="2925393" y="4303388"/>
            <a:ext cx="12437213" cy="1761673"/>
            <a:chOff x="0" y="0"/>
            <a:chExt cx="3275645" cy="463980"/>
          </a:xfrm>
        </p:grpSpPr>
        <p:sp>
          <p:nvSpPr>
            <p:cNvPr id="8" name="Freeform 8"/>
            <p:cNvSpPr/>
            <p:nvPr/>
          </p:nvSpPr>
          <p:spPr>
            <a:xfrm>
              <a:off x="0" y="0"/>
              <a:ext cx="3275645" cy="463980"/>
            </a:xfrm>
            <a:custGeom>
              <a:avLst/>
              <a:gdLst/>
              <a:ahLst/>
              <a:cxnLst/>
              <a:rect l="l" t="t" r="r" b="b"/>
              <a:pathLst>
                <a:path w="3275645" h="463980">
                  <a:moveTo>
                    <a:pt x="31746" y="0"/>
                  </a:moveTo>
                  <a:lnTo>
                    <a:pt x="3243898" y="0"/>
                  </a:lnTo>
                  <a:cubicBezTo>
                    <a:pt x="3252318" y="0"/>
                    <a:pt x="3260393" y="3345"/>
                    <a:pt x="3266346" y="9298"/>
                  </a:cubicBezTo>
                  <a:cubicBezTo>
                    <a:pt x="3272300" y="15252"/>
                    <a:pt x="3275645" y="23327"/>
                    <a:pt x="3275645" y="31746"/>
                  </a:cubicBezTo>
                  <a:lnTo>
                    <a:pt x="3275645" y="432233"/>
                  </a:lnTo>
                  <a:cubicBezTo>
                    <a:pt x="3275645" y="449766"/>
                    <a:pt x="3261431" y="463980"/>
                    <a:pt x="3243898" y="463980"/>
                  </a:cubicBezTo>
                  <a:lnTo>
                    <a:pt x="31746" y="463980"/>
                  </a:lnTo>
                  <a:cubicBezTo>
                    <a:pt x="23327" y="463980"/>
                    <a:pt x="15252" y="460635"/>
                    <a:pt x="9298" y="454682"/>
                  </a:cubicBezTo>
                  <a:cubicBezTo>
                    <a:pt x="3345" y="448728"/>
                    <a:pt x="0" y="440653"/>
                    <a:pt x="0" y="432233"/>
                  </a:cubicBezTo>
                  <a:lnTo>
                    <a:pt x="0" y="31746"/>
                  </a:lnTo>
                  <a:cubicBezTo>
                    <a:pt x="0" y="23327"/>
                    <a:pt x="3345" y="15252"/>
                    <a:pt x="9298" y="9298"/>
                  </a:cubicBezTo>
                  <a:cubicBezTo>
                    <a:pt x="15252" y="3345"/>
                    <a:pt x="23327" y="0"/>
                    <a:pt x="31746" y="0"/>
                  </a:cubicBezTo>
                  <a:close/>
                </a:path>
              </a:pathLst>
            </a:custGeom>
            <a:solidFill>
              <a:srgbClr val="000000"/>
            </a:solidFill>
            <a:ln w="28575" cap="rnd">
              <a:solidFill>
                <a:srgbClr val="EEEEEE"/>
              </a:solidFill>
              <a:prstDash val="solid"/>
              <a:round/>
            </a:ln>
          </p:spPr>
          <p:txBody>
            <a:bodyPr/>
            <a:lstStyle/>
            <a:p>
              <a:endParaRPr lang="en-ID"/>
            </a:p>
          </p:txBody>
        </p:sp>
        <p:sp>
          <p:nvSpPr>
            <p:cNvPr id="9" name="TextBox 9"/>
            <p:cNvSpPr txBox="1"/>
            <p:nvPr/>
          </p:nvSpPr>
          <p:spPr>
            <a:xfrm>
              <a:off x="0" y="-47625"/>
              <a:ext cx="3275645" cy="511605"/>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3461887" y="4557480"/>
            <a:ext cx="11364226" cy="1186815"/>
          </a:xfrm>
          <a:prstGeom prst="rect">
            <a:avLst/>
          </a:prstGeom>
        </p:spPr>
        <p:txBody>
          <a:bodyPr lIns="0" tIns="0" rIns="0" bIns="0" rtlCol="0" anchor="t">
            <a:spAutoFit/>
          </a:bodyPr>
          <a:lstStyle/>
          <a:p>
            <a:pPr algn="just">
              <a:lnSpc>
                <a:spcPts val="3150"/>
              </a:lnSpc>
            </a:pPr>
            <a:r>
              <a:rPr lang="en-US" sz="2100" b="1" dirty="0" err="1">
                <a:solidFill>
                  <a:srgbClr val="EEEEEE"/>
                </a:solidFill>
                <a:latin typeface="Quicksand Bold"/>
                <a:ea typeface="Quicksand Bold"/>
                <a:cs typeface="Quicksand Bold"/>
                <a:sym typeface="Quicksand Bold"/>
              </a:rPr>
              <a:t>Interaksi</a:t>
            </a:r>
            <a:r>
              <a:rPr lang="en-US" sz="2100" b="1" dirty="0">
                <a:solidFill>
                  <a:srgbClr val="EEEEEE"/>
                </a:solidFill>
                <a:latin typeface="Quicksand Bold"/>
                <a:ea typeface="Quicksand Bold"/>
                <a:cs typeface="Quicksand Bold"/>
                <a:sym typeface="Quicksand Bold"/>
              </a:rPr>
              <a:t> dua </a:t>
            </a:r>
            <a:r>
              <a:rPr lang="en-US" sz="2100" b="1" dirty="0" err="1">
                <a:solidFill>
                  <a:srgbClr val="EEEEEE"/>
                </a:solidFill>
                <a:latin typeface="Quicksand Bold"/>
                <a:ea typeface="Quicksand Bold"/>
                <a:cs typeface="Quicksand Bold"/>
                <a:sym typeface="Quicksand Bold"/>
              </a:rPr>
              <a:t>arah</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pengikut</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dapat</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memberi</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komentar</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reaksi</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atau</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menghubungi</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langsung</a:t>
            </a:r>
            <a:r>
              <a:rPr lang="en-US" sz="2100" b="1" dirty="0">
                <a:solidFill>
                  <a:srgbClr val="EEEEEE"/>
                </a:solidFill>
                <a:latin typeface="Quicksand Bold"/>
                <a:ea typeface="Quicksand Bold"/>
                <a:cs typeface="Quicksand Bold"/>
                <a:sym typeface="Quicksand Bold"/>
              </a:rPr>
              <a:t> (direct message). </a:t>
            </a:r>
            <a:r>
              <a:rPr lang="en-US" sz="2100" b="1" dirty="0" err="1">
                <a:solidFill>
                  <a:srgbClr val="EEEEEE"/>
                </a:solidFill>
                <a:latin typeface="Quicksand Bold"/>
                <a:ea typeface="Quicksand Bold"/>
                <a:cs typeface="Quicksand Bold"/>
                <a:sym typeface="Quicksand Bold"/>
              </a:rPr>
              <a:t>Respons</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cepat</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atas</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pertanyaan</a:t>
            </a:r>
            <a:r>
              <a:rPr lang="en-US" sz="2100" b="1" dirty="0">
                <a:solidFill>
                  <a:srgbClr val="EEEEEE"/>
                </a:solidFill>
                <a:latin typeface="Quicksand Bold"/>
                <a:ea typeface="Quicksand Bold"/>
                <a:cs typeface="Quicksand Bold"/>
                <a:sym typeface="Quicksand Bold"/>
              </a:rPr>
              <a:t>/</a:t>
            </a:r>
            <a:r>
              <a:rPr lang="en-US" sz="2100" b="1" dirty="0" err="1">
                <a:solidFill>
                  <a:srgbClr val="EEEEEE"/>
                </a:solidFill>
                <a:latin typeface="Quicksand Bold"/>
                <a:ea typeface="Quicksand Bold"/>
                <a:cs typeface="Quicksand Bold"/>
                <a:sym typeface="Quicksand Bold"/>
              </a:rPr>
              <a:t>kritik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pelanggan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membangun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loyalitas</a:t>
            </a:r>
            <a:r>
              <a:rPr lang="en-US" sz="2100" b="1" dirty="0">
                <a:solidFill>
                  <a:srgbClr val="EEEEEE"/>
                </a:solidFill>
                <a:latin typeface="Quicksand Bold"/>
                <a:ea typeface="Quicksand Bold"/>
                <a:cs typeface="Quicksand Bold"/>
                <a:sym typeface="Quicksand Bold"/>
              </a:rPr>
              <a:t>. </a:t>
            </a:r>
          </a:p>
        </p:txBody>
      </p:sp>
      <p:grpSp>
        <p:nvGrpSpPr>
          <p:cNvPr id="11" name="Group 11"/>
          <p:cNvGrpSpPr/>
          <p:nvPr/>
        </p:nvGrpSpPr>
        <p:grpSpPr>
          <a:xfrm>
            <a:off x="2925393" y="6341286"/>
            <a:ext cx="12437213" cy="1334685"/>
            <a:chOff x="0" y="0"/>
            <a:chExt cx="3275645" cy="351522"/>
          </a:xfrm>
        </p:grpSpPr>
        <p:sp>
          <p:nvSpPr>
            <p:cNvPr id="12" name="Freeform 12"/>
            <p:cNvSpPr/>
            <p:nvPr/>
          </p:nvSpPr>
          <p:spPr>
            <a:xfrm>
              <a:off x="0" y="0"/>
              <a:ext cx="3275645" cy="351522"/>
            </a:xfrm>
            <a:custGeom>
              <a:avLst/>
              <a:gdLst/>
              <a:ahLst/>
              <a:cxnLst/>
              <a:rect l="l" t="t" r="r" b="b"/>
              <a:pathLst>
                <a:path w="3275645" h="351522">
                  <a:moveTo>
                    <a:pt x="31746" y="0"/>
                  </a:moveTo>
                  <a:lnTo>
                    <a:pt x="3243898" y="0"/>
                  </a:lnTo>
                  <a:cubicBezTo>
                    <a:pt x="3252318" y="0"/>
                    <a:pt x="3260393" y="3345"/>
                    <a:pt x="3266346" y="9298"/>
                  </a:cubicBezTo>
                  <a:cubicBezTo>
                    <a:pt x="3272300" y="15252"/>
                    <a:pt x="3275645" y="23327"/>
                    <a:pt x="3275645" y="31746"/>
                  </a:cubicBezTo>
                  <a:lnTo>
                    <a:pt x="3275645" y="319776"/>
                  </a:lnTo>
                  <a:cubicBezTo>
                    <a:pt x="3275645" y="328195"/>
                    <a:pt x="3272300" y="336270"/>
                    <a:pt x="3266346" y="342224"/>
                  </a:cubicBezTo>
                  <a:cubicBezTo>
                    <a:pt x="3260393" y="348177"/>
                    <a:pt x="3252318" y="351522"/>
                    <a:pt x="3243898" y="351522"/>
                  </a:cubicBezTo>
                  <a:lnTo>
                    <a:pt x="31746" y="351522"/>
                  </a:lnTo>
                  <a:cubicBezTo>
                    <a:pt x="23327" y="351522"/>
                    <a:pt x="15252" y="348177"/>
                    <a:pt x="9298" y="342224"/>
                  </a:cubicBezTo>
                  <a:cubicBezTo>
                    <a:pt x="3345" y="336270"/>
                    <a:pt x="0" y="328195"/>
                    <a:pt x="0" y="319776"/>
                  </a:cubicBezTo>
                  <a:lnTo>
                    <a:pt x="0" y="31746"/>
                  </a:lnTo>
                  <a:cubicBezTo>
                    <a:pt x="0" y="23327"/>
                    <a:pt x="3345" y="15252"/>
                    <a:pt x="9298" y="9298"/>
                  </a:cubicBezTo>
                  <a:cubicBezTo>
                    <a:pt x="15252" y="3345"/>
                    <a:pt x="23327" y="0"/>
                    <a:pt x="31746" y="0"/>
                  </a:cubicBezTo>
                  <a:close/>
                </a:path>
              </a:pathLst>
            </a:custGeom>
            <a:solidFill>
              <a:srgbClr val="000000"/>
            </a:solidFill>
            <a:ln w="28575" cap="rnd">
              <a:solidFill>
                <a:srgbClr val="EEEEEE"/>
              </a:solidFill>
              <a:prstDash val="solid"/>
              <a:round/>
            </a:ln>
          </p:spPr>
          <p:txBody>
            <a:bodyPr/>
            <a:lstStyle/>
            <a:p>
              <a:endParaRPr lang="en-ID"/>
            </a:p>
          </p:txBody>
        </p:sp>
        <p:sp>
          <p:nvSpPr>
            <p:cNvPr id="13" name="TextBox 13"/>
            <p:cNvSpPr txBox="1"/>
            <p:nvPr/>
          </p:nvSpPr>
          <p:spPr>
            <a:xfrm>
              <a:off x="0" y="-47625"/>
              <a:ext cx="3275645" cy="399147"/>
            </a:xfrm>
            <a:prstGeom prst="rect">
              <a:avLst/>
            </a:prstGeom>
          </p:spPr>
          <p:txBody>
            <a:bodyPr lIns="50800" tIns="50800" rIns="50800" bIns="50800" rtlCol="0" anchor="ctr"/>
            <a:lstStyle/>
            <a:p>
              <a:pPr algn="ctr">
                <a:lnSpc>
                  <a:spcPts val="2940"/>
                </a:lnSpc>
              </a:pPr>
              <a:endParaRPr/>
            </a:p>
          </p:txBody>
        </p:sp>
      </p:grpSp>
      <p:sp>
        <p:nvSpPr>
          <p:cNvPr id="14" name="TextBox 14"/>
          <p:cNvSpPr txBox="1"/>
          <p:nvPr/>
        </p:nvSpPr>
        <p:spPr>
          <a:xfrm>
            <a:off x="3461887" y="6592019"/>
            <a:ext cx="11364226" cy="786765"/>
          </a:xfrm>
          <a:prstGeom prst="rect">
            <a:avLst/>
          </a:prstGeom>
        </p:spPr>
        <p:txBody>
          <a:bodyPr lIns="0" tIns="0" rIns="0" bIns="0" rtlCol="0" anchor="t">
            <a:spAutoFit/>
          </a:bodyPr>
          <a:lstStyle/>
          <a:p>
            <a:pPr algn="just">
              <a:lnSpc>
                <a:spcPts val="3150"/>
              </a:lnSpc>
            </a:pPr>
            <a:r>
              <a:rPr lang="en-US" sz="2100" b="1" dirty="0" err="1">
                <a:solidFill>
                  <a:srgbClr val="EEEEEE"/>
                </a:solidFill>
                <a:latin typeface="Quicksand Bold"/>
                <a:ea typeface="Quicksand Bold"/>
                <a:cs typeface="Quicksand Bold"/>
                <a:sym typeface="Quicksand Bold"/>
              </a:rPr>
              <a:t>Iklan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bertarget</a:t>
            </a:r>
            <a:r>
              <a:rPr lang="en-US" sz="2100" b="1" dirty="0">
                <a:solidFill>
                  <a:srgbClr val="EEEEEE"/>
                </a:solidFill>
                <a:latin typeface="Quicksand Bold"/>
                <a:ea typeface="Quicksand Bold"/>
                <a:cs typeface="Quicksand Bold"/>
                <a:sym typeface="Quicksand Bold"/>
              </a:rPr>
              <a:t>, Platform media </a:t>
            </a:r>
            <a:r>
              <a:rPr lang="en-US" sz="2100" b="1" dirty="0" err="1">
                <a:solidFill>
                  <a:srgbClr val="EEEEEE"/>
                </a:solidFill>
                <a:latin typeface="Quicksand Bold"/>
                <a:ea typeface="Quicksand Bold"/>
                <a:cs typeface="Quicksand Bold"/>
                <a:sym typeface="Quicksand Bold"/>
              </a:rPr>
              <a:t>sosial</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menyediakan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fitur</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penargetan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demografi</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minat</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perilaku</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untuk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mengarahkan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iklan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kepada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segmen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konsumen</a:t>
            </a:r>
            <a:r>
              <a:rPr lang="en-US" sz="2100" b="1" dirty="0">
                <a:solidFill>
                  <a:srgbClr val="EEEEEE"/>
                </a:solidFill>
                <a:latin typeface="Quicksand Bold"/>
                <a:ea typeface="Quicksand Bold"/>
                <a:cs typeface="Quicksand Bold"/>
                <a:sym typeface="Quicksand Bold"/>
              </a:rPr>
              <a:t> yang </a:t>
            </a:r>
            <a:r>
              <a:rPr lang="en-US" sz="2100" b="1" dirty="0" err="1">
                <a:solidFill>
                  <a:srgbClr val="EEEEEE"/>
                </a:solidFill>
                <a:latin typeface="Quicksand Bold"/>
                <a:ea typeface="Quicksand Bold"/>
                <a:cs typeface="Quicksand Bold"/>
                <a:sym typeface="Quicksand Bold"/>
              </a:rPr>
              <a:t>spesifik</a:t>
            </a:r>
            <a:r>
              <a:rPr lang="en-US" sz="2100" b="1" dirty="0">
                <a:solidFill>
                  <a:srgbClr val="EEEEEE"/>
                </a:solidFill>
                <a:latin typeface="Quicksand Bold"/>
                <a:ea typeface="Quicksand Bold"/>
                <a:cs typeface="Quicksand Bold"/>
                <a:sym typeface="Quicksand Bold"/>
              </a:rPr>
              <a:t>. </a:t>
            </a:r>
          </a:p>
        </p:txBody>
      </p:sp>
      <p:grpSp>
        <p:nvGrpSpPr>
          <p:cNvPr id="15" name="Group 15"/>
          <p:cNvGrpSpPr/>
          <p:nvPr/>
        </p:nvGrpSpPr>
        <p:grpSpPr>
          <a:xfrm>
            <a:off x="2925393" y="7956959"/>
            <a:ext cx="12437213" cy="1761673"/>
            <a:chOff x="0" y="0"/>
            <a:chExt cx="3275645" cy="463980"/>
          </a:xfrm>
        </p:grpSpPr>
        <p:sp>
          <p:nvSpPr>
            <p:cNvPr id="16" name="Freeform 16"/>
            <p:cNvSpPr/>
            <p:nvPr/>
          </p:nvSpPr>
          <p:spPr>
            <a:xfrm>
              <a:off x="0" y="0"/>
              <a:ext cx="3275645" cy="463980"/>
            </a:xfrm>
            <a:custGeom>
              <a:avLst/>
              <a:gdLst/>
              <a:ahLst/>
              <a:cxnLst/>
              <a:rect l="l" t="t" r="r" b="b"/>
              <a:pathLst>
                <a:path w="3275645" h="463980">
                  <a:moveTo>
                    <a:pt x="31746" y="0"/>
                  </a:moveTo>
                  <a:lnTo>
                    <a:pt x="3243898" y="0"/>
                  </a:lnTo>
                  <a:cubicBezTo>
                    <a:pt x="3252318" y="0"/>
                    <a:pt x="3260393" y="3345"/>
                    <a:pt x="3266346" y="9298"/>
                  </a:cubicBezTo>
                  <a:cubicBezTo>
                    <a:pt x="3272300" y="15252"/>
                    <a:pt x="3275645" y="23327"/>
                    <a:pt x="3275645" y="31746"/>
                  </a:cubicBezTo>
                  <a:lnTo>
                    <a:pt x="3275645" y="432233"/>
                  </a:lnTo>
                  <a:cubicBezTo>
                    <a:pt x="3275645" y="449766"/>
                    <a:pt x="3261431" y="463980"/>
                    <a:pt x="3243898" y="463980"/>
                  </a:cubicBezTo>
                  <a:lnTo>
                    <a:pt x="31746" y="463980"/>
                  </a:lnTo>
                  <a:cubicBezTo>
                    <a:pt x="23327" y="463980"/>
                    <a:pt x="15252" y="460635"/>
                    <a:pt x="9298" y="454682"/>
                  </a:cubicBezTo>
                  <a:cubicBezTo>
                    <a:pt x="3345" y="448728"/>
                    <a:pt x="0" y="440653"/>
                    <a:pt x="0" y="432233"/>
                  </a:cubicBezTo>
                  <a:lnTo>
                    <a:pt x="0" y="31746"/>
                  </a:lnTo>
                  <a:cubicBezTo>
                    <a:pt x="0" y="23327"/>
                    <a:pt x="3345" y="15252"/>
                    <a:pt x="9298" y="9298"/>
                  </a:cubicBezTo>
                  <a:cubicBezTo>
                    <a:pt x="15252" y="3345"/>
                    <a:pt x="23327" y="0"/>
                    <a:pt x="31746" y="0"/>
                  </a:cubicBezTo>
                  <a:close/>
                </a:path>
              </a:pathLst>
            </a:custGeom>
            <a:solidFill>
              <a:srgbClr val="000000"/>
            </a:solidFill>
            <a:ln w="28575" cap="rnd">
              <a:solidFill>
                <a:srgbClr val="EEEEEE"/>
              </a:solidFill>
              <a:prstDash val="solid"/>
              <a:round/>
            </a:ln>
          </p:spPr>
          <p:txBody>
            <a:bodyPr/>
            <a:lstStyle/>
            <a:p>
              <a:endParaRPr lang="en-ID"/>
            </a:p>
          </p:txBody>
        </p:sp>
        <p:sp>
          <p:nvSpPr>
            <p:cNvPr id="17" name="TextBox 17"/>
            <p:cNvSpPr txBox="1"/>
            <p:nvPr/>
          </p:nvSpPr>
          <p:spPr>
            <a:xfrm>
              <a:off x="0" y="-47625"/>
              <a:ext cx="3275645" cy="511605"/>
            </a:xfrm>
            <a:prstGeom prst="rect">
              <a:avLst/>
            </a:prstGeom>
          </p:spPr>
          <p:txBody>
            <a:bodyPr lIns="50800" tIns="50800" rIns="50800" bIns="50800" rtlCol="0" anchor="ctr"/>
            <a:lstStyle/>
            <a:p>
              <a:pPr algn="ctr">
                <a:lnSpc>
                  <a:spcPts val="2940"/>
                </a:lnSpc>
              </a:pPr>
              <a:endParaRPr/>
            </a:p>
          </p:txBody>
        </p:sp>
      </p:grpSp>
      <p:sp>
        <p:nvSpPr>
          <p:cNvPr id="18" name="TextBox 18"/>
          <p:cNvSpPr txBox="1"/>
          <p:nvPr/>
        </p:nvSpPr>
        <p:spPr>
          <a:xfrm>
            <a:off x="3461887" y="8211051"/>
            <a:ext cx="11364226" cy="1186815"/>
          </a:xfrm>
          <a:prstGeom prst="rect">
            <a:avLst/>
          </a:prstGeom>
        </p:spPr>
        <p:txBody>
          <a:bodyPr lIns="0" tIns="0" rIns="0" bIns="0" rtlCol="0" anchor="t">
            <a:spAutoFit/>
          </a:bodyPr>
          <a:lstStyle/>
          <a:p>
            <a:pPr algn="just">
              <a:lnSpc>
                <a:spcPts val="3150"/>
              </a:lnSpc>
            </a:pPr>
            <a:r>
              <a:rPr lang="en-US" sz="2100" b="1" dirty="0" err="1">
                <a:solidFill>
                  <a:srgbClr val="EEEEEE"/>
                </a:solidFill>
                <a:latin typeface="Quicksand Bold"/>
                <a:ea typeface="Quicksand Bold"/>
                <a:cs typeface="Quicksand Bold"/>
                <a:sym typeface="Quicksand Bold"/>
              </a:rPr>
              <a:t>Analitik</a:t>
            </a:r>
            <a:r>
              <a:rPr lang="en-US" sz="2100" b="1" dirty="0">
                <a:solidFill>
                  <a:srgbClr val="EEEEEE"/>
                </a:solidFill>
                <a:latin typeface="Quicksand Bold"/>
                <a:ea typeface="Quicksand Bold"/>
                <a:cs typeface="Quicksand Bold"/>
                <a:sym typeface="Quicksand Bold"/>
              </a:rPr>
              <a:t> &amp; </a:t>
            </a:r>
            <a:r>
              <a:rPr lang="en-US" sz="2100" b="1" dirty="0" err="1">
                <a:solidFill>
                  <a:srgbClr val="EEEEEE"/>
                </a:solidFill>
                <a:latin typeface="Quicksand Bold"/>
                <a:ea typeface="Quicksand Bold"/>
                <a:cs typeface="Quicksand Bold"/>
                <a:sym typeface="Quicksand Bold"/>
              </a:rPr>
              <a:t>pelacakan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Tersedia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alat</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analitik</a:t>
            </a:r>
            <a:r>
              <a:rPr lang="en-US" sz="2100" b="1" dirty="0">
                <a:solidFill>
                  <a:srgbClr val="EEEEEE"/>
                </a:solidFill>
                <a:latin typeface="Quicksand Bold"/>
                <a:ea typeface="Quicksand Bold"/>
                <a:cs typeface="Quicksand Bold"/>
                <a:sym typeface="Quicksand Bold"/>
              </a:rPr>
              <a:t> (insight) </a:t>
            </a:r>
            <a:r>
              <a:rPr lang="en-US" sz="2100" b="1" dirty="0" err="1">
                <a:solidFill>
                  <a:srgbClr val="EEEEEE"/>
                </a:solidFill>
                <a:latin typeface="Quicksand Bold"/>
                <a:ea typeface="Quicksand Bold"/>
                <a:cs typeface="Quicksand Bold"/>
                <a:sym typeface="Quicksand Bold"/>
              </a:rPr>
              <a:t>untuk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mengukur</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performa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konten</a:t>
            </a:r>
            <a:r>
              <a:rPr lang="en-US" sz="2100" b="1" dirty="0">
                <a:solidFill>
                  <a:srgbClr val="EEEEEE"/>
                </a:solidFill>
                <a:latin typeface="Quicksand Bold"/>
                <a:ea typeface="Quicksand Bold"/>
                <a:cs typeface="Quicksand Bold"/>
                <a:sym typeface="Quicksand Bold"/>
              </a:rPr>
              <a:t>/</a:t>
            </a:r>
            <a:r>
              <a:rPr lang="en-US" sz="2100" b="1" dirty="0" err="1">
                <a:solidFill>
                  <a:srgbClr val="EEEEEE"/>
                </a:solidFill>
                <a:latin typeface="Quicksand Bold"/>
                <a:ea typeface="Quicksand Bold"/>
                <a:cs typeface="Quicksand Bold"/>
                <a:sym typeface="Quicksand Bold"/>
              </a:rPr>
              <a:t>iklan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jumlah</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interaksi</a:t>
            </a:r>
            <a:r>
              <a:rPr lang="en-US" sz="2100" b="1" dirty="0">
                <a:solidFill>
                  <a:srgbClr val="EEEEEE"/>
                </a:solidFill>
                <a:latin typeface="Quicksand Bold"/>
                <a:ea typeface="Quicksand Bold"/>
                <a:cs typeface="Quicksand Bold"/>
                <a:sym typeface="Quicksand Bold"/>
              </a:rPr>
              <a:t>, dan </a:t>
            </a:r>
            <a:r>
              <a:rPr lang="en-US" sz="2100" b="1" dirty="0" err="1">
                <a:solidFill>
                  <a:srgbClr val="EEEEEE"/>
                </a:solidFill>
                <a:latin typeface="Quicksand Bold"/>
                <a:ea typeface="Quicksand Bold"/>
                <a:cs typeface="Quicksand Bold"/>
                <a:sym typeface="Quicksand Bold"/>
              </a:rPr>
              <a:t>konversi</a:t>
            </a:r>
            <a:r>
              <a:rPr lang="en-US" sz="2100" b="1" dirty="0">
                <a:solidFill>
                  <a:srgbClr val="EEEEEE"/>
                </a:solidFill>
                <a:latin typeface="Quicksand Bold"/>
                <a:ea typeface="Quicksand Bold"/>
                <a:cs typeface="Quicksand Bold"/>
                <a:sym typeface="Quicksand Bold"/>
              </a:rPr>
              <a:t>. Data </a:t>
            </a:r>
            <a:r>
              <a:rPr lang="en-US" sz="2100" b="1" dirty="0" err="1">
                <a:solidFill>
                  <a:srgbClr val="EEEEEE"/>
                </a:solidFill>
                <a:latin typeface="Quicksand Bold"/>
                <a:ea typeface="Quicksand Bold"/>
                <a:cs typeface="Quicksand Bold"/>
                <a:sym typeface="Quicksand Bold"/>
              </a:rPr>
              <a:t>ini</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membantu</a:t>
            </a:r>
            <a:r>
              <a:rPr lang="en-US" sz="2100" b="1" dirty="0">
                <a:solidFill>
                  <a:srgbClr val="EEEEEE"/>
                </a:solidFill>
                <a:latin typeface="Quicksand Bold"/>
                <a:ea typeface="Quicksand Bold"/>
                <a:cs typeface="Quicksand Bold"/>
                <a:sym typeface="Quicksand Bold"/>
              </a:rPr>
              <a:t> brand </a:t>
            </a:r>
            <a:r>
              <a:rPr lang="en-US" sz="2100" b="1" dirty="0" err="1">
                <a:solidFill>
                  <a:srgbClr val="EEEEEE"/>
                </a:solidFill>
                <a:latin typeface="Quicksand Bold"/>
                <a:ea typeface="Quicksand Bold"/>
                <a:cs typeface="Quicksand Bold"/>
                <a:sym typeface="Quicksand Bold"/>
              </a:rPr>
              <a:t>mengoptimalkan</a:t>
            </a:r>
            <a:r>
              <a:rPr lang="en-US" sz="2100" b="1" dirty="0">
                <a:solidFill>
                  <a:srgbClr val="EEEEEE"/>
                </a:solidFill>
                <a:latin typeface="Quicksand Bold"/>
                <a:ea typeface="Quicksand Bold"/>
                <a:cs typeface="Quicksand Bold"/>
                <a:sym typeface="Quicksand Bold"/>
              </a:rPr>
              <a:t> strategi </a:t>
            </a:r>
            <a:r>
              <a:rPr lang="en-US" sz="2100" b="1" dirty="0" err="1">
                <a:solidFill>
                  <a:srgbClr val="EEEEEE"/>
                </a:solidFill>
                <a:latin typeface="Quicksand Bold"/>
                <a:ea typeface="Quicksand Bold"/>
                <a:cs typeface="Quicksand Bold"/>
                <a:sym typeface="Quicksand Bold"/>
              </a:rPr>
              <a:t>pemasaran</a:t>
            </a:r>
            <a:r>
              <a:rPr lang="en-US" sz="2100" b="1" dirty="0">
                <a:solidFill>
                  <a:srgbClr val="EEEEEE"/>
                </a:solidFill>
                <a:latin typeface="Quicksand Bold"/>
                <a:ea typeface="Quicksand Bold"/>
                <a:cs typeface="Quicksand Bold"/>
                <a:sym typeface="Quicksand Bold"/>
              </a:rPr>
              <a:t>. </a:t>
            </a:r>
          </a:p>
        </p:txBody>
      </p:sp>
      <p:sp>
        <p:nvSpPr>
          <p:cNvPr id="19" name="Freeform 19"/>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475979" y="2368956"/>
            <a:ext cx="1204384" cy="1204384"/>
          </a:xfrm>
          <a:custGeom>
            <a:avLst/>
            <a:gdLst/>
            <a:ahLst/>
            <a:cxnLst/>
            <a:rect l="l" t="t" r="r" b="b"/>
            <a:pathLst>
              <a:path w="1204384" h="1204384">
                <a:moveTo>
                  <a:pt x="0" y="0"/>
                </a:moveTo>
                <a:lnTo>
                  <a:pt x="1204384" y="0"/>
                </a:lnTo>
                <a:lnTo>
                  <a:pt x="1204384" y="1204383"/>
                </a:lnTo>
                <a:lnTo>
                  <a:pt x="0" y="1204383"/>
                </a:lnTo>
                <a:lnTo>
                  <a:pt x="0" y="0"/>
                </a:lnTo>
                <a:close/>
              </a:path>
            </a:pathLst>
          </a:custGeom>
          <a:blipFill>
            <a:blip r:embed="rId2"/>
            <a:stretch>
              <a:fillRect/>
            </a:stretch>
          </a:blipFill>
        </p:spPr>
        <p:txBody>
          <a:bodyPr/>
          <a:lstStyle/>
          <a:p>
            <a:endParaRPr lang="en-ID"/>
          </a:p>
        </p:txBody>
      </p:sp>
      <p:sp>
        <p:nvSpPr>
          <p:cNvPr id="3" name="Freeform 3"/>
          <p:cNvSpPr/>
          <p:nvPr/>
        </p:nvSpPr>
        <p:spPr>
          <a:xfrm>
            <a:off x="15818005" y="3961608"/>
            <a:ext cx="1441295" cy="1441295"/>
          </a:xfrm>
          <a:custGeom>
            <a:avLst/>
            <a:gdLst/>
            <a:ahLst/>
            <a:cxnLst/>
            <a:rect l="l" t="t" r="r" b="b"/>
            <a:pathLst>
              <a:path w="1441295" h="1441295">
                <a:moveTo>
                  <a:pt x="0" y="0"/>
                </a:moveTo>
                <a:lnTo>
                  <a:pt x="1441295" y="0"/>
                </a:lnTo>
                <a:lnTo>
                  <a:pt x="1441295" y="1441296"/>
                </a:lnTo>
                <a:lnTo>
                  <a:pt x="0" y="1441296"/>
                </a:lnTo>
                <a:lnTo>
                  <a:pt x="0" y="0"/>
                </a:lnTo>
                <a:close/>
              </a:path>
            </a:pathLst>
          </a:custGeom>
          <a:blipFill>
            <a:blip r:embed="rId3"/>
            <a:stretch>
              <a:fillRect/>
            </a:stretch>
          </a:blipFill>
        </p:spPr>
        <p:txBody>
          <a:bodyPr/>
          <a:lstStyle/>
          <a:p>
            <a:endParaRPr lang="en-ID"/>
          </a:p>
        </p:txBody>
      </p:sp>
      <p:grpSp>
        <p:nvGrpSpPr>
          <p:cNvPr id="4" name="Group 4"/>
          <p:cNvGrpSpPr/>
          <p:nvPr/>
        </p:nvGrpSpPr>
        <p:grpSpPr>
          <a:xfrm>
            <a:off x="1370755" y="5943521"/>
            <a:ext cx="1414832" cy="1298899"/>
            <a:chOff x="0" y="0"/>
            <a:chExt cx="1886443" cy="1731865"/>
          </a:xfrm>
        </p:grpSpPr>
        <p:grpSp>
          <p:nvGrpSpPr>
            <p:cNvPr id="5" name="Group 5"/>
            <p:cNvGrpSpPr/>
            <p:nvPr/>
          </p:nvGrpSpPr>
          <p:grpSpPr>
            <a:xfrm>
              <a:off x="77289" y="0"/>
              <a:ext cx="1731865" cy="173186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EEEEE"/>
              </a:solidFill>
            </p:spPr>
            <p:txBody>
              <a:bodyPr/>
              <a:lstStyle/>
              <a:p>
                <a:endParaRPr lang="en-ID"/>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939"/>
                  </a:lnSpc>
                </a:pPr>
                <a:endParaRPr/>
              </a:p>
            </p:txBody>
          </p:sp>
        </p:grpSp>
        <p:sp>
          <p:nvSpPr>
            <p:cNvPr id="8" name="Freeform 8"/>
            <p:cNvSpPr/>
            <p:nvPr/>
          </p:nvSpPr>
          <p:spPr>
            <a:xfrm>
              <a:off x="0" y="204499"/>
              <a:ext cx="1886443" cy="1322868"/>
            </a:xfrm>
            <a:custGeom>
              <a:avLst/>
              <a:gdLst/>
              <a:ahLst/>
              <a:cxnLst/>
              <a:rect l="l" t="t" r="r" b="b"/>
              <a:pathLst>
                <a:path w="1886443" h="1322868">
                  <a:moveTo>
                    <a:pt x="0" y="0"/>
                  </a:moveTo>
                  <a:lnTo>
                    <a:pt x="1886443" y="0"/>
                  </a:lnTo>
                  <a:lnTo>
                    <a:pt x="1886443" y="1322868"/>
                  </a:lnTo>
                  <a:lnTo>
                    <a:pt x="0" y="1322868"/>
                  </a:lnTo>
                  <a:lnTo>
                    <a:pt x="0" y="0"/>
                  </a:lnTo>
                  <a:close/>
                </a:path>
              </a:pathLst>
            </a:custGeom>
            <a:blipFill>
              <a:blip r:embed="rId4"/>
              <a:stretch>
                <a:fillRect/>
              </a:stretch>
            </a:blipFill>
          </p:spPr>
          <p:txBody>
            <a:bodyPr/>
            <a:lstStyle/>
            <a:p>
              <a:endParaRPr lang="en-ID"/>
            </a:p>
          </p:txBody>
        </p:sp>
      </p:grpSp>
      <p:sp>
        <p:nvSpPr>
          <p:cNvPr id="9" name="Freeform 9"/>
          <p:cNvSpPr/>
          <p:nvPr/>
        </p:nvSpPr>
        <p:spPr>
          <a:xfrm>
            <a:off x="15662816" y="7827874"/>
            <a:ext cx="1751672" cy="1751672"/>
          </a:xfrm>
          <a:custGeom>
            <a:avLst/>
            <a:gdLst/>
            <a:ahLst/>
            <a:cxnLst/>
            <a:rect l="l" t="t" r="r" b="b"/>
            <a:pathLst>
              <a:path w="1751672" h="1751672">
                <a:moveTo>
                  <a:pt x="0" y="0"/>
                </a:moveTo>
                <a:lnTo>
                  <a:pt x="1751672" y="0"/>
                </a:lnTo>
                <a:lnTo>
                  <a:pt x="1751672" y="1751672"/>
                </a:lnTo>
                <a:lnTo>
                  <a:pt x="0" y="1751672"/>
                </a:lnTo>
                <a:lnTo>
                  <a:pt x="0" y="0"/>
                </a:lnTo>
                <a:close/>
              </a:path>
            </a:pathLst>
          </a:custGeom>
          <a:blipFill>
            <a:blip r:embed="rId5"/>
            <a:stretch>
              <a:fillRect/>
            </a:stretch>
          </a:blipFill>
        </p:spPr>
        <p:txBody>
          <a:bodyPr/>
          <a:lstStyle/>
          <a:p>
            <a:endParaRPr lang="en-ID"/>
          </a:p>
        </p:txBody>
      </p:sp>
      <p:sp>
        <p:nvSpPr>
          <p:cNvPr id="10" name="TextBox 10"/>
          <p:cNvSpPr txBox="1"/>
          <p:nvPr/>
        </p:nvSpPr>
        <p:spPr>
          <a:xfrm>
            <a:off x="3328281" y="2544428"/>
            <a:ext cx="10848216" cy="786765"/>
          </a:xfrm>
          <a:prstGeom prst="rect">
            <a:avLst/>
          </a:prstGeom>
        </p:spPr>
        <p:txBody>
          <a:bodyPr lIns="0" tIns="0" rIns="0" bIns="0" rtlCol="0" anchor="t">
            <a:spAutoFit/>
          </a:bodyPr>
          <a:lstStyle/>
          <a:p>
            <a:pPr algn="just">
              <a:lnSpc>
                <a:spcPts val="3150"/>
              </a:lnSpc>
            </a:pPr>
            <a:r>
              <a:rPr lang="en-US" sz="2100" b="1">
                <a:solidFill>
                  <a:srgbClr val="EEEEEE"/>
                </a:solidFill>
                <a:latin typeface="Quicksand Bold"/>
                <a:ea typeface="Quicksand Bold"/>
                <a:cs typeface="Quicksand Bold"/>
                <a:sym typeface="Quicksand Bold"/>
              </a:rPr>
              <a:t>Pizza Hut (Australia) menggunakan Facebook Messenger chatbot untuk pemesanan pizza via chat, meningkatkan pelayanan pelanggan secara langsung.</a:t>
            </a:r>
          </a:p>
        </p:txBody>
      </p:sp>
      <p:sp>
        <p:nvSpPr>
          <p:cNvPr id="11" name="TextBox 11"/>
          <p:cNvSpPr txBox="1"/>
          <p:nvPr/>
        </p:nvSpPr>
        <p:spPr>
          <a:xfrm>
            <a:off x="1028700" y="934279"/>
            <a:ext cx="16230600" cy="811529"/>
          </a:xfrm>
          <a:prstGeom prst="rect">
            <a:avLst/>
          </a:prstGeom>
        </p:spPr>
        <p:txBody>
          <a:bodyPr lIns="0" tIns="0" rIns="0" bIns="0" rtlCol="0" anchor="t">
            <a:spAutoFit/>
          </a:bodyPr>
          <a:lstStyle/>
          <a:p>
            <a:pPr algn="ctr">
              <a:lnSpc>
                <a:spcPts val="6720"/>
              </a:lnSpc>
            </a:pPr>
            <a:r>
              <a:rPr lang="en-US" sz="4800" b="1">
                <a:solidFill>
                  <a:srgbClr val="EEEEEE"/>
                </a:solidFill>
                <a:latin typeface="Quicksand Bold"/>
                <a:ea typeface="Quicksand Bold"/>
                <a:cs typeface="Quicksand Bold"/>
                <a:sym typeface="Quicksand Bold"/>
              </a:rPr>
              <a:t>Contoh Perusahaan (per platform)</a:t>
            </a:r>
          </a:p>
        </p:txBody>
      </p:sp>
      <p:sp>
        <p:nvSpPr>
          <p:cNvPr id="12" name="TextBox 12"/>
          <p:cNvSpPr txBox="1"/>
          <p:nvPr/>
        </p:nvSpPr>
        <p:spPr>
          <a:xfrm>
            <a:off x="5306321" y="3855486"/>
            <a:ext cx="9988199" cy="1603516"/>
          </a:xfrm>
          <a:prstGeom prst="rect">
            <a:avLst/>
          </a:prstGeom>
        </p:spPr>
        <p:txBody>
          <a:bodyPr lIns="0" tIns="0" rIns="0" bIns="0" rtlCol="0" anchor="t">
            <a:spAutoFit/>
          </a:bodyPr>
          <a:lstStyle/>
          <a:p>
            <a:pPr algn="just">
              <a:lnSpc>
                <a:spcPts val="3150"/>
              </a:lnSpc>
            </a:pPr>
            <a:r>
              <a:rPr lang="en-US" sz="2100" b="1" dirty="0">
                <a:solidFill>
                  <a:srgbClr val="EEEEEE"/>
                </a:solidFill>
                <a:latin typeface="Quicksand Bold"/>
                <a:ea typeface="Quicksand Bold"/>
                <a:cs typeface="Quicksand Bold"/>
                <a:sym typeface="Quicksand Bold"/>
              </a:rPr>
              <a:t>Kopi </a:t>
            </a:r>
            <a:r>
              <a:rPr lang="en-US" sz="2100" b="1" dirty="0" err="1">
                <a:solidFill>
                  <a:srgbClr val="EEEEEE"/>
                </a:solidFill>
                <a:latin typeface="Quicksand Bold"/>
                <a:ea typeface="Quicksand Bold"/>
                <a:cs typeface="Quicksand Bold"/>
                <a:sym typeface="Quicksand Bold"/>
              </a:rPr>
              <a:t>Kenangan</a:t>
            </a:r>
            <a:r>
              <a:rPr lang="en-US" sz="2100" b="1" dirty="0">
                <a:solidFill>
                  <a:srgbClr val="EEEEEE"/>
                </a:solidFill>
                <a:latin typeface="Quicksand Bold"/>
                <a:ea typeface="Quicksand Bold"/>
                <a:cs typeface="Quicksand Bold"/>
                <a:sym typeface="Quicksand Bold"/>
              </a:rPr>
              <a:t> (Indonesia) </a:t>
            </a:r>
            <a:r>
              <a:rPr lang="en-US" sz="2100" b="1" dirty="0" err="1">
                <a:solidFill>
                  <a:srgbClr val="EEEEEE"/>
                </a:solidFill>
                <a:latin typeface="Quicksand Bold"/>
                <a:ea typeface="Quicksand Bold"/>
                <a:cs typeface="Quicksand Bold"/>
                <a:sym typeface="Quicksand Bold"/>
              </a:rPr>
              <a:t>memanfaatkan</a:t>
            </a:r>
            <a:r>
              <a:rPr lang="en-US" sz="2100" b="1" dirty="0">
                <a:solidFill>
                  <a:srgbClr val="EEEEEE"/>
                </a:solidFill>
                <a:latin typeface="Quicksand Bold"/>
                <a:ea typeface="Quicksand Bold"/>
                <a:cs typeface="Quicksand Bold"/>
                <a:sym typeface="Quicksand Bold"/>
              </a:rPr>
              <a:t> Instagram Ads/</a:t>
            </a:r>
            <a:r>
              <a:rPr lang="en-US" sz="2100" b="1" dirty="0" err="1">
                <a:solidFill>
                  <a:srgbClr val="EEEEEE"/>
                </a:solidFill>
                <a:latin typeface="Quicksand Bold"/>
                <a:ea typeface="Quicksand Bold"/>
                <a:cs typeface="Quicksand Bold"/>
                <a:sym typeface="Quicksand Bold"/>
              </a:rPr>
              <a:t>konten</a:t>
            </a:r>
            <a:r>
              <a:rPr lang="en-US" sz="2100" b="1" dirty="0">
                <a:solidFill>
                  <a:srgbClr val="EEEEEE"/>
                </a:solidFill>
                <a:latin typeface="Quicksand Bold"/>
                <a:ea typeface="Quicksand Bold"/>
                <a:cs typeface="Quicksand Bold"/>
                <a:sym typeface="Quicksand Bold"/>
              </a:rPr>
              <a:t> viral (</a:t>
            </a:r>
            <a:r>
              <a:rPr lang="en-US" sz="2100" b="1" dirty="0" err="1">
                <a:solidFill>
                  <a:srgbClr val="EEEEEE"/>
                </a:solidFill>
                <a:latin typeface="Quicksand Bold"/>
                <a:ea typeface="Quicksand Bold"/>
                <a:cs typeface="Quicksand Bold"/>
                <a:sym typeface="Quicksand Bold"/>
              </a:rPr>
              <a:t>misalnya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konten</a:t>
            </a:r>
            <a:r>
              <a:rPr lang="en-US" sz="2100" b="1" dirty="0">
                <a:solidFill>
                  <a:srgbClr val="EEEEEE"/>
                </a:solidFill>
                <a:latin typeface="Quicksand Bold"/>
                <a:ea typeface="Quicksand Bold"/>
                <a:cs typeface="Quicksand Bold"/>
                <a:sym typeface="Quicksand Bold"/>
              </a:rPr>
              <a:t> “tips </a:t>
            </a:r>
            <a:r>
              <a:rPr lang="en-US" sz="2100" b="1" dirty="0" err="1">
                <a:solidFill>
                  <a:srgbClr val="EEEEEE"/>
                </a:solidFill>
                <a:latin typeface="Quicksand Bold"/>
                <a:ea typeface="Quicksand Bold"/>
                <a:cs typeface="Quicksand Bold"/>
                <a:sym typeface="Quicksand Bold"/>
              </a:rPr>
              <a:t>hemat</a:t>
            </a:r>
            <a:r>
              <a:rPr lang="en-US" sz="2100" b="1" dirty="0">
                <a:solidFill>
                  <a:srgbClr val="EEEEEE"/>
                </a:solidFill>
                <a:latin typeface="Quicksand Bold"/>
                <a:ea typeface="Quicksand Bold"/>
                <a:cs typeface="Quicksand Bold"/>
                <a:sym typeface="Quicksand Bold"/>
              </a:rPr>
              <a:t> weekend”) </a:t>
            </a:r>
            <a:r>
              <a:rPr lang="en-US" sz="2100" b="1" dirty="0" err="1">
                <a:solidFill>
                  <a:srgbClr val="EEEEEE"/>
                </a:solidFill>
                <a:latin typeface="Quicksand Bold"/>
                <a:ea typeface="Quicksand Bold"/>
                <a:cs typeface="Quicksand Bold"/>
                <a:sym typeface="Quicksand Bold"/>
              </a:rPr>
              <a:t>untuk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mempromosikan</a:t>
            </a:r>
            <a:r>
              <a:rPr lang="en-US" sz="2100" b="1" dirty="0">
                <a:solidFill>
                  <a:srgbClr val="EEEEEE"/>
                </a:solidFill>
                <a:latin typeface="Quicksand Bold"/>
                <a:ea typeface="Quicksand Bold"/>
                <a:cs typeface="Quicksand Bold"/>
                <a:sym typeface="Quicksand Bold"/>
              </a:rPr>
              <a:t> menu kopi </a:t>
            </a:r>
            <a:r>
              <a:rPr lang="en-US" sz="2100" b="1" dirty="0" err="1">
                <a:solidFill>
                  <a:srgbClr val="EEEEEE"/>
                </a:solidFill>
                <a:latin typeface="Quicksand Bold"/>
                <a:ea typeface="Quicksand Bold"/>
                <a:cs typeface="Quicksand Bold"/>
                <a:sym typeface="Quicksand Bold"/>
              </a:rPr>
              <a:t>mereka</a:t>
            </a:r>
            <a:r>
              <a:rPr lang="en-US" sz="2100" b="1" dirty="0">
                <a:solidFill>
                  <a:srgbClr val="EEEEEE"/>
                </a:solidFill>
                <a:latin typeface="Quicksand Bold"/>
                <a:ea typeface="Quicksand Bold"/>
                <a:cs typeface="Quicksand Bold"/>
                <a:sym typeface="Quicksand Bold"/>
              </a:rPr>
              <a:t>. Tokopedia (e-commerce) juga </a:t>
            </a:r>
            <a:r>
              <a:rPr lang="en-US" sz="2100" b="1" dirty="0" err="1">
                <a:solidFill>
                  <a:srgbClr val="EEEEEE"/>
                </a:solidFill>
                <a:latin typeface="Quicksand Bold"/>
                <a:ea typeface="Quicksand Bold"/>
                <a:cs typeface="Quicksand Bold"/>
                <a:sym typeface="Quicksand Bold"/>
              </a:rPr>
              <a:t>rajin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menggunakan</a:t>
            </a:r>
            <a:r>
              <a:rPr lang="en-US" sz="2100" b="1" dirty="0">
                <a:solidFill>
                  <a:srgbClr val="EEEEEE"/>
                </a:solidFill>
                <a:latin typeface="Quicksand Bold"/>
                <a:ea typeface="Quicksand Bold"/>
                <a:cs typeface="Quicksand Bold"/>
                <a:sym typeface="Quicksand Bold"/>
              </a:rPr>
              <a:t> influencer di Instagram </a:t>
            </a:r>
            <a:r>
              <a:rPr lang="en-US" sz="2100" b="1" dirty="0" err="1">
                <a:solidFill>
                  <a:srgbClr val="EEEEEE"/>
                </a:solidFill>
                <a:latin typeface="Quicksand Bold"/>
                <a:ea typeface="Quicksand Bold"/>
                <a:cs typeface="Quicksand Bold"/>
                <a:sym typeface="Quicksand Bold"/>
              </a:rPr>
              <a:t>untuk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menampilkan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produk</a:t>
            </a:r>
            <a:r>
              <a:rPr lang="en-US" sz="2100" b="1" dirty="0">
                <a:solidFill>
                  <a:srgbClr val="EEEEEE"/>
                </a:solidFill>
                <a:latin typeface="Quicksand Bold"/>
                <a:ea typeface="Quicksand Bold"/>
                <a:cs typeface="Quicksand Bold"/>
                <a:sym typeface="Quicksand Bold"/>
              </a:rPr>
              <a:t> dan tutorial </a:t>
            </a:r>
            <a:r>
              <a:rPr lang="en-US" sz="2100" b="1" dirty="0" err="1">
                <a:solidFill>
                  <a:srgbClr val="EEEEEE"/>
                </a:solidFill>
                <a:latin typeface="Quicksand Bold"/>
                <a:ea typeface="Quicksand Bold"/>
                <a:cs typeface="Quicksand Bold"/>
                <a:sym typeface="Quicksand Bold"/>
              </a:rPr>
              <a:t>penggunaannya</a:t>
            </a:r>
            <a:r>
              <a:rPr lang="en-US" sz="2100" b="1" dirty="0">
                <a:solidFill>
                  <a:srgbClr val="EEEEEE"/>
                </a:solidFill>
                <a:latin typeface="Quicksand Bold"/>
                <a:ea typeface="Quicksand Bold"/>
                <a:cs typeface="Quicksand Bold"/>
                <a:sym typeface="Quicksand Bold"/>
              </a:rPr>
              <a:t>. </a:t>
            </a:r>
          </a:p>
        </p:txBody>
      </p:sp>
      <p:sp>
        <p:nvSpPr>
          <p:cNvPr id="13" name="TextBox 13"/>
          <p:cNvSpPr txBox="1"/>
          <p:nvPr/>
        </p:nvSpPr>
        <p:spPr>
          <a:xfrm>
            <a:off x="3328281" y="5966226"/>
            <a:ext cx="10848216" cy="1603516"/>
          </a:xfrm>
          <a:prstGeom prst="rect">
            <a:avLst/>
          </a:prstGeom>
        </p:spPr>
        <p:txBody>
          <a:bodyPr lIns="0" tIns="0" rIns="0" bIns="0" rtlCol="0" anchor="t">
            <a:spAutoFit/>
          </a:bodyPr>
          <a:lstStyle/>
          <a:p>
            <a:pPr algn="just">
              <a:lnSpc>
                <a:spcPts val="3150"/>
              </a:lnSpc>
            </a:pPr>
            <a:r>
              <a:rPr lang="en-US" sz="2100" b="1" dirty="0">
                <a:solidFill>
                  <a:srgbClr val="EEEEEE"/>
                </a:solidFill>
                <a:latin typeface="Quicksand Bold"/>
                <a:ea typeface="Quicksand Bold"/>
                <a:cs typeface="Quicksand Bold"/>
                <a:sym typeface="Quicksand Bold"/>
              </a:rPr>
              <a:t>Netflix (global) </a:t>
            </a:r>
            <a:r>
              <a:rPr lang="en-US" sz="2100" b="1" dirty="0" err="1">
                <a:solidFill>
                  <a:srgbClr val="EEEEEE"/>
                </a:solidFill>
                <a:latin typeface="Quicksand Bold"/>
                <a:ea typeface="Quicksand Bold"/>
                <a:cs typeface="Quicksand Bold"/>
                <a:sym typeface="Quicksand Bold"/>
              </a:rPr>
              <a:t>menggunakan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kampanye</a:t>
            </a:r>
            <a:r>
              <a:rPr lang="en-US" sz="2100" b="1" dirty="0">
                <a:solidFill>
                  <a:srgbClr val="EEEEEE"/>
                </a:solidFill>
                <a:latin typeface="Quicksand Bold"/>
                <a:ea typeface="Quicksand Bold"/>
                <a:cs typeface="Quicksand Bold"/>
                <a:sym typeface="Quicksand Bold"/>
              </a:rPr>
              <a:t> #WhatsYourPower </a:t>
            </a:r>
            <a:r>
              <a:rPr lang="en-US" sz="2100" b="1" dirty="0" err="1">
                <a:solidFill>
                  <a:srgbClr val="EEEEEE"/>
                </a:solidFill>
                <a:latin typeface="Quicksand Bold"/>
                <a:ea typeface="Quicksand Bold"/>
                <a:cs typeface="Quicksand Bold"/>
                <a:sym typeface="Quicksand Bold"/>
              </a:rPr>
              <a:t>dengan</a:t>
            </a:r>
            <a:r>
              <a:rPr lang="en-US" sz="2100" b="1" dirty="0">
                <a:solidFill>
                  <a:srgbClr val="EEEEEE"/>
                </a:solidFill>
                <a:latin typeface="Quicksand Bold"/>
                <a:ea typeface="Quicksand Bold"/>
                <a:cs typeface="Quicksand Bold"/>
                <a:sym typeface="Quicksand Bold"/>
              </a:rPr>
              <a:t> filter AR di TikTok, </a:t>
            </a:r>
            <a:r>
              <a:rPr lang="en-US" sz="2100" b="1" dirty="0" err="1">
                <a:solidFill>
                  <a:srgbClr val="EEEEEE"/>
                </a:solidFill>
                <a:latin typeface="Quicksand Bold"/>
                <a:ea typeface="Quicksand Bold"/>
                <a:cs typeface="Quicksand Bold"/>
                <a:sym typeface="Quicksand Bold"/>
              </a:rPr>
              <a:t>mengajak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pengguna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membuat</a:t>
            </a:r>
            <a:r>
              <a:rPr lang="en-US" sz="2100" b="1" dirty="0">
                <a:solidFill>
                  <a:srgbClr val="EEEEEE"/>
                </a:solidFill>
                <a:latin typeface="Quicksand Bold"/>
                <a:ea typeface="Quicksand Bold"/>
                <a:cs typeface="Quicksand Bold"/>
                <a:sym typeface="Quicksand Bold"/>
              </a:rPr>
              <a:t> video (UGC) yang viral. E.L.F. Cosmetics </a:t>
            </a:r>
            <a:r>
              <a:rPr lang="en-US" sz="2100" b="1" dirty="0" err="1">
                <a:solidFill>
                  <a:srgbClr val="EEEEEE"/>
                </a:solidFill>
                <a:latin typeface="Quicksand Bold"/>
                <a:ea typeface="Quicksand Bold"/>
                <a:cs typeface="Quicksand Bold"/>
                <a:sym typeface="Quicksand Bold"/>
              </a:rPr>
              <a:t>membuat</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siaran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langsung</a:t>
            </a:r>
            <a:r>
              <a:rPr lang="en-US" sz="2100" b="1" dirty="0">
                <a:solidFill>
                  <a:srgbClr val="EEEEEE"/>
                </a:solidFill>
                <a:latin typeface="Quicksand Bold"/>
                <a:ea typeface="Quicksand Bold"/>
                <a:cs typeface="Quicksand Bold"/>
                <a:sym typeface="Quicksand Bold"/>
              </a:rPr>
              <a:t> (TikTok Live) dan </a:t>
            </a:r>
            <a:r>
              <a:rPr lang="en-US" sz="2100" b="1" dirty="0" err="1">
                <a:solidFill>
                  <a:srgbClr val="EEEEEE"/>
                </a:solidFill>
                <a:latin typeface="Quicksand Bold"/>
                <a:ea typeface="Quicksand Bold"/>
                <a:cs typeface="Quicksand Bold"/>
                <a:sym typeface="Quicksand Bold"/>
              </a:rPr>
              <a:t>tantangan</a:t>
            </a:r>
            <a:r>
              <a:rPr lang="en-US" sz="2100" b="1" dirty="0">
                <a:solidFill>
                  <a:srgbClr val="EEEEEE"/>
                </a:solidFill>
                <a:latin typeface="Quicksand Bold"/>
                <a:ea typeface="Quicksand Bold"/>
                <a:cs typeface="Quicksand Bold"/>
                <a:sym typeface="Quicksand Bold"/>
              </a:rPr>
              <a:t> (hashtag challenge) </a:t>
            </a:r>
            <a:r>
              <a:rPr lang="en-US" sz="2100" b="1" dirty="0" err="1">
                <a:solidFill>
                  <a:srgbClr val="EEEEEE"/>
                </a:solidFill>
                <a:latin typeface="Quicksand Bold"/>
                <a:ea typeface="Quicksand Bold"/>
                <a:cs typeface="Quicksand Bold"/>
                <a:sym typeface="Quicksand Bold"/>
              </a:rPr>
              <a:t>untuk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produk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kecantikan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mereka</a:t>
            </a:r>
            <a:r>
              <a:rPr lang="en-US" sz="2100" b="1" dirty="0">
                <a:solidFill>
                  <a:srgbClr val="EEEEEE"/>
                </a:solidFill>
                <a:latin typeface="Quicksand Bold"/>
                <a:ea typeface="Quicksand Bold"/>
                <a:cs typeface="Quicksand Bold"/>
                <a:sym typeface="Quicksand Bold"/>
              </a:rPr>
              <a:t>.</a:t>
            </a:r>
          </a:p>
        </p:txBody>
      </p:sp>
      <p:sp>
        <p:nvSpPr>
          <p:cNvPr id="14" name="TextBox 14"/>
          <p:cNvSpPr txBox="1"/>
          <p:nvPr/>
        </p:nvSpPr>
        <p:spPr>
          <a:xfrm>
            <a:off x="5306321" y="8076966"/>
            <a:ext cx="9988199" cy="1186815"/>
          </a:xfrm>
          <a:prstGeom prst="rect">
            <a:avLst/>
          </a:prstGeom>
        </p:spPr>
        <p:txBody>
          <a:bodyPr lIns="0" tIns="0" rIns="0" bIns="0" rtlCol="0" anchor="t">
            <a:spAutoFit/>
          </a:bodyPr>
          <a:lstStyle/>
          <a:p>
            <a:pPr algn="just">
              <a:lnSpc>
                <a:spcPts val="3150"/>
              </a:lnSpc>
            </a:pPr>
            <a:r>
              <a:rPr lang="en-US" sz="2100" b="1" dirty="0">
                <a:solidFill>
                  <a:srgbClr val="EEEEEE"/>
                </a:solidFill>
                <a:latin typeface="Quicksand Bold"/>
                <a:ea typeface="Quicksand Bold"/>
                <a:cs typeface="Quicksand Bold"/>
                <a:sym typeface="Quicksand Bold"/>
              </a:rPr>
              <a:t>Bank BRI (Indonesia) </a:t>
            </a:r>
            <a:r>
              <a:rPr lang="en-US" sz="2100" b="1" dirty="0" err="1">
                <a:solidFill>
                  <a:srgbClr val="EEEEEE"/>
                </a:solidFill>
                <a:latin typeface="Quicksand Bold"/>
                <a:ea typeface="Quicksand Bold"/>
                <a:cs typeface="Quicksand Bold"/>
                <a:sym typeface="Quicksand Bold"/>
              </a:rPr>
              <a:t>menghadirkan</a:t>
            </a:r>
            <a:r>
              <a:rPr lang="en-US" sz="2100" b="1" dirty="0">
                <a:solidFill>
                  <a:srgbClr val="EEEEEE"/>
                </a:solidFill>
                <a:latin typeface="Quicksand Bold"/>
                <a:ea typeface="Quicksand Bold"/>
                <a:cs typeface="Quicksand Bold"/>
                <a:sym typeface="Quicksand Bold"/>
              </a:rPr>
              <a:t> “Sabrina” – </a:t>
            </a:r>
            <a:r>
              <a:rPr lang="en-US" sz="2100" b="1" dirty="0" err="1">
                <a:solidFill>
                  <a:srgbClr val="EEEEEE"/>
                </a:solidFill>
                <a:latin typeface="Quicksand Bold"/>
                <a:ea typeface="Quicksand Bold"/>
                <a:cs typeface="Quicksand Bold"/>
                <a:sym typeface="Quicksand Bold"/>
              </a:rPr>
              <a:t>asisten</a:t>
            </a:r>
            <a:r>
              <a:rPr lang="en-US" sz="2100" b="1" dirty="0">
                <a:solidFill>
                  <a:srgbClr val="EEEEEE"/>
                </a:solidFill>
                <a:latin typeface="Quicksand Bold"/>
                <a:ea typeface="Quicksand Bold"/>
                <a:cs typeface="Quicksand Bold"/>
                <a:sym typeface="Quicksand Bold"/>
              </a:rPr>
              <a:t> virtual di WhatsApp Business – </a:t>
            </a:r>
            <a:r>
              <a:rPr lang="en-US" sz="2100" b="1" dirty="0" err="1">
                <a:solidFill>
                  <a:srgbClr val="EEEEEE"/>
                </a:solidFill>
                <a:latin typeface="Quicksand Bold"/>
                <a:ea typeface="Quicksand Bold"/>
                <a:cs typeface="Quicksand Bold"/>
                <a:sym typeface="Quicksand Bold"/>
              </a:rPr>
              <a:t>sebagai</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saluran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layanan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pelanggan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tanpa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pulsa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Pelanggan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bisa</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menanyakan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informasi</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produk</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dukungan</a:t>
            </a:r>
            <a:r>
              <a:rPr lang="en-US" sz="2100" b="1" dirty="0">
                <a:solidFill>
                  <a:srgbClr val="EEEEEE"/>
                </a:solidFill>
                <a:latin typeface="Quicksand Bold"/>
                <a:ea typeface="Quicksand Bold"/>
                <a:cs typeface="Quicksand Bold"/>
                <a:sym typeface="Quicksand Bold"/>
              </a:rPr>
              <a:t> </a:t>
            </a:r>
            <a:r>
              <a:rPr lang="en-US" sz="2100" b="1" dirty="0" err="1">
                <a:solidFill>
                  <a:srgbClr val="EEEEEE"/>
                </a:solidFill>
                <a:latin typeface="Quicksand Bold"/>
                <a:ea typeface="Quicksand Bold"/>
                <a:cs typeface="Quicksand Bold"/>
                <a:sym typeface="Quicksand Bold"/>
              </a:rPr>
              <a:t>melalui</a:t>
            </a:r>
            <a:r>
              <a:rPr lang="en-US" sz="2100" b="1" dirty="0">
                <a:solidFill>
                  <a:srgbClr val="EEEEEE"/>
                </a:solidFill>
                <a:latin typeface="Quicksand Bold"/>
                <a:ea typeface="Quicksand Bold"/>
                <a:cs typeface="Quicksand Bold"/>
                <a:sym typeface="Quicksand Bold"/>
              </a:rPr>
              <a:t> chat WhatsApp </a:t>
            </a:r>
            <a:r>
              <a:rPr lang="en-US" sz="2100" b="1" dirty="0" err="1">
                <a:solidFill>
                  <a:srgbClr val="EEEEEE"/>
                </a:solidFill>
                <a:latin typeface="Quicksand Bold"/>
                <a:ea typeface="Quicksand Bold"/>
                <a:cs typeface="Quicksand Bold"/>
                <a:sym typeface="Quicksand Bold"/>
              </a:rPr>
              <a:t>ini</a:t>
            </a:r>
            <a:r>
              <a:rPr lang="en-US" sz="2100" b="1" dirty="0">
                <a:solidFill>
                  <a:srgbClr val="EEEEEE"/>
                </a:solidFill>
                <a:latin typeface="Quicksand Bold"/>
                <a:ea typeface="Quicksand Bold"/>
                <a:cs typeface="Quicksand Bold"/>
                <a:sym typeface="Quicksand Bold"/>
              </a:rPr>
              <a:t>.</a:t>
            </a:r>
          </a:p>
        </p:txBody>
      </p:sp>
      <p:sp>
        <p:nvSpPr>
          <p:cNvPr id="15" name="Freeform 15"/>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6"/>
            <a:stretch>
              <a:fillRect/>
            </a:stretch>
          </a:blipFill>
        </p:spPr>
        <p:txBody>
          <a:bodyPr/>
          <a:lstStyle/>
          <a:p>
            <a:endParaRPr lang="en-ID"/>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TextBox 2"/>
          <p:cNvSpPr txBox="1"/>
          <p:nvPr/>
        </p:nvSpPr>
        <p:spPr>
          <a:xfrm>
            <a:off x="4498629" y="4659313"/>
            <a:ext cx="9290741" cy="863599"/>
          </a:xfrm>
          <a:prstGeom prst="rect">
            <a:avLst/>
          </a:prstGeom>
        </p:spPr>
        <p:txBody>
          <a:bodyPr lIns="0" tIns="0" rIns="0" bIns="0" rtlCol="0" anchor="t">
            <a:spAutoFit/>
          </a:bodyPr>
          <a:lstStyle/>
          <a:p>
            <a:pPr algn="ctr">
              <a:lnSpc>
                <a:spcPts val="7000"/>
              </a:lnSpc>
            </a:pPr>
            <a:r>
              <a:rPr lang="en-US" sz="5000" b="1">
                <a:solidFill>
                  <a:srgbClr val="000000"/>
                </a:solidFill>
                <a:latin typeface="Quicksand Bold"/>
                <a:ea typeface="Quicksand Bold"/>
                <a:cs typeface="Quicksand Bold"/>
                <a:sym typeface="Quicksand Bold"/>
              </a:rPr>
              <a:t>Saluran Website Perusahaan </a:t>
            </a:r>
          </a:p>
        </p:txBody>
      </p:sp>
      <p:sp>
        <p:nvSpPr>
          <p:cNvPr id="3" name="Freeform 3"/>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TextBox 2"/>
          <p:cNvSpPr txBox="1"/>
          <p:nvPr/>
        </p:nvSpPr>
        <p:spPr>
          <a:xfrm>
            <a:off x="2257863" y="1777376"/>
            <a:ext cx="13772275" cy="1272540"/>
          </a:xfrm>
          <a:prstGeom prst="rect">
            <a:avLst/>
          </a:prstGeom>
        </p:spPr>
        <p:txBody>
          <a:bodyPr lIns="0" tIns="0" rIns="0" bIns="0" rtlCol="0" anchor="t">
            <a:spAutoFit/>
          </a:bodyPr>
          <a:lstStyle/>
          <a:p>
            <a:pPr algn="just">
              <a:lnSpc>
                <a:spcPts val="3899"/>
              </a:lnSpc>
            </a:pPr>
            <a:r>
              <a:rPr lang="en-US" sz="2599" b="1">
                <a:solidFill>
                  <a:srgbClr val="000000"/>
                </a:solidFill>
                <a:latin typeface="Quicksand Bold"/>
                <a:ea typeface="Quicksand Bold"/>
                <a:cs typeface="Quicksand Bold"/>
                <a:sym typeface="Quicksand Bold"/>
              </a:rPr>
              <a:t>Profil &amp; Branding</a:t>
            </a:r>
          </a:p>
          <a:p>
            <a:pPr algn="just">
              <a:lnSpc>
                <a:spcPts val="3150"/>
              </a:lnSpc>
            </a:pPr>
            <a:r>
              <a:rPr lang="en-US" sz="2100" b="1">
                <a:solidFill>
                  <a:srgbClr val="000000"/>
                </a:solidFill>
                <a:latin typeface="Quicksand Bold"/>
                <a:ea typeface="Quicksand Bold"/>
                <a:cs typeface="Quicksand Bold"/>
                <a:sym typeface="Quicksand Bold"/>
              </a:rPr>
              <a:t>Website resmi menampilkan profil perusahaan (visi, misi, sejarah, tim), deskripsi lengkap produk/layanan, serta testimoni/ulasan. Ini membangun kredibilitas dan kepercayaan konsumen secara online.</a:t>
            </a:r>
          </a:p>
        </p:txBody>
      </p:sp>
      <p:sp>
        <p:nvSpPr>
          <p:cNvPr id="3" name="TextBox 3"/>
          <p:cNvSpPr txBox="1"/>
          <p:nvPr/>
        </p:nvSpPr>
        <p:spPr>
          <a:xfrm>
            <a:off x="1028700" y="716900"/>
            <a:ext cx="16230600" cy="811529"/>
          </a:xfrm>
          <a:prstGeom prst="rect">
            <a:avLst/>
          </a:prstGeom>
        </p:spPr>
        <p:txBody>
          <a:bodyPr lIns="0" tIns="0" rIns="0" bIns="0" rtlCol="0" anchor="t">
            <a:spAutoFit/>
          </a:bodyPr>
          <a:lstStyle/>
          <a:p>
            <a:pPr algn="ctr">
              <a:lnSpc>
                <a:spcPts val="6720"/>
              </a:lnSpc>
            </a:pPr>
            <a:r>
              <a:rPr lang="en-US" sz="4800" b="1">
                <a:solidFill>
                  <a:srgbClr val="000000"/>
                </a:solidFill>
                <a:latin typeface="Quicksand Bold"/>
                <a:ea typeface="Quicksand Bold"/>
                <a:cs typeface="Quicksand Bold"/>
                <a:sym typeface="Quicksand Bold"/>
              </a:rPr>
              <a:t>Fungsi Utama Website</a:t>
            </a:r>
          </a:p>
        </p:txBody>
      </p:sp>
      <p:sp>
        <p:nvSpPr>
          <p:cNvPr id="4" name="TextBox 4"/>
          <p:cNvSpPr txBox="1"/>
          <p:nvPr/>
        </p:nvSpPr>
        <p:spPr>
          <a:xfrm>
            <a:off x="2257863" y="3488066"/>
            <a:ext cx="13772275" cy="1682115"/>
          </a:xfrm>
          <a:prstGeom prst="rect">
            <a:avLst/>
          </a:prstGeom>
        </p:spPr>
        <p:txBody>
          <a:bodyPr lIns="0" tIns="0" rIns="0" bIns="0" rtlCol="0" anchor="t">
            <a:spAutoFit/>
          </a:bodyPr>
          <a:lstStyle/>
          <a:p>
            <a:pPr algn="just">
              <a:lnSpc>
                <a:spcPts val="3900"/>
              </a:lnSpc>
            </a:pPr>
            <a:r>
              <a:rPr lang="en-US" sz="2600" b="1" dirty="0" err="1">
                <a:solidFill>
                  <a:srgbClr val="000000"/>
                </a:solidFill>
                <a:latin typeface="Quicksand Bold"/>
                <a:ea typeface="Quicksand Bold"/>
                <a:cs typeface="Quicksand Bold"/>
                <a:sym typeface="Quicksand Bold"/>
              </a:rPr>
              <a:t>Pemasaran</a:t>
            </a:r>
            <a:r>
              <a:rPr lang="en-US" sz="2600" b="1" dirty="0">
                <a:solidFill>
                  <a:srgbClr val="000000"/>
                </a:solidFill>
                <a:latin typeface="Quicksand Bold"/>
                <a:ea typeface="Quicksand Bold"/>
                <a:cs typeface="Quicksand Bold"/>
                <a:sym typeface="Quicksand Bold"/>
              </a:rPr>
              <a:t> &amp; </a:t>
            </a:r>
            <a:r>
              <a:rPr lang="en-US" sz="2600" b="1" dirty="0" err="1">
                <a:solidFill>
                  <a:srgbClr val="000000"/>
                </a:solidFill>
                <a:latin typeface="Quicksand Bold"/>
                <a:ea typeface="Quicksand Bold"/>
                <a:cs typeface="Quicksand Bold"/>
                <a:sym typeface="Quicksand Bold"/>
              </a:rPr>
              <a:t>Penjualan</a:t>
            </a:r>
            <a:endParaRPr lang="en-US" sz="2600" b="1" dirty="0">
              <a:solidFill>
                <a:srgbClr val="000000"/>
              </a:solidFill>
              <a:latin typeface="Quicksand Bold"/>
              <a:ea typeface="Quicksand Bold"/>
              <a:cs typeface="Quicksand Bold"/>
              <a:sym typeface="Quicksand Bold"/>
            </a:endParaRPr>
          </a:p>
          <a:p>
            <a:pPr algn="just">
              <a:lnSpc>
                <a:spcPts val="3150"/>
              </a:lnSpc>
            </a:pPr>
            <a:r>
              <a:rPr lang="en-US" sz="2100" b="1" dirty="0">
                <a:solidFill>
                  <a:srgbClr val="000000"/>
                </a:solidFill>
                <a:latin typeface="Quicksand Bold"/>
                <a:ea typeface="Quicksand Bold"/>
                <a:cs typeface="Quicksand Bold"/>
                <a:sym typeface="Quicksand Bold"/>
              </a:rPr>
              <a:t>Website </a:t>
            </a:r>
            <a:r>
              <a:rPr lang="en-US" sz="2100" b="1" dirty="0" err="1">
                <a:solidFill>
                  <a:srgbClr val="000000"/>
                </a:solidFill>
                <a:latin typeface="Quicksand Bold"/>
                <a:ea typeface="Quicksand Bold"/>
                <a:cs typeface="Quicksand Bold"/>
                <a:sym typeface="Quicksand Bold"/>
              </a:rPr>
              <a:t>dapat</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berfungsi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sebagai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toko</a:t>
            </a:r>
            <a:r>
              <a:rPr lang="en-US" sz="2100" b="1" dirty="0">
                <a:solidFill>
                  <a:srgbClr val="000000"/>
                </a:solidFill>
                <a:latin typeface="Quicksand Bold"/>
                <a:ea typeface="Quicksand Bold"/>
                <a:cs typeface="Quicksand Bold"/>
                <a:sym typeface="Quicksand Bold"/>
              </a:rPr>
              <a:t> online (e-commerce) </a:t>
            </a:r>
            <a:r>
              <a:rPr lang="en-US" sz="2100" b="1" dirty="0" err="1">
                <a:solidFill>
                  <a:srgbClr val="000000"/>
                </a:solidFill>
                <a:latin typeface="Quicksand Bold"/>
                <a:ea typeface="Quicksand Bold"/>
                <a:cs typeface="Quicksand Bold"/>
                <a:sym typeface="Quicksand Bold"/>
              </a:rPr>
              <a:t>atau</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katalog</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produk</a:t>
            </a:r>
            <a:r>
              <a:rPr lang="en-US" sz="2100" b="1" dirty="0">
                <a:solidFill>
                  <a:srgbClr val="000000"/>
                </a:solidFill>
                <a:latin typeface="Quicksand Bold"/>
                <a:ea typeface="Quicksand Bold"/>
                <a:cs typeface="Quicksand Bold"/>
                <a:sym typeface="Quicksand Bold"/>
              </a:rPr>
              <a:t> yang </a:t>
            </a:r>
            <a:r>
              <a:rPr lang="en-US" sz="2100" b="1" dirty="0" err="1">
                <a:solidFill>
                  <a:srgbClr val="000000"/>
                </a:solidFill>
                <a:latin typeface="Quicksand Bold"/>
                <a:ea typeface="Quicksand Bold"/>
                <a:cs typeface="Quicksand Bold"/>
                <a:sym typeface="Quicksand Bold"/>
              </a:rPr>
              <a:t>memudahkan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transaksi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jual-beli</a:t>
            </a:r>
            <a:r>
              <a:rPr lang="en-US" sz="2100" b="1" dirty="0">
                <a:solidFill>
                  <a:srgbClr val="000000"/>
                </a:solidFill>
                <a:latin typeface="Quicksand Bold"/>
                <a:ea typeface="Quicksand Bold"/>
                <a:cs typeface="Quicksand Bold"/>
                <a:sym typeface="Quicksand Bold"/>
              </a:rPr>
              <a:t> 24/7. </a:t>
            </a:r>
            <a:r>
              <a:rPr lang="en-US" sz="2100" b="1" dirty="0" err="1">
                <a:solidFill>
                  <a:srgbClr val="000000"/>
                </a:solidFill>
                <a:latin typeface="Quicksand Bold"/>
                <a:ea typeface="Quicksand Bold"/>
                <a:cs typeface="Quicksand Bold"/>
                <a:sym typeface="Quicksand Bold"/>
              </a:rPr>
              <a:t>Melalui</a:t>
            </a:r>
            <a:r>
              <a:rPr lang="en-US" sz="2100" b="1" dirty="0">
                <a:solidFill>
                  <a:srgbClr val="000000"/>
                </a:solidFill>
                <a:latin typeface="Quicksand Bold"/>
                <a:ea typeface="Quicksand Bold"/>
                <a:cs typeface="Quicksand Bold"/>
                <a:sym typeface="Quicksand Bold"/>
              </a:rPr>
              <a:t> SEO, website </a:t>
            </a:r>
            <a:r>
              <a:rPr lang="en-US" sz="2100" b="1" dirty="0" err="1">
                <a:solidFill>
                  <a:srgbClr val="000000"/>
                </a:solidFill>
                <a:latin typeface="Quicksand Bold"/>
                <a:ea typeface="Quicksand Bold"/>
                <a:cs typeface="Quicksand Bold"/>
                <a:sym typeface="Quicksand Bold"/>
              </a:rPr>
              <a:t>meningkatkan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visibilitas</a:t>
            </a:r>
            <a:r>
              <a:rPr lang="en-US" sz="2100" b="1" dirty="0">
                <a:solidFill>
                  <a:srgbClr val="000000"/>
                </a:solidFill>
                <a:latin typeface="Quicksand Bold"/>
                <a:ea typeface="Quicksand Bold"/>
                <a:cs typeface="Quicksand Bold"/>
                <a:sym typeface="Quicksand Bold"/>
              </a:rPr>
              <a:t> brand di </a:t>
            </a:r>
            <a:r>
              <a:rPr lang="en-US" sz="2100" b="1" dirty="0" err="1">
                <a:solidFill>
                  <a:srgbClr val="000000"/>
                </a:solidFill>
                <a:latin typeface="Quicksand Bold"/>
                <a:ea typeface="Quicksand Bold"/>
                <a:cs typeface="Quicksand Bold"/>
                <a:sym typeface="Quicksand Bold"/>
              </a:rPr>
              <a:t>mesin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pencari</a:t>
            </a:r>
            <a:r>
              <a:rPr lang="en-US" sz="2100" b="1" dirty="0">
                <a:solidFill>
                  <a:srgbClr val="000000"/>
                </a:solidFill>
                <a:latin typeface="Quicksand Bold"/>
                <a:ea typeface="Quicksand Bold"/>
                <a:cs typeface="Quicksand Bold"/>
                <a:sym typeface="Quicksand Bold"/>
              </a:rPr>
              <a:t> dan </a:t>
            </a:r>
            <a:r>
              <a:rPr lang="en-US" sz="2100" b="1" dirty="0" err="1">
                <a:solidFill>
                  <a:srgbClr val="000000"/>
                </a:solidFill>
                <a:latin typeface="Quicksand Bold"/>
                <a:ea typeface="Quicksand Bold"/>
                <a:cs typeface="Quicksand Bold"/>
                <a:sym typeface="Quicksand Bold"/>
              </a:rPr>
              <a:t>menjangkau</a:t>
            </a:r>
            <a:r>
              <a:rPr lang="en-US" sz="2100" b="1" dirty="0">
                <a:solidFill>
                  <a:srgbClr val="000000"/>
                </a:solidFill>
                <a:latin typeface="Quicksand Bold"/>
                <a:ea typeface="Quicksand Bold"/>
                <a:cs typeface="Quicksand Bold"/>
                <a:sym typeface="Quicksand Bold"/>
              </a:rPr>
              <a:t> pasar </a:t>
            </a:r>
            <a:r>
              <a:rPr lang="en-US" sz="2100" b="1" dirty="0" err="1">
                <a:solidFill>
                  <a:srgbClr val="000000"/>
                </a:solidFill>
                <a:latin typeface="Quicksand Bold"/>
                <a:ea typeface="Quicksand Bold"/>
                <a:cs typeface="Quicksand Bold"/>
                <a:sym typeface="Quicksand Bold"/>
              </a:rPr>
              <a:t>lebih</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luas</a:t>
            </a:r>
            <a:r>
              <a:rPr lang="en-US" sz="2100" b="1" dirty="0">
                <a:solidFill>
                  <a:srgbClr val="000000"/>
                </a:solidFill>
                <a:latin typeface="Quicksand Bold"/>
                <a:ea typeface="Quicksand Bold"/>
                <a:cs typeface="Quicksand Bold"/>
                <a:sym typeface="Quicksand Bold"/>
              </a:rPr>
              <a:t>.</a:t>
            </a:r>
          </a:p>
        </p:txBody>
      </p:sp>
      <p:sp>
        <p:nvSpPr>
          <p:cNvPr id="5" name="TextBox 5"/>
          <p:cNvSpPr txBox="1"/>
          <p:nvPr/>
        </p:nvSpPr>
        <p:spPr>
          <a:xfrm>
            <a:off x="2257863" y="5608331"/>
            <a:ext cx="13772275" cy="1693284"/>
          </a:xfrm>
          <a:prstGeom prst="rect">
            <a:avLst/>
          </a:prstGeom>
        </p:spPr>
        <p:txBody>
          <a:bodyPr lIns="0" tIns="0" rIns="0" bIns="0" rtlCol="0" anchor="t">
            <a:spAutoFit/>
          </a:bodyPr>
          <a:lstStyle/>
          <a:p>
            <a:pPr algn="just">
              <a:lnSpc>
                <a:spcPts val="3899"/>
              </a:lnSpc>
            </a:pPr>
            <a:r>
              <a:rPr lang="en-US" sz="2599" b="1" dirty="0" err="1">
                <a:solidFill>
                  <a:srgbClr val="000000"/>
                </a:solidFill>
                <a:latin typeface="Quicksand Bold"/>
                <a:ea typeface="Quicksand Bold"/>
                <a:cs typeface="Quicksand Bold"/>
                <a:sym typeface="Quicksand Bold"/>
              </a:rPr>
              <a:t>Layanan</a:t>
            </a:r>
            <a:r>
              <a:rPr lang="en-US" sz="2599" b="1" dirty="0">
                <a:solidFill>
                  <a:srgbClr val="000000"/>
                </a:solidFill>
                <a:latin typeface="Quicksand Bold"/>
                <a:ea typeface="Quicksand Bold"/>
                <a:cs typeface="Quicksand Bold"/>
                <a:sym typeface="Quicksand Bold"/>
              </a:rPr>
              <a:t> </a:t>
            </a:r>
            <a:r>
              <a:rPr lang="en-US" sz="2599" b="1" dirty="0" err="1">
                <a:solidFill>
                  <a:srgbClr val="000000"/>
                </a:solidFill>
                <a:latin typeface="Quicksand Bold"/>
                <a:ea typeface="Quicksand Bold"/>
                <a:cs typeface="Quicksand Bold"/>
                <a:sym typeface="Quicksand Bold"/>
              </a:rPr>
              <a:t>Konsumen</a:t>
            </a:r>
            <a:r>
              <a:rPr lang="en-US" sz="2599" b="1" dirty="0">
                <a:solidFill>
                  <a:srgbClr val="000000"/>
                </a:solidFill>
                <a:latin typeface="Quicksand Bold"/>
                <a:ea typeface="Quicksand Bold"/>
                <a:cs typeface="Quicksand Bold"/>
                <a:sym typeface="Quicksand Bold"/>
              </a:rPr>
              <a:t> &amp; </a:t>
            </a:r>
            <a:r>
              <a:rPr lang="en-US" sz="2599" b="1" dirty="0" err="1">
                <a:solidFill>
                  <a:srgbClr val="000000"/>
                </a:solidFill>
                <a:latin typeface="Quicksand Bold"/>
                <a:ea typeface="Quicksand Bold"/>
                <a:cs typeface="Quicksand Bold"/>
                <a:sym typeface="Quicksand Bold"/>
              </a:rPr>
              <a:t>Informasi</a:t>
            </a:r>
            <a:endParaRPr lang="en-US" sz="2599" b="1" dirty="0">
              <a:solidFill>
                <a:srgbClr val="000000"/>
              </a:solidFill>
              <a:latin typeface="Quicksand Bold"/>
              <a:ea typeface="Quicksand Bold"/>
              <a:cs typeface="Quicksand Bold"/>
              <a:sym typeface="Quicksand Bold"/>
            </a:endParaRPr>
          </a:p>
          <a:p>
            <a:pPr algn="just">
              <a:lnSpc>
                <a:spcPts val="3150"/>
              </a:lnSpc>
            </a:pPr>
            <a:r>
              <a:rPr lang="en-US" sz="2100" b="1" dirty="0">
                <a:solidFill>
                  <a:srgbClr val="000000"/>
                </a:solidFill>
                <a:latin typeface="Quicksand Bold"/>
                <a:ea typeface="Quicksand Bold"/>
                <a:cs typeface="Quicksand Bold"/>
                <a:sym typeface="Quicksand Bold"/>
              </a:rPr>
              <a:t>Website </a:t>
            </a:r>
            <a:r>
              <a:rPr lang="en-US" sz="2100" b="1" dirty="0" err="1">
                <a:solidFill>
                  <a:srgbClr val="000000"/>
                </a:solidFill>
                <a:latin typeface="Quicksand Bold"/>
                <a:ea typeface="Quicksand Bold"/>
                <a:cs typeface="Quicksand Bold"/>
                <a:sym typeface="Quicksand Bold"/>
              </a:rPr>
              <a:t>menyediakan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informasi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penting</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faq</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panduan</a:t>
            </a:r>
            <a:r>
              <a:rPr lang="en-US" sz="2100" b="1" dirty="0">
                <a:solidFill>
                  <a:srgbClr val="000000"/>
                </a:solidFill>
                <a:latin typeface="Quicksand Bold"/>
                <a:ea typeface="Quicksand Bold"/>
                <a:cs typeface="Quicksand Bold"/>
                <a:sym typeface="Quicksand Bold"/>
              </a:rPr>
              <a:t>, blog </a:t>
            </a:r>
            <a:r>
              <a:rPr lang="en-US" sz="2100" b="1" dirty="0" err="1">
                <a:solidFill>
                  <a:srgbClr val="000000"/>
                </a:solidFill>
                <a:latin typeface="Quicksand Bold"/>
                <a:ea typeface="Quicksand Bold"/>
                <a:cs typeface="Quicksand Bold"/>
                <a:sym typeface="Quicksand Bold"/>
              </a:rPr>
              <a:t>edukasi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serta</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saluran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komunikasi</a:t>
            </a:r>
            <a:r>
              <a:rPr lang="en-US" sz="2100" b="1" dirty="0">
                <a:solidFill>
                  <a:srgbClr val="000000"/>
                </a:solidFill>
                <a:latin typeface="Quicksand Bold"/>
                <a:ea typeface="Quicksand Bold"/>
                <a:cs typeface="Quicksand Bold"/>
                <a:sym typeface="Quicksand Bold"/>
              </a:rPr>
              <a:t> (form </a:t>
            </a:r>
            <a:r>
              <a:rPr lang="en-US" sz="2100" b="1" dirty="0" err="1">
                <a:solidFill>
                  <a:srgbClr val="000000"/>
                </a:solidFill>
                <a:latin typeface="Quicksand Bold"/>
                <a:ea typeface="Quicksand Bold"/>
                <a:cs typeface="Quicksand Bold"/>
                <a:sym typeface="Quicksand Bold"/>
              </a:rPr>
              <a:t>kontak</a:t>
            </a:r>
            <a:r>
              <a:rPr lang="en-US" sz="2100" b="1" dirty="0">
                <a:solidFill>
                  <a:srgbClr val="000000"/>
                </a:solidFill>
                <a:latin typeface="Quicksand Bold"/>
                <a:ea typeface="Quicksand Bold"/>
                <a:cs typeface="Quicksand Bold"/>
                <a:sym typeface="Quicksand Bold"/>
              </a:rPr>
              <a:t>, live chat, </a:t>
            </a:r>
            <a:r>
              <a:rPr lang="en-US" sz="2100" b="1" dirty="0" err="1">
                <a:solidFill>
                  <a:srgbClr val="000000"/>
                </a:solidFill>
                <a:latin typeface="Quicksand Bold"/>
                <a:ea typeface="Quicksand Bold"/>
                <a:cs typeface="Quicksand Bold"/>
                <a:sym typeface="Quicksand Bold"/>
              </a:rPr>
              <a:t>alamat</a:t>
            </a:r>
            <a:r>
              <a:rPr lang="en-US" sz="2100" b="1" dirty="0">
                <a:solidFill>
                  <a:srgbClr val="000000"/>
                </a:solidFill>
                <a:latin typeface="Quicksand Bold"/>
                <a:ea typeface="Quicksand Bold"/>
                <a:cs typeface="Quicksand Bold"/>
                <a:sym typeface="Quicksand Bold"/>
              </a:rPr>
              <a:t> email) </a:t>
            </a:r>
            <a:r>
              <a:rPr lang="en-US" sz="2100" b="1" dirty="0" err="1">
                <a:solidFill>
                  <a:srgbClr val="000000"/>
                </a:solidFill>
                <a:latin typeface="Quicksand Bold"/>
                <a:ea typeface="Quicksand Bold"/>
                <a:cs typeface="Quicksand Bold"/>
                <a:sym typeface="Quicksand Bold"/>
              </a:rPr>
              <a:t>untuk</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mendukung</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konsumen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Keberadaan</a:t>
            </a:r>
            <a:r>
              <a:rPr lang="en-US" sz="2100" b="1" dirty="0">
                <a:solidFill>
                  <a:srgbClr val="000000"/>
                </a:solidFill>
                <a:latin typeface="Quicksand Bold"/>
                <a:ea typeface="Quicksand Bold"/>
                <a:cs typeface="Quicksand Bold"/>
                <a:sym typeface="Quicksand Bold"/>
              </a:rPr>
              <a:t> channel </a:t>
            </a:r>
            <a:r>
              <a:rPr lang="en-US" sz="2100" b="1" dirty="0" err="1">
                <a:solidFill>
                  <a:srgbClr val="000000"/>
                </a:solidFill>
                <a:latin typeface="Quicksand Bold"/>
                <a:ea typeface="Quicksand Bold"/>
                <a:cs typeface="Quicksand Bold"/>
                <a:sym typeface="Quicksand Bold"/>
              </a:rPr>
              <a:t>resmi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ini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mempermudah</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pelanggan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mengakses</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layanan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atau</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dukungan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kapan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saja</a:t>
            </a:r>
            <a:r>
              <a:rPr lang="en-US" sz="2100" b="1" dirty="0">
                <a:solidFill>
                  <a:srgbClr val="000000"/>
                </a:solidFill>
                <a:latin typeface="Quicksand Bold"/>
                <a:ea typeface="Quicksand Bold"/>
                <a:cs typeface="Quicksand Bold"/>
                <a:sym typeface="Quicksand Bold"/>
              </a:rPr>
              <a:t>. </a:t>
            </a:r>
          </a:p>
        </p:txBody>
      </p:sp>
      <p:sp>
        <p:nvSpPr>
          <p:cNvPr id="6" name="TextBox 6"/>
          <p:cNvSpPr txBox="1"/>
          <p:nvPr/>
        </p:nvSpPr>
        <p:spPr>
          <a:xfrm>
            <a:off x="2257863" y="7719070"/>
            <a:ext cx="13772275" cy="1672590"/>
          </a:xfrm>
          <a:prstGeom prst="rect">
            <a:avLst/>
          </a:prstGeom>
        </p:spPr>
        <p:txBody>
          <a:bodyPr lIns="0" tIns="0" rIns="0" bIns="0" rtlCol="0" anchor="t">
            <a:spAutoFit/>
          </a:bodyPr>
          <a:lstStyle/>
          <a:p>
            <a:pPr algn="just">
              <a:lnSpc>
                <a:spcPts val="3899"/>
              </a:lnSpc>
            </a:pPr>
            <a:r>
              <a:rPr lang="en-US" sz="2599" b="1">
                <a:solidFill>
                  <a:srgbClr val="000000"/>
                </a:solidFill>
                <a:latin typeface="Quicksand Bold"/>
                <a:ea typeface="Quicksand Bold"/>
                <a:cs typeface="Quicksand Bold"/>
                <a:sym typeface="Quicksand Bold"/>
              </a:rPr>
              <a:t>Data &amp; Analitik</a:t>
            </a:r>
          </a:p>
          <a:p>
            <a:pPr algn="just">
              <a:lnSpc>
                <a:spcPts val="3150"/>
              </a:lnSpc>
            </a:pPr>
            <a:r>
              <a:rPr lang="en-US" sz="2100" b="1">
                <a:solidFill>
                  <a:srgbClr val="000000"/>
                </a:solidFill>
                <a:latin typeface="Quicksand Bold"/>
                <a:ea typeface="Quicksand Bold"/>
                <a:cs typeface="Quicksand Bold"/>
                <a:sym typeface="Quicksand Bold"/>
              </a:rPr>
              <a:t>Setiap kunjungan ke website dapat dicatat (perilaku pengguna, halaman yang dilihat, interaksi). Informasi ini berguna untuk menganalisis kebutuhan dan preferensi konsumen agar strategi pemasaran lebih tepat sasaran.</a:t>
            </a:r>
          </a:p>
        </p:txBody>
      </p:sp>
      <p:sp>
        <p:nvSpPr>
          <p:cNvPr id="7" name="Freeform 7"/>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TextBox 2"/>
          <p:cNvSpPr txBox="1"/>
          <p:nvPr/>
        </p:nvSpPr>
        <p:spPr>
          <a:xfrm>
            <a:off x="2257863" y="1910726"/>
            <a:ext cx="13772275" cy="1693284"/>
          </a:xfrm>
          <a:prstGeom prst="rect">
            <a:avLst/>
          </a:prstGeom>
        </p:spPr>
        <p:txBody>
          <a:bodyPr lIns="0" tIns="0" rIns="0" bIns="0" rtlCol="0" anchor="t">
            <a:spAutoFit/>
          </a:bodyPr>
          <a:lstStyle/>
          <a:p>
            <a:pPr algn="just">
              <a:lnSpc>
                <a:spcPts val="3899"/>
              </a:lnSpc>
            </a:pPr>
            <a:r>
              <a:rPr lang="en-US" sz="2599" b="1" dirty="0" err="1">
                <a:solidFill>
                  <a:srgbClr val="000000"/>
                </a:solidFill>
                <a:latin typeface="Quicksand Bold"/>
                <a:ea typeface="Quicksand Bold"/>
                <a:cs typeface="Quicksand Bold"/>
                <a:sym typeface="Quicksand Bold"/>
              </a:rPr>
              <a:t>Responsif</a:t>
            </a:r>
            <a:r>
              <a:rPr lang="en-US" sz="2599" b="1" dirty="0">
                <a:solidFill>
                  <a:srgbClr val="000000"/>
                </a:solidFill>
                <a:latin typeface="Quicksand Bold"/>
                <a:ea typeface="Quicksand Bold"/>
                <a:cs typeface="Quicksand Bold"/>
                <a:sym typeface="Quicksand Bold"/>
              </a:rPr>
              <a:t> &amp; User-Friendly</a:t>
            </a:r>
          </a:p>
          <a:p>
            <a:pPr algn="just">
              <a:lnSpc>
                <a:spcPts val="3150"/>
              </a:lnSpc>
            </a:pPr>
            <a:r>
              <a:rPr lang="en-US" sz="2100" b="1" dirty="0">
                <a:solidFill>
                  <a:srgbClr val="000000"/>
                </a:solidFill>
                <a:latin typeface="Quicksand Bold"/>
                <a:ea typeface="Quicksand Bold"/>
                <a:cs typeface="Quicksand Bold"/>
                <a:sym typeface="Quicksand Bold"/>
              </a:rPr>
              <a:t>Desain </a:t>
            </a:r>
            <a:r>
              <a:rPr lang="en-US" sz="2100" b="1" dirty="0" err="1">
                <a:solidFill>
                  <a:srgbClr val="000000"/>
                </a:solidFill>
                <a:latin typeface="Quicksand Bold"/>
                <a:ea typeface="Quicksand Bold"/>
                <a:cs typeface="Quicksand Bold"/>
                <a:sym typeface="Quicksand Bold"/>
              </a:rPr>
              <a:t>harus</a:t>
            </a:r>
            <a:r>
              <a:rPr lang="en-US" sz="2100" b="1" dirty="0">
                <a:solidFill>
                  <a:srgbClr val="000000"/>
                </a:solidFill>
                <a:latin typeface="Quicksand Bold"/>
                <a:ea typeface="Quicksand Bold"/>
                <a:cs typeface="Quicksand Bold"/>
                <a:sym typeface="Quicksand Bold"/>
              </a:rPr>
              <a:t> mobile-friendly dan </a:t>
            </a:r>
            <a:r>
              <a:rPr lang="en-US" sz="2100" b="1" dirty="0" err="1">
                <a:solidFill>
                  <a:srgbClr val="000000"/>
                </a:solidFill>
                <a:latin typeface="Quicksand Bold"/>
                <a:ea typeface="Quicksand Bold"/>
                <a:cs typeface="Quicksand Bold"/>
                <a:sym typeface="Quicksand Bold"/>
              </a:rPr>
              <a:t>intuitif</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Navigasi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sederhana</a:t>
            </a:r>
            <a:r>
              <a:rPr lang="en-US" sz="2100" b="1" dirty="0">
                <a:solidFill>
                  <a:srgbClr val="000000"/>
                </a:solidFill>
                <a:latin typeface="Quicksand Bold"/>
                <a:ea typeface="Quicksand Bold"/>
                <a:cs typeface="Quicksand Bold"/>
                <a:sym typeface="Quicksand Bold"/>
              </a:rPr>
              <a:t> (menu </a:t>
            </a:r>
            <a:r>
              <a:rPr lang="en-US" sz="2100" b="1" dirty="0" err="1">
                <a:solidFill>
                  <a:srgbClr val="000000"/>
                </a:solidFill>
                <a:latin typeface="Quicksand Bold"/>
                <a:ea typeface="Quicksand Bold"/>
                <a:cs typeface="Quicksand Bold"/>
                <a:sym typeface="Quicksand Bold"/>
              </a:rPr>
              <a:t>jelas</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tombol</a:t>
            </a:r>
            <a:r>
              <a:rPr lang="en-US" sz="2100" b="1" dirty="0">
                <a:solidFill>
                  <a:srgbClr val="000000"/>
                </a:solidFill>
                <a:latin typeface="Quicksand Bold"/>
                <a:ea typeface="Quicksand Bold"/>
                <a:cs typeface="Quicksand Bold"/>
                <a:sym typeface="Quicksand Bold"/>
              </a:rPr>
              <a:t> Call-to-Action </a:t>
            </a:r>
            <a:r>
              <a:rPr lang="en-US" sz="2100" b="1" dirty="0" err="1">
                <a:solidFill>
                  <a:srgbClr val="000000"/>
                </a:solidFill>
                <a:latin typeface="Quicksand Bold"/>
                <a:ea typeface="Quicksand Bold"/>
                <a:cs typeface="Quicksand Bold"/>
                <a:sym typeface="Quicksand Bold"/>
              </a:rPr>
              <a:t>mencolok</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meningkatkan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pengalaman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pengguna</a:t>
            </a:r>
            <a:r>
              <a:rPr lang="en-US" sz="2100" b="1" dirty="0">
                <a:solidFill>
                  <a:srgbClr val="000000"/>
                </a:solidFill>
                <a:latin typeface="Quicksand Bold"/>
                <a:ea typeface="Quicksand Bold"/>
                <a:cs typeface="Quicksand Bold"/>
                <a:sym typeface="Quicksand Bold"/>
              </a:rPr>
              <a:t> dan </a:t>
            </a:r>
            <a:r>
              <a:rPr lang="en-US" sz="2100" b="1" dirty="0" err="1">
                <a:solidFill>
                  <a:srgbClr val="000000"/>
                </a:solidFill>
                <a:latin typeface="Quicksand Bold"/>
                <a:ea typeface="Quicksand Bold"/>
                <a:cs typeface="Quicksand Bold"/>
                <a:sym typeface="Quicksand Bold"/>
              </a:rPr>
              <a:t>konversi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Misalnya</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tombol</a:t>
            </a:r>
            <a:r>
              <a:rPr lang="en-US" sz="2100" b="1" dirty="0">
                <a:solidFill>
                  <a:srgbClr val="000000"/>
                </a:solidFill>
                <a:latin typeface="Quicksand Bold"/>
                <a:ea typeface="Quicksand Bold"/>
                <a:cs typeface="Quicksand Bold"/>
                <a:sym typeface="Quicksand Bold"/>
              </a:rPr>
              <a:t> “Beli </a:t>
            </a:r>
            <a:r>
              <a:rPr lang="en-US" sz="2100" b="1" dirty="0" err="1">
                <a:solidFill>
                  <a:srgbClr val="000000"/>
                </a:solidFill>
                <a:latin typeface="Quicksand Bold"/>
                <a:ea typeface="Quicksand Bold"/>
                <a:cs typeface="Quicksand Bold"/>
                <a:sym typeface="Quicksand Bold"/>
              </a:rPr>
              <a:t>Sekarang</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atau</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Hubungi</a:t>
            </a:r>
            <a:r>
              <a:rPr lang="en-US" sz="2100" b="1" dirty="0">
                <a:solidFill>
                  <a:srgbClr val="000000"/>
                </a:solidFill>
                <a:latin typeface="Quicksand Bold"/>
                <a:ea typeface="Quicksand Bold"/>
                <a:cs typeface="Quicksand Bold"/>
                <a:sym typeface="Quicksand Bold"/>
              </a:rPr>
              <a:t> Kami” yang </a:t>
            </a:r>
            <a:r>
              <a:rPr lang="en-US" sz="2100" b="1" dirty="0" err="1">
                <a:solidFill>
                  <a:srgbClr val="000000"/>
                </a:solidFill>
                <a:latin typeface="Quicksand Bold"/>
                <a:ea typeface="Quicksand Bold"/>
                <a:cs typeface="Quicksand Bold"/>
                <a:sym typeface="Quicksand Bold"/>
              </a:rPr>
              <a:t>mudah</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dijangkau</a:t>
            </a:r>
            <a:r>
              <a:rPr lang="en-US" sz="2100" b="1" dirty="0">
                <a:solidFill>
                  <a:srgbClr val="000000"/>
                </a:solidFill>
                <a:latin typeface="Quicksand Bold"/>
                <a:ea typeface="Quicksand Bold"/>
                <a:cs typeface="Quicksand Bold"/>
                <a:sym typeface="Quicksand Bold"/>
              </a:rPr>
              <a:t>. </a:t>
            </a:r>
          </a:p>
        </p:txBody>
      </p:sp>
      <p:sp>
        <p:nvSpPr>
          <p:cNvPr id="3" name="TextBox 3"/>
          <p:cNvSpPr txBox="1"/>
          <p:nvPr/>
        </p:nvSpPr>
        <p:spPr>
          <a:xfrm>
            <a:off x="1028700" y="716900"/>
            <a:ext cx="16230600" cy="811529"/>
          </a:xfrm>
          <a:prstGeom prst="rect">
            <a:avLst/>
          </a:prstGeom>
        </p:spPr>
        <p:txBody>
          <a:bodyPr lIns="0" tIns="0" rIns="0" bIns="0" rtlCol="0" anchor="t">
            <a:spAutoFit/>
          </a:bodyPr>
          <a:lstStyle/>
          <a:p>
            <a:pPr algn="ctr">
              <a:lnSpc>
                <a:spcPts val="6720"/>
              </a:lnSpc>
            </a:pPr>
            <a:r>
              <a:rPr lang="en-US" sz="4800" b="1">
                <a:solidFill>
                  <a:srgbClr val="000000"/>
                </a:solidFill>
                <a:latin typeface="Quicksand Bold"/>
                <a:ea typeface="Quicksand Bold"/>
                <a:cs typeface="Quicksand Bold"/>
                <a:sym typeface="Quicksand Bold"/>
              </a:rPr>
              <a:t>Merancang Website Efektif</a:t>
            </a:r>
          </a:p>
        </p:txBody>
      </p:sp>
      <p:sp>
        <p:nvSpPr>
          <p:cNvPr id="4" name="TextBox 4"/>
          <p:cNvSpPr txBox="1"/>
          <p:nvPr/>
        </p:nvSpPr>
        <p:spPr>
          <a:xfrm>
            <a:off x="2257863" y="3997005"/>
            <a:ext cx="13772275" cy="1693284"/>
          </a:xfrm>
          <a:prstGeom prst="rect">
            <a:avLst/>
          </a:prstGeom>
        </p:spPr>
        <p:txBody>
          <a:bodyPr lIns="0" tIns="0" rIns="0" bIns="0" rtlCol="0" anchor="t">
            <a:spAutoFit/>
          </a:bodyPr>
          <a:lstStyle/>
          <a:p>
            <a:pPr algn="just">
              <a:lnSpc>
                <a:spcPts val="3899"/>
              </a:lnSpc>
            </a:pPr>
            <a:r>
              <a:rPr lang="en-US" sz="2599" b="1" dirty="0" err="1">
                <a:solidFill>
                  <a:srgbClr val="000000"/>
                </a:solidFill>
                <a:latin typeface="Quicksand Bold"/>
                <a:ea typeface="Quicksand Bold"/>
                <a:cs typeface="Quicksand Bold"/>
                <a:sym typeface="Quicksand Bold"/>
              </a:rPr>
              <a:t>Konten</a:t>
            </a:r>
            <a:r>
              <a:rPr lang="en-US" sz="2599" b="1" dirty="0">
                <a:solidFill>
                  <a:srgbClr val="000000"/>
                </a:solidFill>
                <a:latin typeface="Quicksand Bold"/>
                <a:ea typeface="Quicksand Bold"/>
                <a:cs typeface="Quicksand Bold"/>
                <a:sym typeface="Quicksand Bold"/>
              </a:rPr>
              <a:t> </a:t>
            </a:r>
            <a:r>
              <a:rPr lang="en-US" sz="2599" b="1" dirty="0" err="1">
                <a:solidFill>
                  <a:srgbClr val="000000"/>
                </a:solidFill>
                <a:latin typeface="Quicksand Bold"/>
                <a:ea typeface="Quicksand Bold"/>
                <a:cs typeface="Quicksand Bold"/>
                <a:sym typeface="Quicksand Bold"/>
              </a:rPr>
              <a:t>Relevan</a:t>
            </a:r>
            <a:r>
              <a:rPr lang="en-US" sz="2599" b="1" dirty="0">
                <a:solidFill>
                  <a:srgbClr val="000000"/>
                </a:solidFill>
                <a:latin typeface="Quicksand Bold"/>
                <a:ea typeface="Quicksand Bold"/>
                <a:cs typeface="Quicksand Bold"/>
                <a:sym typeface="Quicksand Bold"/>
              </a:rPr>
              <a:t> &amp; </a:t>
            </a:r>
            <a:r>
              <a:rPr lang="en-US" sz="2599" b="1" dirty="0" err="1">
                <a:solidFill>
                  <a:srgbClr val="000000"/>
                </a:solidFill>
                <a:latin typeface="Quicksand Bold"/>
                <a:ea typeface="Quicksand Bold"/>
                <a:cs typeface="Quicksand Bold"/>
                <a:sym typeface="Quicksand Bold"/>
              </a:rPr>
              <a:t>Berkualitas</a:t>
            </a:r>
            <a:endParaRPr lang="en-US" sz="2599" b="1" dirty="0">
              <a:solidFill>
                <a:srgbClr val="000000"/>
              </a:solidFill>
              <a:latin typeface="Quicksand Bold"/>
              <a:ea typeface="Quicksand Bold"/>
              <a:cs typeface="Quicksand Bold"/>
              <a:sym typeface="Quicksand Bold"/>
            </a:endParaRPr>
          </a:p>
          <a:p>
            <a:pPr algn="just">
              <a:lnSpc>
                <a:spcPts val="3150"/>
              </a:lnSpc>
            </a:pPr>
            <a:r>
              <a:rPr lang="en-US" sz="2100" b="1" dirty="0" err="1">
                <a:solidFill>
                  <a:srgbClr val="000000"/>
                </a:solidFill>
                <a:latin typeface="Quicksand Bold"/>
                <a:ea typeface="Quicksand Bold"/>
                <a:cs typeface="Quicksand Bold"/>
                <a:sym typeface="Quicksand Bold"/>
              </a:rPr>
              <a:t>Buat</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konten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teks</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gambar</a:t>
            </a:r>
            <a:r>
              <a:rPr lang="en-US" sz="2100" b="1" dirty="0">
                <a:solidFill>
                  <a:srgbClr val="000000"/>
                </a:solidFill>
                <a:latin typeface="Quicksand Bold"/>
                <a:ea typeface="Quicksand Bold"/>
                <a:cs typeface="Quicksand Bold"/>
                <a:sym typeface="Quicksand Bold"/>
              </a:rPr>
              <a:t>, video) yang </a:t>
            </a:r>
            <a:r>
              <a:rPr lang="en-US" sz="2100" b="1" dirty="0" err="1">
                <a:solidFill>
                  <a:srgbClr val="000000"/>
                </a:solidFill>
                <a:latin typeface="Quicksand Bold"/>
                <a:ea typeface="Quicksand Bold"/>
                <a:cs typeface="Quicksand Bold"/>
                <a:sym typeface="Quicksand Bold"/>
              </a:rPr>
              <a:t>sesuai</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dengan</a:t>
            </a:r>
            <a:r>
              <a:rPr lang="en-US" sz="2100" b="1" dirty="0">
                <a:solidFill>
                  <a:srgbClr val="000000"/>
                </a:solidFill>
                <a:latin typeface="Quicksand Bold"/>
                <a:ea typeface="Quicksand Bold"/>
                <a:cs typeface="Quicksand Bold"/>
                <a:sym typeface="Quicksand Bold"/>
              </a:rPr>
              <a:t> target </a:t>
            </a:r>
            <a:r>
              <a:rPr lang="en-US" sz="2100" b="1" dirty="0" err="1">
                <a:solidFill>
                  <a:srgbClr val="000000"/>
                </a:solidFill>
                <a:latin typeface="Quicksand Bold"/>
                <a:ea typeface="Quicksand Bold"/>
                <a:cs typeface="Quicksand Bold"/>
                <a:sym typeface="Quicksand Bold"/>
              </a:rPr>
              <a:t>konsumen</a:t>
            </a:r>
            <a:r>
              <a:rPr lang="en-US" sz="2100" b="1" dirty="0">
                <a:solidFill>
                  <a:srgbClr val="000000"/>
                </a:solidFill>
                <a:latin typeface="Quicksand Bold"/>
                <a:ea typeface="Quicksand Bold"/>
                <a:cs typeface="Quicksand Bold"/>
                <a:sym typeface="Quicksand Bold"/>
              </a:rPr>
              <a:t> – </a:t>
            </a:r>
            <a:r>
              <a:rPr lang="en-US" sz="2100" b="1" dirty="0" err="1">
                <a:solidFill>
                  <a:srgbClr val="000000"/>
                </a:solidFill>
                <a:latin typeface="Quicksand Bold"/>
                <a:ea typeface="Quicksand Bold"/>
                <a:cs typeface="Quicksand Bold"/>
                <a:sym typeface="Quicksand Bold"/>
              </a:rPr>
              <a:t>informatif</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menarik</a:t>
            </a:r>
            <a:r>
              <a:rPr lang="en-US" sz="2100" b="1" dirty="0">
                <a:solidFill>
                  <a:srgbClr val="000000"/>
                </a:solidFill>
                <a:latin typeface="Quicksand Bold"/>
                <a:ea typeface="Quicksand Bold"/>
                <a:cs typeface="Quicksand Bold"/>
                <a:sym typeface="Quicksand Bold"/>
              </a:rPr>
              <a:t>, dan </a:t>
            </a:r>
            <a:r>
              <a:rPr lang="en-US" sz="2100" b="1" dirty="0" err="1">
                <a:solidFill>
                  <a:srgbClr val="000000"/>
                </a:solidFill>
                <a:latin typeface="Quicksand Bold"/>
                <a:ea typeface="Quicksand Bold"/>
                <a:cs typeface="Quicksand Bold"/>
                <a:sym typeface="Quicksand Bold"/>
              </a:rPr>
              <a:t>bermanfaat</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Konten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berkualitas</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menarik</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pengunjung</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kembali</a:t>
            </a:r>
            <a:r>
              <a:rPr lang="en-US" sz="2100" b="1" dirty="0">
                <a:solidFill>
                  <a:srgbClr val="000000"/>
                </a:solidFill>
                <a:latin typeface="Quicksand Bold"/>
                <a:ea typeface="Quicksand Bold"/>
                <a:cs typeface="Quicksand Bold"/>
                <a:sym typeface="Quicksand Bold"/>
              </a:rPr>
              <a:t> dan </a:t>
            </a:r>
            <a:r>
              <a:rPr lang="en-US" sz="2100" b="1" dirty="0" err="1">
                <a:solidFill>
                  <a:srgbClr val="000000"/>
                </a:solidFill>
                <a:latin typeface="Quicksand Bold"/>
                <a:ea typeface="Quicksand Bold"/>
                <a:cs typeface="Quicksand Bold"/>
                <a:sym typeface="Quicksand Bold"/>
              </a:rPr>
              <a:t>membangun</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kepercayaan</a:t>
            </a:r>
            <a:r>
              <a:rPr lang="en-US" sz="2100" b="1" dirty="0">
                <a:solidFill>
                  <a:srgbClr val="000000"/>
                </a:solidFill>
                <a:latin typeface="Quicksand Bold"/>
                <a:ea typeface="Quicksand Bold"/>
                <a:cs typeface="Quicksand Bold"/>
                <a:sym typeface="Quicksand Bold"/>
              </a:rPr>
              <a:t> brand. </a:t>
            </a:r>
            <a:r>
              <a:rPr lang="en-US" sz="2100" b="1" dirty="0" err="1">
                <a:solidFill>
                  <a:srgbClr val="000000"/>
                </a:solidFill>
                <a:latin typeface="Quicksand Bold"/>
                <a:ea typeface="Quicksand Bold"/>
                <a:cs typeface="Quicksand Bold"/>
                <a:sym typeface="Quicksand Bold"/>
              </a:rPr>
              <a:t>Optimasi</a:t>
            </a:r>
            <a:r>
              <a:rPr lang="en-US" sz="2100" b="1" dirty="0">
                <a:solidFill>
                  <a:srgbClr val="000000"/>
                </a:solidFill>
                <a:latin typeface="Quicksand Bold"/>
                <a:ea typeface="Quicksand Bold"/>
                <a:cs typeface="Quicksand Bold"/>
                <a:sym typeface="Quicksand Bold"/>
              </a:rPr>
              <a:t> SEO (keyword, meta tag) </a:t>
            </a:r>
            <a:r>
              <a:rPr lang="en-US" sz="2100" b="1" dirty="0" err="1">
                <a:solidFill>
                  <a:srgbClr val="000000"/>
                </a:solidFill>
                <a:latin typeface="Quicksand Bold"/>
                <a:ea typeface="Quicksand Bold"/>
                <a:cs typeface="Quicksand Bold"/>
                <a:sym typeface="Quicksand Bold"/>
              </a:rPr>
              <a:t>penting</a:t>
            </a:r>
            <a:r>
              <a:rPr lang="en-US" sz="2100" b="1" dirty="0">
                <a:solidFill>
                  <a:srgbClr val="000000"/>
                </a:solidFill>
                <a:latin typeface="Quicksand Bold"/>
                <a:ea typeface="Quicksand Bold"/>
                <a:cs typeface="Quicksand Bold"/>
                <a:sym typeface="Quicksand Bold"/>
              </a:rPr>
              <a:t> agar situs </a:t>
            </a:r>
            <a:r>
              <a:rPr lang="en-US" sz="2100" b="1" dirty="0" err="1">
                <a:solidFill>
                  <a:srgbClr val="000000"/>
                </a:solidFill>
                <a:latin typeface="Quicksand Bold"/>
                <a:ea typeface="Quicksand Bold"/>
                <a:cs typeface="Quicksand Bold"/>
                <a:sym typeface="Quicksand Bold"/>
              </a:rPr>
              <a:t>mudah</a:t>
            </a:r>
            <a:r>
              <a:rPr lang="en-US" sz="2100" b="1" dirty="0">
                <a:solidFill>
                  <a:srgbClr val="000000"/>
                </a:solidFill>
                <a:latin typeface="Quicksand Bold"/>
                <a:ea typeface="Quicksand Bold"/>
                <a:cs typeface="Quicksand Bold"/>
                <a:sym typeface="Quicksand Bold"/>
              </a:rPr>
              <a:t> </a:t>
            </a:r>
            <a:r>
              <a:rPr lang="en-US" sz="2100" b="1" dirty="0" err="1">
                <a:solidFill>
                  <a:srgbClr val="000000"/>
                </a:solidFill>
                <a:latin typeface="Quicksand Bold"/>
                <a:ea typeface="Quicksand Bold"/>
                <a:cs typeface="Quicksand Bold"/>
                <a:sym typeface="Quicksand Bold"/>
              </a:rPr>
              <a:t>ditemukan</a:t>
            </a:r>
            <a:r>
              <a:rPr lang="en-US" sz="2100" b="1" dirty="0">
                <a:solidFill>
                  <a:srgbClr val="000000"/>
                </a:solidFill>
                <a:latin typeface="Quicksand Bold"/>
                <a:ea typeface="Quicksand Bold"/>
                <a:cs typeface="Quicksand Bold"/>
                <a:sym typeface="Quicksand Bold"/>
              </a:rPr>
              <a:t>.</a:t>
            </a:r>
          </a:p>
        </p:txBody>
      </p:sp>
      <p:sp>
        <p:nvSpPr>
          <p:cNvPr id="5" name="TextBox 5"/>
          <p:cNvSpPr txBox="1"/>
          <p:nvPr/>
        </p:nvSpPr>
        <p:spPr>
          <a:xfrm>
            <a:off x="2257863" y="6079170"/>
            <a:ext cx="13772275" cy="1672590"/>
          </a:xfrm>
          <a:prstGeom prst="rect">
            <a:avLst/>
          </a:prstGeom>
        </p:spPr>
        <p:txBody>
          <a:bodyPr lIns="0" tIns="0" rIns="0" bIns="0" rtlCol="0" anchor="t">
            <a:spAutoFit/>
          </a:bodyPr>
          <a:lstStyle/>
          <a:p>
            <a:pPr algn="just">
              <a:lnSpc>
                <a:spcPts val="3899"/>
              </a:lnSpc>
            </a:pPr>
            <a:r>
              <a:rPr lang="en-US" sz="2599" b="1">
                <a:solidFill>
                  <a:srgbClr val="000000"/>
                </a:solidFill>
                <a:latin typeface="Quicksand Bold"/>
                <a:ea typeface="Quicksand Bold"/>
                <a:cs typeface="Quicksand Bold"/>
                <a:sym typeface="Quicksand Bold"/>
              </a:rPr>
              <a:t>Integrasi Saluran &amp; Interaksi</a:t>
            </a:r>
          </a:p>
          <a:p>
            <a:pPr algn="just">
              <a:lnSpc>
                <a:spcPts val="3150"/>
              </a:lnSpc>
            </a:pPr>
            <a:r>
              <a:rPr lang="en-US" sz="2100" b="1">
                <a:solidFill>
                  <a:srgbClr val="000000"/>
                </a:solidFill>
                <a:latin typeface="Quicksand Bold"/>
                <a:ea typeface="Quicksand Bold"/>
                <a:cs typeface="Quicksand Bold"/>
                <a:sym typeface="Quicksand Bold"/>
              </a:rPr>
              <a:t>Sisipkan link ke akun media sosial dan integrasikan formulir kontak atau fitur live chat. Misalnya, menautkan icon Instagram/Facebook, serta menyertakan form untuk pertanyaan atau newsletter. Kolaborasi dengan media sosial (share button) dapat mendatangkan trafik tambahan.</a:t>
            </a:r>
          </a:p>
        </p:txBody>
      </p:sp>
      <p:sp>
        <p:nvSpPr>
          <p:cNvPr id="6" name="TextBox 6"/>
          <p:cNvSpPr txBox="1"/>
          <p:nvPr/>
        </p:nvSpPr>
        <p:spPr>
          <a:xfrm>
            <a:off x="2257863" y="8161335"/>
            <a:ext cx="13772275" cy="1272540"/>
          </a:xfrm>
          <a:prstGeom prst="rect">
            <a:avLst/>
          </a:prstGeom>
        </p:spPr>
        <p:txBody>
          <a:bodyPr lIns="0" tIns="0" rIns="0" bIns="0" rtlCol="0" anchor="t">
            <a:spAutoFit/>
          </a:bodyPr>
          <a:lstStyle/>
          <a:p>
            <a:pPr algn="just">
              <a:lnSpc>
                <a:spcPts val="3899"/>
              </a:lnSpc>
            </a:pPr>
            <a:r>
              <a:rPr lang="en-US" sz="2599" b="1">
                <a:solidFill>
                  <a:srgbClr val="000000"/>
                </a:solidFill>
                <a:latin typeface="Quicksand Bold"/>
                <a:ea typeface="Quicksand Bold"/>
                <a:cs typeface="Quicksand Bold"/>
                <a:sym typeface="Quicksand Bold"/>
              </a:rPr>
              <a:t>Keamanan &amp; Kecepatan</a:t>
            </a:r>
          </a:p>
          <a:p>
            <a:pPr algn="just">
              <a:lnSpc>
                <a:spcPts val="3150"/>
              </a:lnSpc>
            </a:pPr>
            <a:r>
              <a:rPr lang="en-US" sz="2100" b="1">
                <a:solidFill>
                  <a:srgbClr val="000000"/>
                </a:solidFill>
                <a:latin typeface="Quicksand Bold"/>
                <a:ea typeface="Quicksand Bold"/>
                <a:cs typeface="Quicksand Bold"/>
                <a:sym typeface="Quicksand Bold"/>
              </a:rPr>
              <a:t>Gunakan protokol HTTPS dan optimalkan kecepatan loading. Website yang aman dan cepat meningkatkan kenyamanan pengguna. </a:t>
            </a:r>
          </a:p>
        </p:txBody>
      </p:sp>
      <p:sp>
        <p:nvSpPr>
          <p:cNvPr id="7" name="Freeform 7"/>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TextBox 2"/>
          <p:cNvSpPr txBox="1"/>
          <p:nvPr/>
        </p:nvSpPr>
        <p:spPr>
          <a:xfrm>
            <a:off x="1028700" y="580073"/>
            <a:ext cx="16230600" cy="811529"/>
          </a:xfrm>
          <a:prstGeom prst="rect">
            <a:avLst/>
          </a:prstGeom>
        </p:spPr>
        <p:txBody>
          <a:bodyPr lIns="0" tIns="0" rIns="0" bIns="0" rtlCol="0" anchor="t">
            <a:spAutoFit/>
          </a:bodyPr>
          <a:lstStyle/>
          <a:p>
            <a:pPr algn="ctr">
              <a:lnSpc>
                <a:spcPts val="6720"/>
              </a:lnSpc>
            </a:pPr>
            <a:r>
              <a:rPr lang="en-US" sz="4800" b="1">
                <a:solidFill>
                  <a:srgbClr val="000000"/>
                </a:solidFill>
                <a:latin typeface="Quicksand Bold"/>
                <a:ea typeface="Quicksand Bold"/>
                <a:cs typeface="Quicksand Bold"/>
                <a:sym typeface="Quicksand Bold"/>
              </a:rPr>
              <a:t>Contoh Kasus Perusahaan</a:t>
            </a:r>
          </a:p>
        </p:txBody>
      </p:sp>
      <p:grpSp>
        <p:nvGrpSpPr>
          <p:cNvPr id="3" name="Group 3"/>
          <p:cNvGrpSpPr/>
          <p:nvPr/>
        </p:nvGrpSpPr>
        <p:grpSpPr>
          <a:xfrm>
            <a:off x="1028700" y="1869882"/>
            <a:ext cx="16230600" cy="2466888"/>
            <a:chOff x="0" y="0"/>
            <a:chExt cx="4274726" cy="649715"/>
          </a:xfrm>
        </p:grpSpPr>
        <p:sp>
          <p:nvSpPr>
            <p:cNvPr id="4" name="Freeform 4"/>
            <p:cNvSpPr/>
            <p:nvPr/>
          </p:nvSpPr>
          <p:spPr>
            <a:xfrm>
              <a:off x="0" y="0"/>
              <a:ext cx="4274726" cy="649715"/>
            </a:xfrm>
            <a:custGeom>
              <a:avLst/>
              <a:gdLst/>
              <a:ahLst/>
              <a:cxnLst/>
              <a:rect l="l" t="t" r="r" b="b"/>
              <a:pathLst>
                <a:path w="4274726" h="649715">
                  <a:moveTo>
                    <a:pt x="24327" y="0"/>
                  </a:moveTo>
                  <a:lnTo>
                    <a:pt x="4250399" y="0"/>
                  </a:lnTo>
                  <a:cubicBezTo>
                    <a:pt x="4263834" y="0"/>
                    <a:pt x="4274726" y="10891"/>
                    <a:pt x="4274726" y="24327"/>
                  </a:cubicBezTo>
                  <a:lnTo>
                    <a:pt x="4274726" y="625388"/>
                  </a:lnTo>
                  <a:cubicBezTo>
                    <a:pt x="4274726" y="638824"/>
                    <a:pt x="4263834" y="649715"/>
                    <a:pt x="4250399" y="649715"/>
                  </a:cubicBezTo>
                  <a:lnTo>
                    <a:pt x="24327" y="649715"/>
                  </a:lnTo>
                  <a:cubicBezTo>
                    <a:pt x="10891" y="649715"/>
                    <a:pt x="0" y="638824"/>
                    <a:pt x="0" y="625388"/>
                  </a:cubicBezTo>
                  <a:lnTo>
                    <a:pt x="0" y="24327"/>
                  </a:lnTo>
                  <a:cubicBezTo>
                    <a:pt x="0" y="10891"/>
                    <a:pt x="10891" y="0"/>
                    <a:pt x="24327" y="0"/>
                  </a:cubicBezTo>
                  <a:close/>
                </a:path>
              </a:pathLst>
            </a:custGeom>
            <a:solidFill>
              <a:srgbClr val="EEEEEE"/>
            </a:solidFill>
            <a:ln w="28575" cap="rnd">
              <a:solidFill>
                <a:srgbClr val="000000"/>
              </a:solidFill>
              <a:prstDash val="solid"/>
              <a:round/>
            </a:ln>
          </p:spPr>
          <p:txBody>
            <a:bodyPr/>
            <a:lstStyle/>
            <a:p>
              <a:endParaRPr lang="en-ID"/>
            </a:p>
          </p:txBody>
        </p:sp>
        <p:sp>
          <p:nvSpPr>
            <p:cNvPr id="5" name="TextBox 5"/>
            <p:cNvSpPr txBox="1"/>
            <p:nvPr/>
          </p:nvSpPr>
          <p:spPr>
            <a:xfrm>
              <a:off x="0" y="-47625"/>
              <a:ext cx="4274726" cy="697340"/>
            </a:xfrm>
            <a:prstGeom prst="rect">
              <a:avLst/>
            </a:prstGeom>
          </p:spPr>
          <p:txBody>
            <a:bodyPr lIns="50800" tIns="50800" rIns="50800" bIns="50800" rtlCol="0" anchor="ctr"/>
            <a:lstStyle/>
            <a:p>
              <a:pPr algn="ctr">
                <a:lnSpc>
                  <a:spcPts val="2940"/>
                </a:lnSpc>
              </a:pPr>
              <a:endParaRPr/>
            </a:p>
          </p:txBody>
        </p:sp>
      </p:grpSp>
      <p:sp>
        <p:nvSpPr>
          <p:cNvPr id="6" name="TextBox 6"/>
          <p:cNvSpPr txBox="1"/>
          <p:nvPr/>
        </p:nvSpPr>
        <p:spPr>
          <a:xfrm>
            <a:off x="1597156" y="2228930"/>
            <a:ext cx="15093688" cy="1672590"/>
          </a:xfrm>
          <a:prstGeom prst="rect">
            <a:avLst/>
          </a:prstGeom>
        </p:spPr>
        <p:txBody>
          <a:bodyPr lIns="0" tIns="0" rIns="0" bIns="0" rtlCol="0" anchor="t">
            <a:spAutoFit/>
          </a:bodyPr>
          <a:lstStyle/>
          <a:p>
            <a:pPr algn="just">
              <a:lnSpc>
                <a:spcPts val="3899"/>
              </a:lnSpc>
            </a:pPr>
            <a:r>
              <a:rPr lang="en-US" sz="2599" b="1">
                <a:solidFill>
                  <a:srgbClr val="000000"/>
                </a:solidFill>
                <a:latin typeface="Quicksand Bold"/>
                <a:ea typeface="Quicksand Bold"/>
                <a:cs typeface="Quicksand Bold"/>
                <a:sym typeface="Quicksand Bold"/>
              </a:rPr>
              <a:t>PT Kian Ho Indonesia (suplier bearing &amp; segel)</a:t>
            </a:r>
          </a:p>
          <a:p>
            <a:pPr algn="just">
              <a:lnSpc>
                <a:spcPts val="3150"/>
              </a:lnSpc>
            </a:pPr>
            <a:r>
              <a:rPr lang="en-US" sz="2100" b="1">
                <a:solidFill>
                  <a:srgbClr val="000000"/>
                </a:solidFill>
                <a:latin typeface="Quicksand Bold"/>
                <a:ea typeface="Quicksand Bold"/>
                <a:cs typeface="Quicksand Bold"/>
                <a:sym typeface="Quicksand Bold"/>
              </a:rPr>
              <a:t>Situs resmi kianho.co.id menampilkan profil perusahaan dan portofolio produk bearing (misalnya merek IKO, NSK, INA) serta detail kontak anak perusahaan. Website ini menjadi saluran utama konsumen industri untuk mencari katalog produk dan distributor resmi. </a:t>
            </a:r>
          </a:p>
        </p:txBody>
      </p:sp>
      <p:grpSp>
        <p:nvGrpSpPr>
          <p:cNvPr id="7" name="Group 7"/>
          <p:cNvGrpSpPr/>
          <p:nvPr/>
        </p:nvGrpSpPr>
        <p:grpSpPr>
          <a:xfrm>
            <a:off x="1028700" y="4679669"/>
            <a:ext cx="16230600" cy="2466888"/>
            <a:chOff x="0" y="0"/>
            <a:chExt cx="4274726" cy="649715"/>
          </a:xfrm>
        </p:grpSpPr>
        <p:sp>
          <p:nvSpPr>
            <p:cNvPr id="8" name="Freeform 8"/>
            <p:cNvSpPr/>
            <p:nvPr/>
          </p:nvSpPr>
          <p:spPr>
            <a:xfrm>
              <a:off x="0" y="0"/>
              <a:ext cx="4274726" cy="649715"/>
            </a:xfrm>
            <a:custGeom>
              <a:avLst/>
              <a:gdLst/>
              <a:ahLst/>
              <a:cxnLst/>
              <a:rect l="l" t="t" r="r" b="b"/>
              <a:pathLst>
                <a:path w="4274726" h="649715">
                  <a:moveTo>
                    <a:pt x="24327" y="0"/>
                  </a:moveTo>
                  <a:lnTo>
                    <a:pt x="4250399" y="0"/>
                  </a:lnTo>
                  <a:cubicBezTo>
                    <a:pt x="4263834" y="0"/>
                    <a:pt x="4274726" y="10891"/>
                    <a:pt x="4274726" y="24327"/>
                  </a:cubicBezTo>
                  <a:lnTo>
                    <a:pt x="4274726" y="625388"/>
                  </a:lnTo>
                  <a:cubicBezTo>
                    <a:pt x="4274726" y="638824"/>
                    <a:pt x="4263834" y="649715"/>
                    <a:pt x="4250399" y="649715"/>
                  </a:cubicBezTo>
                  <a:lnTo>
                    <a:pt x="24327" y="649715"/>
                  </a:lnTo>
                  <a:cubicBezTo>
                    <a:pt x="10891" y="649715"/>
                    <a:pt x="0" y="638824"/>
                    <a:pt x="0" y="625388"/>
                  </a:cubicBezTo>
                  <a:lnTo>
                    <a:pt x="0" y="24327"/>
                  </a:lnTo>
                  <a:cubicBezTo>
                    <a:pt x="0" y="10891"/>
                    <a:pt x="10891" y="0"/>
                    <a:pt x="24327" y="0"/>
                  </a:cubicBezTo>
                  <a:close/>
                </a:path>
              </a:pathLst>
            </a:custGeom>
            <a:solidFill>
              <a:srgbClr val="EEEEEE"/>
            </a:solidFill>
            <a:ln w="28575" cap="rnd">
              <a:solidFill>
                <a:srgbClr val="000000"/>
              </a:solidFill>
              <a:prstDash val="solid"/>
              <a:round/>
            </a:ln>
          </p:spPr>
          <p:txBody>
            <a:bodyPr/>
            <a:lstStyle/>
            <a:p>
              <a:endParaRPr lang="en-ID"/>
            </a:p>
          </p:txBody>
        </p:sp>
        <p:sp>
          <p:nvSpPr>
            <p:cNvPr id="9" name="TextBox 9"/>
            <p:cNvSpPr txBox="1"/>
            <p:nvPr/>
          </p:nvSpPr>
          <p:spPr>
            <a:xfrm>
              <a:off x="0" y="-47625"/>
              <a:ext cx="4274726" cy="697340"/>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1597156" y="5038718"/>
            <a:ext cx="15093688" cy="1672590"/>
          </a:xfrm>
          <a:prstGeom prst="rect">
            <a:avLst/>
          </a:prstGeom>
        </p:spPr>
        <p:txBody>
          <a:bodyPr lIns="0" tIns="0" rIns="0" bIns="0" rtlCol="0" anchor="t">
            <a:spAutoFit/>
          </a:bodyPr>
          <a:lstStyle/>
          <a:p>
            <a:pPr algn="just">
              <a:lnSpc>
                <a:spcPts val="3899"/>
              </a:lnSpc>
            </a:pPr>
            <a:r>
              <a:rPr lang="en-US" sz="2599" b="1">
                <a:solidFill>
                  <a:srgbClr val="000000"/>
                </a:solidFill>
                <a:latin typeface="Quicksand Bold"/>
                <a:ea typeface="Quicksand Bold"/>
                <a:cs typeface="Quicksand Bold"/>
                <a:sym typeface="Quicksand Bold"/>
              </a:rPr>
              <a:t>PT Nestlé Indonesia</a:t>
            </a:r>
          </a:p>
          <a:p>
            <a:pPr algn="just">
              <a:lnSpc>
                <a:spcPts val="3150"/>
              </a:lnSpc>
            </a:pPr>
            <a:r>
              <a:rPr lang="en-US" sz="2100" b="1">
                <a:solidFill>
                  <a:srgbClr val="000000"/>
                </a:solidFill>
                <a:latin typeface="Quicksand Bold"/>
                <a:ea typeface="Quicksand Bold"/>
                <a:cs typeface="Quicksand Bold"/>
                <a:sym typeface="Quicksand Bold"/>
              </a:rPr>
              <a:t>Website resminya menyediakan halaman Kontak Kami, termasuk layanan Nestlé Consumer Services (telepon bebas pulsa 08001821028) dan formulir pengaduan online. Hal ini memudahkan konsumen memberikan pertanyaan, masukan, atau laporan kualitas produk secara langsung.</a:t>
            </a:r>
          </a:p>
        </p:txBody>
      </p:sp>
      <p:grpSp>
        <p:nvGrpSpPr>
          <p:cNvPr id="11" name="Group 11"/>
          <p:cNvGrpSpPr/>
          <p:nvPr/>
        </p:nvGrpSpPr>
        <p:grpSpPr>
          <a:xfrm>
            <a:off x="1028700" y="7489457"/>
            <a:ext cx="16230600" cy="2466888"/>
            <a:chOff x="0" y="0"/>
            <a:chExt cx="4274726" cy="649715"/>
          </a:xfrm>
        </p:grpSpPr>
        <p:sp>
          <p:nvSpPr>
            <p:cNvPr id="12" name="Freeform 12"/>
            <p:cNvSpPr/>
            <p:nvPr/>
          </p:nvSpPr>
          <p:spPr>
            <a:xfrm>
              <a:off x="0" y="0"/>
              <a:ext cx="4274726" cy="649715"/>
            </a:xfrm>
            <a:custGeom>
              <a:avLst/>
              <a:gdLst/>
              <a:ahLst/>
              <a:cxnLst/>
              <a:rect l="l" t="t" r="r" b="b"/>
              <a:pathLst>
                <a:path w="4274726" h="649715">
                  <a:moveTo>
                    <a:pt x="24327" y="0"/>
                  </a:moveTo>
                  <a:lnTo>
                    <a:pt x="4250399" y="0"/>
                  </a:lnTo>
                  <a:cubicBezTo>
                    <a:pt x="4263834" y="0"/>
                    <a:pt x="4274726" y="10891"/>
                    <a:pt x="4274726" y="24327"/>
                  </a:cubicBezTo>
                  <a:lnTo>
                    <a:pt x="4274726" y="625388"/>
                  </a:lnTo>
                  <a:cubicBezTo>
                    <a:pt x="4274726" y="638824"/>
                    <a:pt x="4263834" y="649715"/>
                    <a:pt x="4250399" y="649715"/>
                  </a:cubicBezTo>
                  <a:lnTo>
                    <a:pt x="24327" y="649715"/>
                  </a:lnTo>
                  <a:cubicBezTo>
                    <a:pt x="10891" y="649715"/>
                    <a:pt x="0" y="638824"/>
                    <a:pt x="0" y="625388"/>
                  </a:cubicBezTo>
                  <a:lnTo>
                    <a:pt x="0" y="24327"/>
                  </a:lnTo>
                  <a:cubicBezTo>
                    <a:pt x="0" y="10891"/>
                    <a:pt x="10891" y="0"/>
                    <a:pt x="24327" y="0"/>
                  </a:cubicBezTo>
                  <a:close/>
                </a:path>
              </a:pathLst>
            </a:custGeom>
            <a:solidFill>
              <a:srgbClr val="EEEEEE"/>
            </a:solidFill>
            <a:ln w="28575" cap="rnd">
              <a:solidFill>
                <a:srgbClr val="000000"/>
              </a:solidFill>
              <a:prstDash val="solid"/>
              <a:round/>
            </a:ln>
          </p:spPr>
          <p:txBody>
            <a:bodyPr/>
            <a:lstStyle/>
            <a:p>
              <a:endParaRPr lang="en-ID"/>
            </a:p>
          </p:txBody>
        </p:sp>
        <p:sp>
          <p:nvSpPr>
            <p:cNvPr id="13" name="TextBox 13"/>
            <p:cNvSpPr txBox="1"/>
            <p:nvPr/>
          </p:nvSpPr>
          <p:spPr>
            <a:xfrm>
              <a:off x="0" y="-47625"/>
              <a:ext cx="4274726" cy="697340"/>
            </a:xfrm>
            <a:prstGeom prst="rect">
              <a:avLst/>
            </a:prstGeom>
          </p:spPr>
          <p:txBody>
            <a:bodyPr lIns="50800" tIns="50800" rIns="50800" bIns="50800" rtlCol="0" anchor="ctr"/>
            <a:lstStyle/>
            <a:p>
              <a:pPr algn="ctr">
                <a:lnSpc>
                  <a:spcPts val="2940"/>
                </a:lnSpc>
              </a:pPr>
              <a:endParaRPr/>
            </a:p>
          </p:txBody>
        </p:sp>
      </p:grpSp>
      <p:sp>
        <p:nvSpPr>
          <p:cNvPr id="14" name="TextBox 14"/>
          <p:cNvSpPr txBox="1"/>
          <p:nvPr/>
        </p:nvSpPr>
        <p:spPr>
          <a:xfrm>
            <a:off x="1597156" y="7848505"/>
            <a:ext cx="15093688" cy="1672590"/>
          </a:xfrm>
          <a:prstGeom prst="rect">
            <a:avLst/>
          </a:prstGeom>
        </p:spPr>
        <p:txBody>
          <a:bodyPr lIns="0" tIns="0" rIns="0" bIns="0" rtlCol="0" anchor="t">
            <a:spAutoFit/>
          </a:bodyPr>
          <a:lstStyle/>
          <a:p>
            <a:pPr algn="just">
              <a:lnSpc>
                <a:spcPts val="3899"/>
              </a:lnSpc>
            </a:pPr>
            <a:r>
              <a:rPr lang="en-US" sz="2599" b="1">
                <a:solidFill>
                  <a:srgbClr val="000000"/>
                </a:solidFill>
                <a:latin typeface="Quicksand Bold"/>
                <a:ea typeface="Quicksand Bold"/>
                <a:cs typeface="Quicksand Bold"/>
                <a:sym typeface="Quicksand Bold"/>
              </a:rPr>
              <a:t>PT Unilever Indonesia</a:t>
            </a:r>
          </a:p>
          <a:p>
            <a:pPr algn="just">
              <a:lnSpc>
                <a:spcPts val="3150"/>
              </a:lnSpc>
            </a:pPr>
            <a:r>
              <a:rPr lang="en-US" sz="2100" b="1">
                <a:solidFill>
                  <a:srgbClr val="000000"/>
                </a:solidFill>
                <a:latin typeface="Quicksand Bold"/>
                <a:ea typeface="Quicksand Bold"/>
                <a:cs typeface="Quicksand Bold"/>
                <a:sym typeface="Quicksand Bold"/>
              </a:rPr>
              <a:t>Website unilever.co.id memiliki halaman Hubungi Kami dengan nomor Consumer Careline 0800-155-8000, email khusus konsumen (suara.konsumen@unilever.com), dan formulir kontak. Konsumen dapat mengajukan keluhan atau permintaan informasi melalui saluran resmi ini, memperkuat komunikasi dan layanan purnajual Unilever. </a:t>
            </a:r>
          </a:p>
        </p:txBody>
      </p:sp>
      <p:sp>
        <p:nvSpPr>
          <p:cNvPr id="15" name="Freeform 15"/>
          <p:cNvSpPr/>
          <p:nvPr/>
        </p:nvSpPr>
        <p:spPr>
          <a:xfrm>
            <a:off x="16419155" y="321513"/>
            <a:ext cx="1546940" cy="464082"/>
          </a:xfrm>
          <a:custGeom>
            <a:avLst/>
            <a:gdLst/>
            <a:ahLst/>
            <a:cxnLst/>
            <a:rect l="l" t="t" r="r" b="b"/>
            <a:pathLst>
              <a:path w="1546940" h="464082">
                <a:moveTo>
                  <a:pt x="0" y="0"/>
                </a:moveTo>
                <a:lnTo>
                  <a:pt x="1546940" y="0"/>
                </a:lnTo>
                <a:lnTo>
                  <a:pt x="1546940" y="464082"/>
                </a:lnTo>
                <a:lnTo>
                  <a:pt x="0" y="464082"/>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33333">
              <a:srgbClr val="EEEEEE">
                <a:alpha val="100000"/>
              </a:srgbClr>
            </a:gs>
            <a:gs pos="66667">
              <a:srgbClr val="EEEEEE">
                <a:alpha val="100000"/>
              </a:srgbClr>
            </a:gs>
            <a:gs pos="100000">
              <a:srgbClr val="000000">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7743270" y="4723281"/>
            <a:ext cx="2801460" cy="840438"/>
          </a:xfrm>
          <a:custGeom>
            <a:avLst/>
            <a:gdLst/>
            <a:ahLst/>
            <a:cxnLst/>
            <a:rect l="l" t="t" r="r" b="b"/>
            <a:pathLst>
              <a:path w="2801460" h="840438">
                <a:moveTo>
                  <a:pt x="0" y="0"/>
                </a:moveTo>
                <a:lnTo>
                  <a:pt x="2801460" y="0"/>
                </a:lnTo>
                <a:lnTo>
                  <a:pt x="2801460" y="840438"/>
                </a:lnTo>
                <a:lnTo>
                  <a:pt x="0" y="840438"/>
                </a:lnTo>
                <a:lnTo>
                  <a:pt x="0" y="0"/>
                </a:lnTo>
                <a:close/>
              </a:path>
            </a:pathLst>
          </a:custGeom>
          <a:blipFill>
            <a:blip r:embed="rId2"/>
            <a:stretch>
              <a:fillRect/>
            </a:stretch>
          </a:blipFill>
        </p:spPr>
        <p:txBody>
          <a:bodyPr/>
          <a:lstStyle/>
          <a:p>
            <a:endParaRPr lang="en-ID"/>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946</Words>
  <Application>Microsoft Office PowerPoint</Application>
  <PresentationFormat>Custom</PresentationFormat>
  <Paragraphs>47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Quicksand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TUGAS 9 CRM</dc:title>
  <cp:lastModifiedBy>Rama Pramudya</cp:lastModifiedBy>
  <cp:revision>6</cp:revision>
  <dcterms:created xsi:type="dcterms:W3CDTF">2006-08-16T00:00:00Z</dcterms:created>
  <dcterms:modified xsi:type="dcterms:W3CDTF">2025-05-17T09:32:34Z</dcterms:modified>
  <dc:identifier>DAGnr2-ZKTE</dc:identifier>
</cp:coreProperties>
</file>
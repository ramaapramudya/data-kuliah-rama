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%20KULIAH\TUGAS\(5)%20SEMESTER%205\(1)%20DATA%20MINING\5108\uts%20data%20min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DATA</c:v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  <a:effectLst/>
            </c:spPr>
          </c:marker>
          <c:val>
            <c:numRef>
              <c:f>Sheet1!$A$9:$A$23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61-4846-890D-BFA422511949}"/>
            </c:ext>
          </c:extLst>
        </c:ser>
        <c:ser>
          <c:idx val="1"/>
          <c:order val="1"/>
          <c:tx>
            <c:v>X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val>
            <c:numRef>
              <c:f>Sheet1!$B$9:$B$23</c:f>
              <c:numCache>
                <c:formatCode>General</c:formatCode>
                <c:ptCount val="15"/>
                <c:pt idx="0">
                  <c:v>6</c:v>
                </c:pt>
                <c:pt idx="1">
                  <c:v>8</c:v>
                </c:pt>
                <c:pt idx="2">
                  <c:v>5</c:v>
                </c:pt>
                <c:pt idx="3">
                  <c:v>6</c:v>
                </c:pt>
                <c:pt idx="4">
                  <c:v>3</c:v>
                </c:pt>
                <c:pt idx="5">
                  <c:v>4</c:v>
                </c:pt>
                <c:pt idx="6">
                  <c:v>7</c:v>
                </c:pt>
                <c:pt idx="7">
                  <c:v>2</c:v>
                </c:pt>
                <c:pt idx="8">
                  <c:v>10</c:v>
                </c:pt>
                <c:pt idx="9">
                  <c:v>5</c:v>
                </c:pt>
                <c:pt idx="10">
                  <c:v>9</c:v>
                </c:pt>
                <c:pt idx="11">
                  <c:v>8</c:v>
                </c:pt>
                <c:pt idx="12">
                  <c:v>2</c:v>
                </c:pt>
                <c:pt idx="13">
                  <c:v>4</c:v>
                </c:pt>
                <c:pt idx="1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61-4846-890D-BFA422511949}"/>
            </c:ext>
          </c:extLst>
        </c:ser>
        <c:ser>
          <c:idx val="2"/>
          <c:order val="2"/>
          <c:tx>
            <c:v>Y</c:v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val>
            <c:numRef>
              <c:f>Sheet1!$C$9:$C$23</c:f>
              <c:numCache>
                <c:formatCode>General</c:formatCode>
                <c:ptCount val="15"/>
                <c:pt idx="0">
                  <c:v>10</c:v>
                </c:pt>
                <c:pt idx="1">
                  <c:v>5</c:v>
                </c:pt>
                <c:pt idx="2">
                  <c:v>4</c:v>
                </c:pt>
                <c:pt idx="3">
                  <c:v>8</c:v>
                </c:pt>
                <c:pt idx="4">
                  <c:v>6</c:v>
                </c:pt>
                <c:pt idx="5">
                  <c:v>2</c:v>
                </c:pt>
                <c:pt idx="6">
                  <c:v>9</c:v>
                </c:pt>
                <c:pt idx="7">
                  <c:v>6</c:v>
                </c:pt>
                <c:pt idx="8">
                  <c:v>3</c:v>
                </c:pt>
                <c:pt idx="9">
                  <c:v>2</c:v>
                </c:pt>
                <c:pt idx="10">
                  <c:v>6</c:v>
                </c:pt>
                <c:pt idx="11">
                  <c:v>5</c:v>
                </c:pt>
                <c:pt idx="12">
                  <c:v>5</c:v>
                </c:pt>
                <c:pt idx="13">
                  <c:v>3</c:v>
                </c:pt>
                <c:pt idx="1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161-4846-890D-BFA422511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0772495"/>
        <c:axId val="1280767215"/>
      </c:lineChart>
      <c:catAx>
        <c:axId val="128077249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767215"/>
        <c:crosses val="autoZero"/>
        <c:auto val="1"/>
        <c:lblAlgn val="ctr"/>
        <c:lblOffset val="100"/>
        <c:noMultiLvlLbl val="0"/>
      </c:catAx>
      <c:valAx>
        <c:axId val="1280767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772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6DCDE-F56C-8F52-7CC4-33D0A1122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63E7C-C36B-ABB6-A1ED-EE7641D26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55E84-BFCC-4B94-7C7C-C12C9AE7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4890D-B100-B5F1-BC16-A1A1C578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A54C-90DB-8667-E2B0-492FBA11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4606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96A9-056F-3354-8C0F-D0D91DC0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B4DE7-95DF-8729-4599-0C69B6E83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F0037-92D3-ED16-D588-839F5E44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73C05-EC92-EDBF-013A-B273125C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A1C5C-2E9E-DA6F-0D4B-FED58E97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280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24A92-6D1C-6F96-D0EA-78F839A82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00D60-C6FA-4C71-565D-1EE8B1608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5334B-81A9-E5CD-4303-39EA348E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224C2-3CB8-45C7-D059-25C78F0B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DF46-551D-B7A3-AAC3-42624CE2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492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A5EB-6E8B-1D8B-90E4-FD72F58C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B2AE-92F0-0877-0844-32F4DD70F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1A021-0E67-7AE6-4D0F-3AA69D33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E4D23-B952-479B-BA9E-B9CAF209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85ED8-DBBF-5732-BEB4-B4CBC7694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22227-CB93-1D8B-4643-8C504795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285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0B11-5BD6-CE21-AF86-3360FA14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31CCF-8C8E-D01D-5B7C-207512729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2F554-D463-B5DA-F431-405282CE0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313B5-E99C-D002-215E-9511ABEB0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A8DD9F-C8C2-CDEF-E116-638C2358E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C46376-3DB0-A31A-A524-EDF6B12E1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2483EE-6DBA-94DC-1EAF-7FC82B38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46AE0-B452-6105-4D11-32901B6C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333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A764-3813-78A6-A93B-DCE6EA8DA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09174A-A140-B892-59BB-3AF07399F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129AF-E710-8C69-4218-42ED0323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8A47B-8008-2921-FD68-BEB74E48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783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7A21A-23C3-89C0-6D00-4B5B6415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98254A-B662-FCFB-84AD-A3EBB612F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9D735-B701-1C5D-B9A8-B7FBF96E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371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4726-9FB3-DBCF-24ED-68BAF4D95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972F9-6007-7A70-B9E8-DE3ADD5A1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DA9D5-E370-B245-B1F5-9F21B739B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A3C34-8EA8-DFD3-1C95-769633087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5CA59-7D35-08C7-E83C-CFF4CF22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CB58A-13B5-A78F-5AF6-37A175AF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801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9ACD7-FC53-8BA0-CC1F-C8CB363E3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ABFB0-7EED-4D62-0B9A-0DFFAFF8E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96FFA-B16F-1466-668F-3917C4EF5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67CFD-0102-7B79-F7F8-D39F1D241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A5F79-2DAC-9C5E-5122-E24D81CC4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09253-E376-6AA3-2B91-34DBFFF78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07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F87A-42E7-E7DB-5BBC-95F5B7E3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DF01A-C3E7-0F87-66A0-B37BF2783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6C0EE-C435-BAC3-58B0-E99DA72F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6FA08-CF45-7B2E-9F5D-6AEA84543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23AF4-D223-36B1-CCC9-F5A50706D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920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F32F8-C751-5C2F-D4AB-DA3A3A343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1B2BD-AC2C-28FB-C203-57288ACB5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B3FCF-2BEA-BD49-4917-367EE4DF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04DA6-EEB5-CA69-1A3D-5558965B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5D8AB-463E-8C4A-34EB-8524D9AEB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575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36AB1-465F-450E-0FD6-2FD1F17B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02490-9A63-7689-9B9A-3C0DAD7FB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7A636-E4FE-BA33-C6EC-CBD0303DC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9E0E8-B0F4-4578-966F-59A38514FE5D}" type="datetimeFigureOut">
              <a:rPr lang="en-ID" smtClean="0"/>
              <a:t>11/11/2024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04C3C-8048-47D5-AB66-914374D57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68476-C96F-06C9-67DE-3C1B80DE8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4D9B4-74B2-4B68-9D7B-872752E74E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190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7EEE-873F-506B-7F91-C8C940991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F335-323A-D603-D450-B6D039A8D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8799"/>
            <a:ext cx="9144000" cy="1004507"/>
          </a:xfrm>
        </p:spPr>
        <p:txBody>
          <a:bodyPr/>
          <a:lstStyle/>
          <a:p>
            <a:r>
              <a:rPr lang="en-US" dirty="0"/>
              <a:t>K-MEANS</a:t>
            </a:r>
            <a:endParaRPr lang="en-ID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AACD4A-AFAB-1F55-E51F-6B59303A9244}"/>
              </a:ext>
            </a:extLst>
          </p:cNvPr>
          <p:cNvSpPr txBox="1">
            <a:spLocks/>
          </p:cNvSpPr>
          <p:nvPr/>
        </p:nvSpPr>
        <p:spPr>
          <a:xfrm>
            <a:off x="1524000" y="2935224"/>
            <a:ext cx="9144000" cy="21095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sz="2000" dirty="0"/>
              <a:t>DISUSUN OLEH:</a:t>
            </a:r>
          </a:p>
          <a:p>
            <a:pPr>
              <a:lnSpc>
                <a:spcPct val="170000"/>
              </a:lnSpc>
            </a:pP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2000" dirty="0"/>
              <a:t>RAMA PRAMUDYA WIBISANA 	2022320019</a:t>
            </a:r>
          </a:p>
          <a:p>
            <a:pPr>
              <a:lnSpc>
                <a:spcPct val="170000"/>
              </a:lnSpc>
            </a:pPr>
            <a:r>
              <a:rPr lang="en-US" sz="2000" dirty="0"/>
              <a:t>LIDIANI GARI 			2022320066</a:t>
            </a:r>
            <a:endParaRPr lang="en-ID" sz="20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AAE35A2B-46B8-A2CC-4301-A5CB826E7912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5287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E7F84-7378-25C9-53C6-BB4558EC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79B2-20DD-8687-91E0-11F8E1130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LANGKAH K-MEANS</a:t>
            </a:r>
            <a:endParaRPr lang="en-ID" sz="3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764666-0B02-47C1-9EA2-151BC86D39A5}"/>
              </a:ext>
            </a:extLst>
          </p:cNvPr>
          <p:cNvSpPr txBox="1">
            <a:spLocks/>
          </p:cNvSpPr>
          <p:nvPr/>
        </p:nvSpPr>
        <p:spPr>
          <a:xfrm>
            <a:off x="704088" y="1892808"/>
            <a:ext cx="10314432" cy="3152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lnSpc>
                <a:spcPct val="170000"/>
              </a:lnSpc>
              <a:buFont typeface="+mj-lt"/>
              <a:buAutoNum type="arabicPeriod"/>
            </a:pPr>
            <a:r>
              <a:rPr lang="en-US" sz="2000" dirty="0" err="1"/>
              <a:t>Siapkan</a:t>
            </a:r>
            <a:r>
              <a:rPr lang="en-US" sz="2000" dirty="0"/>
              <a:t> dataset</a:t>
            </a:r>
          </a:p>
          <a:p>
            <a:pPr marL="457200" indent="-457200" algn="just">
              <a:lnSpc>
                <a:spcPct val="170000"/>
              </a:lnSpc>
              <a:buFont typeface="+mj-lt"/>
              <a:buAutoNum type="arabicPeriod"/>
            </a:pPr>
            <a:r>
              <a:rPr lang="en-US" sz="2000" dirty="0" err="1"/>
              <a:t>Tentukan</a:t>
            </a:r>
            <a:r>
              <a:rPr lang="en-US" sz="2000" dirty="0"/>
              <a:t> </a:t>
            </a:r>
            <a:r>
              <a:rPr lang="en-US" sz="2000" dirty="0" err="1"/>
              <a:t>jumlah</a:t>
            </a:r>
            <a:r>
              <a:rPr lang="en-US" sz="2000" dirty="0"/>
              <a:t> cluster (k)</a:t>
            </a:r>
          </a:p>
          <a:p>
            <a:pPr marL="457200" indent="-457200" algn="just">
              <a:lnSpc>
                <a:spcPct val="170000"/>
              </a:lnSpc>
              <a:buFont typeface="+mj-lt"/>
              <a:buAutoNum type="arabicPeriod"/>
            </a:pPr>
            <a:r>
              <a:rPr lang="en-US" sz="2000" dirty="0" err="1"/>
              <a:t>Pilih</a:t>
            </a:r>
            <a:r>
              <a:rPr lang="en-US" sz="2000" dirty="0"/>
              <a:t> </a:t>
            </a:r>
            <a:r>
              <a:rPr lang="en-US" sz="2000" dirty="0" err="1"/>
              <a:t>titik</a:t>
            </a:r>
            <a:r>
              <a:rPr lang="en-US" sz="2000" dirty="0"/>
              <a:t> centroid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acak</a:t>
            </a:r>
            <a:endParaRPr lang="en-US" sz="2000" dirty="0"/>
          </a:p>
          <a:p>
            <a:pPr marL="457200" indent="-457200" algn="just">
              <a:lnSpc>
                <a:spcPct val="170000"/>
              </a:lnSpc>
              <a:buFont typeface="+mj-lt"/>
              <a:buAutoNum type="arabicPeriod"/>
            </a:pPr>
            <a:r>
              <a:rPr lang="en-US" sz="2000" dirty="0" err="1"/>
              <a:t>Kelompokkan</a:t>
            </a:r>
            <a:r>
              <a:rPr lang="en-US" sz="2000" dirty="0"/>
              <a:t> data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terbentuk</a:t>
            </a:r>
            <a:r>
              <a:rPr lang="en-US" sz="2000" dirty="0"/>
              <a:t> (K) </a:t>
            </a:r>
            <a:r>
              <a:rPr lang="en-US" sz="2000" dirty="0" err="1"/>
              <a:t>buah</a:t>
            </a:r>
            <a:r>
              <a:rPr lang="en-US" sz="2000" dirty="0"/>
              <a:t> cluster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titik</a:t>
            </a:r>
            <a:r>
              <a:rPr lang="en-US" sz="2000" dirty="0"/>
              <a:t> centroid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cluster</a:t>
            </a:r>
          </a:p>
          <a:p>
            <a:pPr marL="457200" indent="-457200" algn="just">
              <a:lnSpc>
                <a:spcPct val="170000"/>
              </a:lnSpc>
              <a:buFont typeface="+mj-lt"/>
              <a:buAutoNum type="arabicPeriod"/>
            </a:pPr>
            <a:r>
              <a:rPr lang="en-US" sz="2000" dirty="0" err="1"/>
              <a:t>Perbarui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titik</a:t>
            </a:r>
            <a:r>
              <a:rPr lang="en-US" sz="2000" dirty="0"/>
              <a:t> centroid</a:t>
            </a:r>
          </a:p>
          <a:p>
            <a:pPr marL="457200" indent="-457200" algn="just">
              <a:lnSpc>
                <a:spcPct val="170000"/>
              </a:lnSpc>
              <a:buFont typeface="+mj-lt"/>
              <a:buAutoNum type="arabicPeriod"/>
            </a:pPr>
            <a:r>
              <a:rPr lang="en-US" sz="2000" dirty="0" err="1"/>
              <a:t>Ulangi</a:t>
            </a:r>
            <a:r>
              <a:rPr lang="en-US" sz="2000" dirty="0"/>
              <a:t> Langkah 3 </a:t>
            </a:r>
            <a:r>
              <a:rPr lang="en-US" sz="2000" dirty="0" err="1"/>
              <a:t>sampai</a:t>
            </a:r>
            <a:r>
              <a:rPr lang="en-US" sz="2000" dirty="0"/>
              <a:t> 5 </a:t>
            </a:r>
            <a:r>
              <a:rPr lang="en-US" sz="2000" dirty="0" err="1"/>
              <a:t>sampai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titik</a:t>
            </a:r>
            <a:r>
              <a:rPr lang="en-US" sz="2000" dirty="0"/>
              <a:t> centroid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lagi</a:t>
            </a:r>
            <a:r>
              <a:rPr lang="en-US" sz="2000" dirty="0"/>
              <a:t> </a:t>
            </a:r>
            <a:r>
              <a:rPr lang="en-US" sz="2000" dirty="0" err="1"/>
              <a:t>berubah</a:t>
            </a:r>
            <a:endParaRPr lang="en-US" sz="20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7BC148C4-52AE-D472-F27F-074AAA6FDE4D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3637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99AF-C718-C846-9C8F-83E0AA8F1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EB6C0-0C17-E0E7-8B8F-D293236C9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LANGKAH PENYELESAIAN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4BC72B3F-65BC-9A05-FBCA-0C51387A1412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72B69B-942F-EA40-D245-3DEE7209F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241331"/>
              </p:ext>
            </p:extLst>
          </p:nvPr>
        </p:nvGraphicFramePr>
        <p:xfrm>
          <a:off x="1171194" y="1905000"/>
          <a:ext cx="25527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317687066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4135204106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75724168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BLOK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RT 1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 2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4652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BLOK A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30363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B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36829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C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172593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D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72424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E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50389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F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99445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G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7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31777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H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34814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I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3914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J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4377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K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99115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L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08840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M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25827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N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91399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O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952562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0D691-2BF3-568B-F781-2C6E8526B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641114"/>
              </p:ext>
            </p:extLst>
          </p:nvPr>
        </p:nvGraphicFramePr>
        <p:xfrm>
          <a:off x="1171194" y="5284566"/>
          <a:ext cx="34036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138706624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67760029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17624139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326188295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CENTROID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RT 1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RT 2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SIMBOL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40290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C1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 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5120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C2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 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0412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C3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 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855073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DB405DE-FD6E-F58D-D66E-7BCADCDD7D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0199984"/>
              </p:ext>
            </p:extLst>
          </p:nvPr>
        </p:nvGraphicFramePr>
        <p:xfrm>
          <a:off x="5503213" y="2456688"/>
          <a:ext cx="5160168" cy="3038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780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EB2B2-DBA8-54C3-6352-F46A62EF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6F03-51FC-7444-5BD1-80B88EB20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PENGELOMPOKKAN DATA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FDFBF12B-F0C3-EACC-6036-0F13F5104035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3E4FE4E-E235-D318-5216-78C313F7F6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2965782"/>
                  </p:ext>
                </p:extLst>
              </p:nvPr>
            </p:nvGraphicFramePr>
            <p:xfrm>
              <a:off x="3510280" y="3016188"/>
              <a:ext cx="5171440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850900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1484884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C1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ID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(6−2)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(10−4)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7,211102551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6,08276253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5,656854249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2,236067977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2,828427125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7,071067812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8,062257748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3,605551275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7,280109889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6,08276253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2,236067977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3E4FE4E-E235-D318-5216-78C313F7F6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2965782"/>
                  </p:ext>
                </p:extLst>
              </p:nvPr>
            </p:nvGraphicFramePr>
            <p:xfrm>
              <a:off x="3510280" y="3016188"/>
              <a:ext cx="5171440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850900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1484884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C1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21253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72541" t="-100000" r="-77049" b="-129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7,211102551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6,08276253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5,656854249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2,236067977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2,828427125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7,071067812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8,062257748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3,605551275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7,280109889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6,08276253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2,236067977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C8898D-F829-BAC3-C42A-6C442B21A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126091"/>
              </p:ext>
            </p:extLst>
          </p:nvPr>
        </p:nvGraphicFramePr>
        <p:xfrm>
          <a:off x="4819650" y="1913811"/>
          <a:ext cx="2552700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138706624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67760029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17624139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ENTROID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RT 1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40290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C1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7512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19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29FC9-BBF9-1EDB-7D97-00D713C1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FCA2-E6A3-2AA0-0805-DFE37BEB4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PENGELOMPOKKAN DATA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432E9A36-7150-650C-BFF1-193D9805BEF1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27D477-FCBD-EDEE-A28D-3BA3BB2B62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3952725"/>
                  </p:ext>
                </p:extLst>
              </p:nvPr>
            </p:nvGraphicFramePr>
            <p:xfrm>
              <a:off x="3510280" y="3016188"/>
              <a:ext cx="5171440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850900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1484884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C2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ID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(6−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(10−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2,236067977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4,242640687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2,828427125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6,08276253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2,236067977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3,605551275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7,071067812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4,472135955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4,242640687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4,242640687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5,099019514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27D477-FCBD-EDEE-A28D-3BA3BB2B62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3952725"/>
                  </p:ext>
                </p:extLst>
              </p:nvPr>
            </p:nvGraphicFramePr>
            <p:xfrm>
              <a:off x="3510280" y="3016188"/>
              <a:ext cx="5171440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850900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1484884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C2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21253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72541" t="-100000" r="-77049" b="-129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2,236067977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4,242640687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2,828427125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6,08276253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2,236067977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3,605551275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7,071067812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4,472135955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4,242640687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4,242640687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5,099019514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ECB53D6-D960-301E-C2D4-5057B20E5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192071"/>
              </p:ext>
            </p:extLst>
          </p:nvPr>
        </p:nvGraphicFramePr>
        <p:xfrm>
          <a:off x="4819650" y="1913811"/>
          <a:ext cx="2552700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138706624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67760029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17624139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ENTROID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40290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C2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1041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784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3C6F-25FC-C5FA-2ECC-4226CB89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5442-D2EA-EFE4-B849-F6044803A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PENGELOMPOKKAN DATA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F2EE7764-A2ED-9DCF-E15C-7067FE9CC6EE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FA13FBC-6321-955D-2340-F11C1CE120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4314209"/>
                  </p:ext>
                </p:extLst>
              </p:nvPr>
            </p:nvGraphicFramePr>
            <p:xfrm>
              <a:off x="3510280" y="3016188"/>
              <a:ext cx="5171440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850900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1484884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C3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ID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(6−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(10−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4,242640687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2,236067977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3,16227766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6,08276253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7,071067812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2,828427125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7,071067812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4,123105626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6,403124237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2,236067977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7,280109889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6,403124237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4,123105626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FA13FBC-6321-955D-2340-F11C1CE120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4314209"/>
                  </p:ext>
                </p:extLst>
              </p:nvPr>
            </p:nvGraphicFramePr>
            <p:xfrm>
              <a:off x="3510280" y="3016188"/>
              <a:ext cx="5171440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850900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50900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1484884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C3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21253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72541" t="-100000" r="-77049" b="-129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4,242640687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2,236067977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3,16227766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6,08276253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7,071067812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2,828427125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7,071067812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4,123105626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6,403124237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2,236067977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7,280109889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6,403124237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4,123105626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7B6706-CA1E-C773-2658-792606884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241522"/>
              </p:ext>
            </p:extLst>
          </p:nvPr>
        </p:nvGraphicFramePr>
        <p:xfrm>
          <a:off x="4819650" y="1913811"/>
          <a:ext cx="2552700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138706624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67760029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17624139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ENTROID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40290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C3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7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8855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52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EBD93-220B-6FF3-6A49-08E0025C0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B3AC-1451-5C83-64A1-54EDD8C70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PENGELOMPOKKAN DATA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1D8BD268-1F86-43D3-55E9-BCE62145B594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BBE527-216F-117B-1CAB-44AFCD507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048707"/>
              </p:ext>
            </p:extLst>
          </p:nvPr>
        </p:nvGraphicFramePr>
        <p:xfrm>
          <a:off x="3117850" y="2635188"/>
          <a:ext cx="59563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329747182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985847585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3814179439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2702578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934215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199450079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68170417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BLOK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RT 1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 2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>
                          <a:effectLst/>
                        </a:rPr>
                        <a:t>C1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C2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C3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CENTROID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2555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BLOK A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7,211102551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2,236067977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4,242640687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26722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B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6,08276253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4,242640687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2,236067977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048889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C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56762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D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5,656854249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3,16227766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084683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E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2,236067977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2,828427125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6,08276253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08347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F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2,828427125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6,08276253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7,071067812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85708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G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7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7,071067812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2,236067977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2,828427125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62101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H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3,605551275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7,071067812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5885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I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8,062257748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7,071067812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4,123105626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72874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J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3,605551275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6,403124237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68025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K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7,280109889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4,472135955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96304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L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6,08276253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4,242640687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2,236067977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5786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M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4,242640687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7,280109889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36473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N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2,236067977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5,099019514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6,403124237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69975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O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4,123105626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0567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6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8A0A-1B7D-8F2A-9879-97337008A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BA419-A068-276D-128E-4D9825FE9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MEMPERBARUI CENTROID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270A7E18-34C6-8C85-6713-38E5FEFEEB82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258387-DA56-A2F6-2C10-0148D0C97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230889"/>
              </p:ext>
            </p:extLst>
          </p:nvPr>
        </p:nvGraphicFramePr>
        <p:xfrm>
          <a:off x="6208141" y="2022321"/>
          <a:ext cx="3011169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551">
                  <a:extLst>
                    <a:ext uri="{9D8B030D-6E8A-4147-A177-3AD203B41FA5}">
                      <a16:colId xmlns:a16="http://schemas.microsoft.com/office/drawing/2014/main" val="748364988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960601223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8318331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CENTROID BARU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21467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3,571428571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0221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8,75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50963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8,75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4,75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830732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31CC9E-8FEA-8FBB-3CBE-9C7802E83861}"/>
                  </a:ext>
                </a:extLst>
              </p:cNvPr>
              <p:cNvSpPr txBox="1"/>
              <p:nvPr/>
            </p:nvSpPr>
            <p:spPr>
              <a:xfrm>
                <a:off x="1348740" y="3233209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C1X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5+3+4+2+5+2+4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=3,571428571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31CC9E-8FEA-8FBB-3CBE-9C7802E83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3233209"/>
                <a:ext cx="6140196" cy="391582"/>
              </a:xfrm>
              <a:prstGeom prst="rect">
                <a:avLst/>
              </a:prstGeom>
              <a:blipFill>
                <a:blip r:embed="rId3"/>
                <a:stretch>
                  <a:fillRect l="-2282" t="-3077" b="-230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E3E623-2F64-5720-E117-F3BE689D541C}"/>
                  </a:ext>
                </a:extLst>
              </p:cNvPr>
              <p:cNvSpPr txBox="1"/>
              <p:nvPr/>
            </p:nvSpPr>
            <p:spPr>
              <a:xfrm>
                <a:off x="1348740" y="4154424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C2X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6+6+7+5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E3E623-2F64-5720-E117-F3BE689D5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4154424"/>
                <a:ext cx="6140196" cy="391582"/>
              </a:xfrm>
              <a:prstGeom prst="rect">
                <a:avLst/>
              </a:prstGeom>
              <a:blipFill>
                <a:blip r:embed="rId4"/>
                <a:stretch>
                  <a:fillRect l="-2282" t="-3125" b="-234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46A28D-B019-4FAF-C9E6-34C30740FFEC}"/>
                  </a:ext>
                </a:extLst>
              </p:cNvPr>
              <p:cNvSpPr txBox="1"/>
              <p:nvPr/>
            </p:nvSpPr>
            <p:spPr>
              <a:xfrm>
                <a:off x="1348740" y="5075639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C3X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8+10+9+8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=8,75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46A28D-B019-4FAF-C9E6-34C30740F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5075639"/>
                <a:ext cx="6140196" cy="391582"/>
              </a:xfrm>
              <a:prstGeom prst="rect">
                <a:avLst/>
              </a:prstGeom>
              <a:blipFill>
                <a:blip r:embed="rId5"/>
                <a:stretch>
                  <a:fillRect l="-2282" t="-3125" b="-234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36128A-010E-C76D-09C4-541623C80607}"/>
                  </a:ext>
                </a:extLst>
              </p:cNvPr>
              <p:cNvSpPr txBox="1"/>
              <p:nvPr/>
            </p:nvSpPr>
            <p:spPr>
              <a:xfrm>
                <a:off x="7005828" y="3233209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C1Y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4+6+2+6+2+5+3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36128A-010E-C76D-09C4-541623C80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828" y="3233209"/>
                <a:ext cx="6140196" cy="391582"/>
              </a:xfrm>
              <a:prstGeom prst="rect">
                <a:avLst/>
              </a:prstGeom>
              <a:blipFill>
                <a:blip r:embed="rId6"/>
                <a:stretch>
                  <a:fillRect l="-2282" t="-3077" b="-230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E0197B-09F6-784F-AFB1-AB51138ECE97}"/>
                  </a:ext>
                </a:extLst>
              </p:cNvPr>
              <p:cNvSpPr txBox="1"/>
              <p:nvPr/>
            </p:nvSpPr>
            <p:spPr>
              <a:xfrm>
                <a:off x="7005828" y="4154424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C2Y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10+8+9+8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=8,75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E0197B-09F6-784F-AFB1-AB51138EC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828" y="4154424"/>
                <a:ext cx="6140196" cy="391582"/>
              </a:xfrm>
              <a:prstGeom prst="rect">
                <a:avLst/>
              </a:prstGeom>
              <a:blipFill>
                <a:blip r:embed="rId7"/>
                <a:stretch>
                  <a:fillRect l="-2282" t="-3125" b="-234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7B2100-9F20-1038-2389-9B5927E78BC5}"/>
                  </a:ext>
                </a:extLst>
              </p:cNvPr>
              <p:cNvSpPr txBox="1"/>
              <p:nvPr/>
            </p:nvSpPr>
            <p:spPr>
              <a:xfrm>
                <a:off x="7005828" y="5075639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C3Y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5+3+6+5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=4,75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7B2100-9F20-1038-2389-9B5927E78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828" y="5075639"/>
                <a:ext cx="6140196" cy="391582"/>
              </a:xfrm>
              <a:prstGeom prst="rect">
                <a:avLst/>
              </a:prstGeom>
              <a:blipFill>
                <a:blip r:embed="rId8"/>
                <a:stretch>
                  <a:fillRect l="-2282" t="-3125" b="-234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F0B72D4-C9DE-604B-3637-6B4740128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780030"/>
              </p:ext>
            </p:extLst>
          </p:nvPr>
        </p:nvGraphicFramePr>
        <p:xfrm>
          <a:off x="2913253" y="2022321"/>
          <a:ext cx="3011169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551">
                  <a:extLst>
                    <a:ext uri="{9D8B030D-6E8A-4147-A177-3AD203B41FA5}">
                      <a16:colId xmlns:a16="http://schemas.microsoft.com/office/drawing/2014/main" val="748364988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960601223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8318331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CENTROID LAMA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21467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0221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50963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8307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58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2E18-9084-3BD3-1485-A880F713E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F378D-750C-7F0D-EA42-3CC5BC570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PENGELOMPOKKAN DATA CENTROID BARU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4DCB6DD2-DFBA-6E76-56F0-D8FBE4A65111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EAD2C65-0F4C-0C13-114D-FEDBE4DB8C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2500893"/>
                  </p:ext>
                </p:extLst>
              </p:nvPr>
            </p:nvGraphicFramePr>
            <p:xfrm>
              <a:off x="3209035" y="3061908"/>
              <a:ext cx="5773928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41832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392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2043176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C1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ID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(6−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3,571428571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(10−4)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6,472863291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4,540071023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1,428571429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4,67952553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2,080031397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2,045403009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6,062598621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2,543499116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6,505884307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2,457807219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5,785273352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4,540071023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1,862629259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1,087967587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4,247448214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EAD2C65-0F4C-0C13-114D-FEDBE4DB8C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2500893"/>
                  </p:ext>
                </p:extLst>
              </p:nvPr>
            </p:nvGraphicFramePr>
            <p:xfrm>
              <a:off x="3209035" y="3061908"/>
              <a:ext cx="5773928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41832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392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2043176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C1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21253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27083" t="-102857" r="-55952" b="-129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6,472863291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4,540071023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1,428571429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4,67952553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2,080031397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2,045403009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6,062598621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2,543499116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6,505884307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2,457807219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5,785273352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4,540071023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1,862629259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1,087967587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4,247448214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380486-8072-D75D-D3FC-6681ED0FC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106376"/>
              </p:ext>
            </p:extLst>
          </p:nvPr>
        </p:nvGraphicFramePr>
        <p:xfrm>
          <a:off x="3968750" y="1969008"/>
          <a:ext cx="4254499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881">
                  <a:extLst>
                    <a:ext uri="{9D8B030D-6E8A-4147-A177-3AD203B41FA5}">
                      <a16:colId xmlns:a16="http://schemas.microsoft.com/office/drawing/2014/main" val="748364988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960601223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8318331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CENTROID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21467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CENTROID BARU 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3,571428571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0221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740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F700-71B6-BCAF-1338-D0275268C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FE9E-BE84-6AE9-71C9-4DC6EF480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PENGELOMPOKKAN DATA CENTROID BARU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0C999169-35AF-2C27-6F6E-B0DB14DADF73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6E7F024-AB16-27D6-6045-04504226E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6462758"/>
                  </p:ext>
                </p:extLst>
              </p:nvPr>
            </p:nvGraphicFramePr>
            <p:xfrm>
              <a:off x="3209035" y="3052764"/>
              <a:ext cx="5773928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41832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392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2043176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C2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ID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(6−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(10−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8,75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4,85412196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0,75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4,069705149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7,04006392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1,030776406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4,85412196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7,004462863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6,823672032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4,069705149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5,48292805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6,087897831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6E7F024-AB16-27D6-6045-04504226E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6462758"/>
                  </p:ext>
                </p:extLst>
              </p:nvPr>
            </p:nvGraphicFramePr>
            <p:xfrm>
              <a:off x="3209035" y="3052764"/>
              <a:ext cx="5773928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41832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392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2043176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C2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21253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27083" t="-100000" r="-55952" b="-129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4,85412196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0,75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4,069705149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7,04006392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1,030776406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4,85412196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7,004462863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6,823672032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4,069705149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5,48292805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6,087897831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7425F2-5573-36C5-EAAB-7C244ED37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594603"/>
              </p:ext>
            </p:extLst>
          </p:nvPr>
        </p:nvGraphicFramePr>
        <p:xfrm>
          <a:off x="3968750" y="1969008"/>
          <a:ext cx="4254499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881">
                  <a:extLst>
                    <a:ext uri="{9D8B030D-6E8A-4147-A177-3AD203B41FA5}">
                      <a16:colId xmlns:a16="http://schemas.microsoft.com/office/drawing/2014/main" val="748364988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960601223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8318331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CENTROID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21467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CENTROID BARU 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8,75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5096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445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943C-BFCA-A43F-D7DF-1E357EC57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CD90-EB4F-DB40-C4D8-BC765F61A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PENGELOMPOKKAN DATA CENTROID BARU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FD4A31BD-7370-2BD2-E82A-EA4C288C9EF0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8D07CB0-FE53-72D0-B24A-D78671D170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0946867"/>
                  </p:ext>
                </p:extLst>
              </p:nvPr>
            </p:nvGraphicFramePr>
            <p:xfrm>
              <a:off x="3209035" y="2972975"/>
              <a:ext cx="5773928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41832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392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2043176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C3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ID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(6−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8,75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(10−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,75)</m:t>
                                        </m:r>
                                      </m:e>
                                      <m:sup>
                                        <m:r>
                                          <a:rPr lang="en-US" sz="1100" b="0" i="1" u="none" strike="noStrike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5,926634796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0,790569415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3,824264635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4,257346591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5,884301148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5,4886246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4,596194078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6,864765109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2,150581317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4,650268809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1,274754878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0,790569415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6,754628043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5,062114183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4,96235831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8D07CB0-FE53-72D0-B24A-D78671D170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0946867"/>
                  </p:ext>
                </p:extLst>
              </p:nvPr>
            </p:nvGraphicFramePr>
            <p:xfrm>
              <a:off x="3209035" y="2972975"/>
              <a:ext cx="5773928" cy="307003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941832">
                      <a:extLst>
                        <a:ext uri="{9D8B030D-6E8A-4147-A177-3AD203B41FA5}">
                          <a16:colId xmlns:a16="http://schemas.microsoft.com/office/drawing/2014/main" val="232137472"/>
                        </a:ext>
                      </a:extLst>
                    </a:gridCol>
                    <a:gridCol w="850392">
                      <a:extLst>
                        <a:ext uri="{9D8B030D-6E8A-4147-A177-3AD203B41FA5}">
                          <a16:colId xmlns:a16="http://schemas.microsoft.com/office/drawing/2014/main" val="2591223532"/>
                        </a:ext>
                      </a:extLst>
                    </a:gridCol>
                    <a:gridCol w="804672">
                      <a:extLst>
                        <a:ext uri="{9D8B030D-6E8A-4147-A177-3AD203B41FA5}">
                          <a16:colId xmlns:a16="http://schemas.microsoft.com/office/drawing/2014/main" val="1999910186"/>
                        </a:ext>
                      </a:extLst>
                    </a:gridCol>
                    <a:gridCol w="2043176">
                      <a:extLst>
                        <a:ext uri="{9D8B030D-6E8A-4147-A177-3AD203B41FA5}">
                          <a16:colId xmlns:a16="http://schemas.microsoft.com/office/drawing/2014/main" val="2852427301"/>
                        </a:ext>
                      </a:extLst>
                    </a:gridCol>
                    <a:gridCol w="1133856">
                      <a:extLst>
                        <a:ext uri="{9D8B030D-6E8A-4147-A177-3AD203B41FA5}">
                          <a16:colId xmlns:a16="http://schemas.microsoft.com/office/drawing/2014/main" val="374756753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BLOK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1" u="none" strike="noStrike" dirty="0">
                              <a:effectLst/>
                            </a:rPr>
                            <a:t>RT 1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RT 2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C3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HASIL</a:t>
                          </a:r>
                          <a:endParaRPr lang="en-ID" sz="11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34428673"/>
                      </a:ext>
                    </a:extLst>
                  </a:tr>
                  <a:tr h="21253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BLOK A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27083" t="-100000" r="-55952" b="-129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5,926634796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28204868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B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0,790569415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21448888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C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3,824264635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3893668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D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4,257346591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36144605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E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5,884301148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2814994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BLOK F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4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5,4886246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682958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G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7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4,596194078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4780278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H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2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6,864765109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91185098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I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10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3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2,150581317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2711505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J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4,650268809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87160315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K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9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6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1,274754878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0203057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L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8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0,790569415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6683639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M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2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5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6,754628043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3870160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N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4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3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5,062114183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594844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D" sz="11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a:t>BLOK O</a:t>
                          </a:r>
                          <a:endParaRPr kumimoji="0" lang="en-ID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>
                              <a:effectLst/>
                            </a:rPr>
                            <a:t>5</a:t>
                          </a:r>
                          <a:endParaRPr lang="en-ID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u="none" strike="noStrike" dirty="0">
                              <a:effectLst/>
                            </a:rPr>
                            <a:t>8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…</a:t>
                          </a:r>
                          <a:endParaRPr lang="en-ID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ID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4,96235831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704109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072F49-6828-042C-D3C3-6D4DEBF67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790052"/>
              </p:ext>
            </p:extLst>
          </p:nvPr>
        </p:nvGraphicFramePr>
        <p:xfrm>
          <a:off x="3968750" y="1969008"/>
          <a:ext cx="4254499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881">
                  <a:extLst>
                    <a:ext uri="{9D8B030D-6E8A-4147-A177-3AD203B41FA5}">
                      <a16:colId xmlns:a16="http://schemas.microsoft.com/office/drawing/2014/main" val="748364988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960601223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8318331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CENTROID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21467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CENTROID BARU 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8,75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4,75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8307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212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FD7D4-9E14-04DB-D290-3711ABD4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03D4-97C0-DD66-D32D-600FF8B37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PENGELOMPOKKAN DATA CENTROID BARU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82B5B6A3-B1F2-A443-82F4-4305CA55339A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5E11AB-9511-ED64-2A13-4C067E17F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143051"/>
              </p:ext>
            </p:extLst>
          </p:nvPr>
        </p:nvGraphicFramePr>
        <p:xfrm>
          <a:off x="3005201" y="2635188"/>
          <a:ext cx="634619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329747182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985847585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3814179439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2702578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9342150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199450079"/>
                    </a:ext>
                  </a:extLst>
                </a:gridCol>
                <a:gridCol w="1240790">
                  <a:extLst>
                    <a:ext uri="{9D8B030D-6E8A-4147-A177-3AD203B41FA5}">
                      <a16:colId xmlns:a16="http://schemas.microsoft.com/office/drawing/2014/main" val="68170417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BLOK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RT 1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 2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C1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C2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C3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CENTROID BARU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2555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BLOK A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6,472863291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5,926634796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26722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B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4,540071023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0,790569415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048889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C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1,428571429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4,85412196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3,824264635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56762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D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4,67952553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4,257346591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084683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E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2,080031397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4,069705149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5,884301148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08347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BLOK F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2,045403009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7,04006392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5,4886246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85708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G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7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6,062598621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1,030776406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4,596194078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62101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H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2,543499116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4,85412196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6,864765109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85885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I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6,505884307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7,004462863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2,150581317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72874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J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2,457807219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6,823672032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4,650268809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68025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K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9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5,785273352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4,069705149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1,274754878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96304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L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4,540071023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0,790569415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5786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M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1,862629259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5,48292805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6,754628043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36473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N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1,087967587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6,087897831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5,062114183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69975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BLOK O</a:t>
                      </a:r>
                      <a:endParaRPr kumimoji="0" lang="en-ID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8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4,247448214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4,96235831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0567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493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A3899-6F2F-815B-80D8-38F6A1EB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727B-1B9D-871C-0A78-EEDDFA7FB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1000747"/>
            <a:ext cx="10948416" cy="5726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MEMPERBARUI CENTROID</a:t>
            </a:r>
            <a:endParaRPr lang="en-ID" sz="3200" dirty="0"/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id="{30E53B2F-6800-74C9-817B-C560CE878198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10347158" y="331788"/>
            <a:ext cx="1543083" cy="452544"/>
          </a:xfrm>
          <a:prstGeom prst="rect">
            <a:avLst/>
          </a:prstGeom>
          <a:ln/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11ED1B-2C78-ED11-CAEA-78DE345BE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127419"/>
              </p:ext>
            </p:extLst>
          </p:nvPr>
        </p:nvGraphicFramePr>
        <p:xfrm>
          <a:off x="6208141" y="2022321"/>
          <a:ext cx="3011169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551">
                  <a:extLst>
                    <a:ext uri="{9D8B030D-6E8A-4147-A177-3AD203B41FA5}">
                      <a16:colId xmlns:a16="http://schemas.microsoft.com/office/drawing/2014/main" val="748364988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960601223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8318331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CENTROID BARU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21467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3,571428571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0221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6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8,75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50963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8,75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4,75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830732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0C9D0A-7E23-57D3-305B-0658167F37F5}"/>
                  </a:ext>
                </a:extLst>
              </p:cNvPr>
              <p:cNvSpPr txBox="1"/>
              <p:nvPr/>
            </p:nvSpPr>
            <p:spPr>
              <a:xfrm>
                <a:off x="1348740" y="3233209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C1X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5+3+4+2+5+2+4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=3,571428571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0C9D0A-7E23-57D3-305B-0658167F3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3233209"/>
                <a:ext cx="6140196" cy="391582"/>
              </a:xfrm>
              <a:prstGeom prst="rect">
                <a:avLst/>
              </a:prstGeom>
              <a:blipFill>
                <a:blip r:embed="rId3"/>
                <a:stretch>
                  <a:fillRect l="-2282" t="-3077" b="-230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9AB6D-3130-AC90-67F0-CD7ED10D8D5E}"/>
                  </a:ext>
                </a:extLst>
              </p:cNvPr>
              <p:cNvSpPr txBox="1"/>
              <p:nvPr/>
            </p:nvSpPr>
            <p:spPr>
              <a:xfrm>
                <a:off x="1348740" y="4154424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C2X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6+6+7+5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9AB6D-3130-AC90-67F0-CD7ED10D8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4154424"/>
                <a:ext cx="6140196" cy="391582"/>
              </a:xfrm>
              <a:prstGeom prst="rect">
                <a:avLst/>
              </a:prstGeom>
              <a:blipFill>
                <a:blip r:embed="rId4"/>
                <a:stretch>
                  <a:fillRect l="-2282" t="-3125" b="-234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52A53F-A0C6-7338-484D-5535681F911D}"/>
                  </a:ext>
                </a:extLst>
              </p:cNvPr>
              <p:cNvSpPr txBox="1"/>
              <p:nvPr/>
            </p:nvSpPr>
            <p:spPr>
              <a:xfrm>
                <a:off x="1348740" y="5075639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C3X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8+10+9+8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=8,75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52A53F-A0C6-7338-484D-5535681F9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5075639"/>
                <a:ext cx="6140196" cy="391582"/>
              </a:xfrm>
              <a:prstGeom prst="rect">
                <a:avLst/>
              </a:prstGeom>
              <a:blipFill>
                <a:blip r:embed="rId5"/>
                <a:stretch>
                  <a:fillRect l="-2282" t="-3125" b="-234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7BFB75-1A8A-93AF-AAEC-C8DF22E1C574}"/>
                  </a:ext>
                </a:extLst>
              </p:cNvPr>
              <p:cNvSpPr txBox="1"/>
              <p:nvPr/>
            </p:nvSpPr>
            <p:spPr>
              <a:xfrm>
                <a:off x="7005828" y="3233209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C1Y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4+6+2+6+2+5+3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7BFB75-1A8A-93AF-AAEC-C8DF22E1C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828" y="3233209"/>
                <a:ext cx="6140196" cy="391582"/>
              </a:xfrm>
              <a:prstGeom prst="rect">
                <a:avLst/>
              </a:prstGeom>
              <a:blipFill>
                <a:blip r:embed="rId6"/>
                <a:stretch>
                  <a:fillRect l="-2282" t="-3077" b="-230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7E91D4-A333-F5DB-9CC6-0A41037D60AE}"/>
                  </a:ext>
                </a:extLst>
              </p:cNvPr>
              <p:cNvSpPr txBox="1"/>
              <p:nvPr/>
            </p:nvSpPr>
            <p:spPr>
              <a:xfrm>
                <a:off x="7005828" y="4154424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C2Y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10+8+9+8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=8,75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7E91D4-A333-F5DB-9CC6-0A41037D6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828" y="4154424"/>
                <a:ext cx="6140196" cy="391582"/>
              </a:xfrm>
              <a:prstGeom prst="rect">
                <a:avLst/>
              </a:prstGeom>
              <a:blipFill>
                <a:blip r:embed="rId7"/>
                <a:stretch>
                  <a:fillRect l="-2282" t="-3125" b="-234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FB0D07-28CA-D3A4-8535-7BADE243CAF9}"/>
                  </a:ext>
                </a:extLst>
              </p:cNvPr>
              <p:cNvSpPr txBox="1"/>
              <p:nvPr/>
            </p:nvSpPr>
            <p:spPr>
              <a:xfrm>
                <a:off x="7005828" y="5075639"/>
                <a:ext cx="6140196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D" dirty="0"/>
                  <a:t>C3Y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5+3+6+5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=4,75</m:t>
                    </m:r>
                  </m:oMath>
                </a14:m>
                <a:endParaRPr lang="en-US" b="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FB0D07-28CA-D3A4-8535-7BADE243C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828" y="5075639"/>
                <a:ext cx="6140196" cy="391582"/>
              </a:xfrm>
              <a:prstGeom prst="rect">
                <a:avLst/>
              </a:prstGeom>
              <a:blipFill>
                <a:blip r:embed="rId8"/>
                <a:stretch>
                  <a:fillRect l="-2282" t="-3125" b="-234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A8C83C1-83BF-B6AA-6584-D6C5DD456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077864"/>
              </p:ext>
            </p:extLst>
          </p:nvPr>
        </p:nvGraphicFramePr>
        <p:xfrm>
          <a:off x="2913253" y="2022321"/>
          <a:ext cx="3011169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551">
                  <a:extLst>
                    <a:ext uri="{9D8B030D-6E8A-4147-A177-3AD203B41FA5}">
                      <a16:colId xmlns:a16="http://schemas.microsoft.com/office/drawing/2014/main" val="748364988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960601223"/>
                    </a:ext>
                  </a:extLst>
                </a:gridCol>
                <a:gridCol w="852809">
                  <a:extLst>
                    <a:ext uri="{9D8B030D-6E8A-4147-A177-3AD203B41FA5}">
                      <a16:colId xmlns:a16="http://schemas.microsoft.com/office/drawing/2014/main" val="38318331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1" u="none" strike="noStrike" dirty="0">
                          <a:effectLst/>
                        </a:rPr>
                        <a:t>CENTROID LAMA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 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21467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3,571428571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0221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6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>
                          <a:effectLst/>
                        </a:rPr>
                        <a:t>8,75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50963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C3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8,75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u="none" strike="noStrike" dirty="0">
                          <a:effectLst/>
                        </a:rPr>
                        <a:t>4,75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8307322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D2FDBAC2-3E4F-4819-4A54-919AF8FDC7B9}"/>
              </a:ext>
            </a:extLst>
          </p:cNvPr>
          <p:cNvSpPr txBox="1">
            <a:spLocks/>
          </p:cNvSpPr>
          <p:nvPr/>
        </p:nvSpPr>
        <p:spPr>
          <a:xfrm>
            <a:off x="3255264" y="5857253"/>
            <a:ext cx="5681472" cy="4926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NILAI CENTROID SUDAH SAMA</a:t>
            </a:r>
            <a:endParaRPr lang="en-ID" sz="2000" b="1" dirty="0"/>
          </a:p>
        </p:txBody>
      </p:sp>
    </p:spTree>
    <p:extLst>
      <p:ext uri="{BB962C8B-B14F-4D97-AF65-F5344CB8AC3E}">
        <p14:creationId xmlns:p14="http://schemas.microsoft.com/office/powerpoint/2010/main" val="1433567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190F1-6638-9275-1550-B086C276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1.png">
            <a:extLst>
              <a:ext uri="{FF2B5EF4-FFF2-40B4-BE49-F238E27FC236}">
                <a16:creationId xmlns:a16="http://schemas.microsoft.com/office/drawing/2014/main" id="{CC9C4394-6E68-FA9E-0938-5283EE8CEF55}"/>
              </a:ext>
            </a:extLst>
          </p:cNvPr>
          <p:cNvPicPr/>
          <p:nvPr/>
        </p:nvPicPr>
        <p:blipFill>
          <a:blip r:embed="rId2"/>
          <a:srcRect l="5660" t="19736" b="22367"/>
          <a:stretch/>
        </p:blipFill>
        <p:spPr bwMode="auto">
          <a:xfrm>
            <a:off x="4666197" y="3009678"/>
            <a:ext cx="2859605" cy="83864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940231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1227</Words>
  <Application>Microsoft Office PowerPoint</Application>
  <PresentationFormat>Widescreen</PresentationFormat>
  <Paragraphs>888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Office Theme</vt:lpstr>
      <vt:lpstr>K-MEANS</vt:lpstr>
      <vt:lpstr>LANGKAH K-MEANS</vt:lpstr>
      <vt:lpstr>LANGKAH PENYELESAIAN</vt:lpstr>
      <vt:lpstr>PENGELOMPOKKAN DATA</vt:lpstr>
      <vt:lpstr>PENGELOMPOKKAN DATA</vt:lpstr>
      <vt:lpstr>PENGELOMPOKKAN DATA</vt:lpstr>
      <vt:lpstr>PENGELOMPOKKAN DATA</vt:lpstr>
      <vt:lpstr>MEMPERBARUI CENTROID</vt:lpstr>
      <vt:lpstr>PENGELOMPOKKAN DATA CENTROID BARU</vt:lpstr>
      <vt:lpstr>PENGELOMPOKKAN DATA CENTROID BARU</vt:lpstr>
      <vt:lpstr>PENGELOMPOKKAN DATA CENTROID BARU</vt:lpstr>
      <vt:lpstr>PENGELOMPOKKAN DATA CENTROID BARU</vt:lpstr>
      <vt:lpstr>MEMPERBARUI CENTROID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 Pramudya</dc:creator>
  <cp:lastModifiedBy>Rama Pramudya</cp:lastModifiedBy>
  <cp:revision>29</cp:revision>
  <dcterms:created xsi:type="dcterms:W3CDTF">2024-11-11T09:50:37Z</dcterms:created>
  <dcterms:modified xsi:type="dcterms:W3CDTF">2024-11-11T12:19:58Z</dcterms:modified>
</cp:coreProperties>
</file>
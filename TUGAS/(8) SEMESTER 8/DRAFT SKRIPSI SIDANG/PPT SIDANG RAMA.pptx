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3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345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B11E5-177B-D423-7C9C-96F91BC6C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35807-DF75-052B-CD80-85029F6F5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FB7E0-409F-A9B3-5C01-1D8D8139E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7F31C-D377-9342-360C-CDB0D1DAC4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57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76340"/>
            <a:ext cx="12191695" cy="594360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3" name="Image 0" descr="/home/claude/work/assets/logo_ubi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3291840" cy="9692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65960"/>
            <a:ext cx="945955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PENDUKUNG KEPUTUSAN PEMILIHAN SISWA TERBAIK MENGGUNAKAN METODE </a:t>
            </a:r>
            <a:r>
              <a:rPr lang="en-US" sz="30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PRODUCT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SMK BINA INDUSTRI CIKARANG</a:t>
            </a:r>
          </a:p>
        </p:txBody>
      </p:sp>
      <p:sp>
        <p:nvSpPr>
          <p:cNvPr id="5" name="Text 2"/>
          <p:cNvSpPr/>
          <p:nvPr/>
        </p:nvSpPr>
        <p:spPr>
          <a:xfrm>
            <a:off x="822960" y="3611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00">
                <a:latin typeface="Calibri"/>
              </a:rPr>
              <a:t>Studi Kasus: SMK Bina Industri Cikarang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4160520"/>
            <a:ext cx="4206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822960" y="434340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sz="1400" b="1" dirty="0">
                <a:latin typeface="Calibri"/>
              </a:rPr>
              <a:t>Rama Pramudya </a:t>
            </a:r>
            <a:r>
              <a:rPr sz="1400" b="1" dirty="0" err="1">
                <a:latin typeface="Calibri"/>
              </a:rPr>
              <a:t>Wibisana</a:t>
            </a:r>
            <a:br>
              <a:rPr dirty="0"/>
            </a:br>
            <a:r>
              <a:rPr sz="1400" b="1" dirty="0">
                <a:latin typeface="Calibri"/>
              </a:rPr>
              <a:t>NPM: 2022320019  |  Program Studi </a:t>
            </a:r>
            <a:r>
              <a:rPr sz="1400" b="1" dirty="0" err="1">
                <a:latin typeface="Calibri"/>
              </a:rPr>
              <a:t>Sistem</a:t>
            </a:r>
            <a:r>
              <a:rPr sz="1400" b="1" dirty="0">
                <a:latin typeface="Calibri"/>
              </a:rPr>
              <a:t> </a:t>
            </a:r>
            <a:r>
              <a:rPr sz="1400" b="1" dirty="0" err="1">
                <a:latin typeface="Calibri"/>
              </a:rPr>
              <a:t>Informasi</a:t>
            </a:r>
            <a:br>
              <a:rPr dirty="0"/>
            </a:br>
            <a:r>
              <a:rPr sz="1400" b="1" dirty="0">
                <a:latin typeface="Calibri"/>
              </a:rPr>
              <a:t>Dosen </a:t>
            </a:r>
            <a:r>
              <a:rPr sz="1400" b="1" dirty="0" err="1">
                <a:latin typeface="Calibri"/>
              </a:rPr>
              <a:t>Pembimbing</a:t>
            </a:r>
            <a:r>
              <a:rPr sz="1400" b="1" dirty="0">
                <a:latin typeface="Calibri"/>
              </a:rPr>
              <a:t>: </a:t>
            </a:r>
            <a:r>
              <a:rPr lang="en-ID" sz="1400" b="1" dirty="0" err="1">
                <a:latin typeface="Calibri"/>
              </a:rPr>
              <a:t>Harjunadi</a:t>
            </a:r>
            <a:r>
              <a:rPr lang="en-ID" sz="1400" b="1" dirty="0">
                <a:latin typeface="Calibri"/>
              </a:rPr>
              <a:t> </a:t>
            </a:r>
            <a:r>
              <a:rPr lang="en-ID" sz="1400" b="1" dirty="0" err="1">
                <a:latin typeface="Calibri"/>
              </a:rPr>
              <a:t>Wicaksono</a:t>
            </a:r>
            <a:r>
              <a:rPr lang="en-ID" sz="1400" b="1" dirty="0">
                <a:latin typeface="Calibri"/>
              </a:rPr>
              <a:t>, S.T., </a:t>
            </a:r>
            <a:r>
              <a:rPr lang="en-ID" sz="1400" b="1" dirty="0" err="1">
                <a:latin typeface="Calibri"/>
              </a:rPr>
              <a:t>M.Kom</a:t>
            </a:r>
            <a:r>
              <a:rPr lang="en-ID" sz="1400" b="1" dirty="0">
                <a:latin typeface="Calibri"/>
              </a:rPr>
              <a:t>.</a:t>
            </a:r>
            <a:endParaRPr lang="en-US" sz="1400" dirty="0"/>
          </a:p>
        </p:txBody>
      </p:sp>
      <p:pic>
        <p:nvPicPr>
          <p:cNvPr id="8" name="Image 1" descr="/home/claude/work/assets/logo_biu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4892040"/>
            <a:ext cx="685800" cy="8321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960120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3000" b="1">
                <a:latin typeface="Calibri"/>
              </a:rPr>
              <a:t>Latar Belakang</a:t>
            </a:r>
            <a:endParaRPr lang="en-US" sz="3000" dirty="0"/>
          </a:p>
        </p:txBody>
      </p:sp>
      <p:pic>
        <p:nvPicPr>
          <p:cNvPr id="4" name="Image 0" descr="/home/claude/work/assets/logo_ubi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20040"/>
            <a:ext cx="1170432" cy="3447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024128"/>
            <a:ext cx="1911096" cy="36576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411480" y="1024128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 dirty="0">
                <a:solidFill>
                  <a:schemeClr val="bg1"/>
                </a:solidFill>
                <a:latin typeface="Calibri"/>
              </a:rPr>
              <a:t>Latar </a:t>
            </a:r>
            <a:r>
              <a:rPr sz="1300" b="1" dirty="0" err="1">
                <a:solidFill>
                  <a:schemeClr val="bg1"/>
                </a:solidFill>
                <a:latin typeface="Calibri"/>
              </a:rPr>
              <a:t>Belakang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8" name="Image 1" descr="/home/claude/work/assets/logo_biu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144768"/>
            <a:ext cx="566928" cy="685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1389888"/>
            <a:ext cx="11338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lnSpc>
                <a:spcPct val="125000"/>
              </a:lnSpc>
              <a:spcAft>
                <a:spcPts val="600"/>
              </a:spcAft>
            </a:pPr>
            <a:r>
              <a:rPr lang="en-US" sz="1350" dirty="0" err="1"/>
              <a:t>Penentuan</a:t>
            </a:r>
            <a:r>
              <a:rPr lang="en-US" sz="1350" dirty="0"/>
              <a:t> </a:t>
            </a:r>
            <a:r>
              <a:rPr lang="en-US" sz="1350" dirty="0" err="1"/>
              <a:t>siswa</a:t>
            </a:r>
            <a:r>
              <a:rPr lang="en-US" sz="1350" dirty="0"/>
              <a:t> </a:t>
            </a:r>
            <a:r>
              <a:rPr lang="en-US" sz="1350" dirty="0" err="1"/>
              <a:t>terbaik</a:t>
            </a:r>
            <a:r>
              <a:rPr lang="en-US" sz="1350" dirty="0"/>
              <a:t> di SMK Bina Industri Cikarang </a:t>
            </a:r>
            <a:r>
              <a:rPr lang="en-US" sz="1350" dirty="0" err="1"/>
              <a:t>masih</a:t>
            </a:r>
            <a:r>
              <a:rPr lang="en-US" sz="1350" dirty="0"/>
              <a:t> </a:t>
            </a:r>
            <a:r>
              <a:rPr lang="en-US" sz="1350" dirty="0" err="1"/>
              <a:t>dilakukan</a:t>
            </a:r>
            <a:r>
              <a:rPr lang="en-US" sz="1350" dirty="0"/>
              <a:t> </a:t>
            </a:r>
            <a:r>
              <a:rPr lang="en-US" sz="1350" dirty="0" err="1"/>
              <a:t>melalui</a:t>
            </a:r>
            <a:r>
              <a:rPr lang="en-US" sz="1350" dirty="0"/>
              <a:t> forum </a:t>
            </a:r>
            <a:r>
              <a:rPr lang="en-US" sz="1350" dirty="0" err="1"/>
              <a:t>musyawarah</a:t>
            </a:r>
            <a:r>
              <a:rPr lang="en-US" sz="1350" dirty="0"/>
              <a:t> yang </a:t>
            </a:r>
            <a:r>
              <a:rPr lang="en-US" sz="1350" dirty="0" err="1"/>
              <a:t>melibatkan</a:t>
            </a:r>
            <a:r>
              <a:rPr lang="en-US" sz="1350" dirty="0"/>
              <a:t> guru dan </a:t>
            </a:r>
            <a:r>
              <a:rPr lang="en-US" sz="1350" dirty="0" err="1"/>
              <a:t>wali</a:t>
            </a:r>
            <a:r>
              <a:rPr lang="en-US" sz="1350" dirty="0"/>
              <a:t> </a:t>
            </a:r>
            <a:r>
              <a:rPr lang="en-US" sz="1350" dirty="0" err="1"/>
              <a:t>kelas</a:t>
            </a:r>
            <a:r>
              <a:rPr lang="en-US" sz="1350" dirty="0"/>
              <a:t>. Proses </a:t>
            </a:r>
            <a:r>
              <a:rPr lang="en-US" sz="1350" dirty="0" err="1"/>
              <a:t>tersebut</a:t>
            </a:r>
            <a:r>
              <a:rPr lang="en-US" sz="1350" dirty="0"/>
              <a:t> </a:t>
            </a:r>
            <a:r>
              <a:rPr lang="en-US" sz="1350" dirty="0" err="1"/>
              <a:t>memiliki</a:t>
            </a:r>
            <a:r>
              <a:rPr lang="en-US" sz="1350" dirty="0"/>
              <a:t> </a:t>
            </a:r>
            <a:r>
              <a:rPr lang="en-US" sz="1350" dirty="0" err="1"/>
              <a:t>tingkat</a:t>
            </a:r>
            <a:r>
              <a:rPr lang="en-US" sz="1350" dirty="0"/>
              <a:t> </a:t>
            </a:r>
            <a:r>
              <a:rPr lang="en-US" sz="1350" dirty="0" err="1"/>
              <a:t>subjektivitas</a:t>
            </a:r>
            <a:r>
              <a:rPr lang="en-US" sz="1350" dirty="0"/>
              <a:t> yang </a:t>
            </a:r>
            <a:r>
              <a:rPr lang="en-US" sz="1350" dirty="0" err="1"/>
              <a:t>tinggi</a:t>
            </a:r>
            <a:r>
              <a:rPr lang="en-US" sz="1350" dirty="0"/>
              <a:t> </a:t>
            </a:r>
            <a:r>
              <a:rPr lang="en-US" sz="1350" dirty="0" err="1"/>
              <a:t>karena</a:t>
            </a:r>
            <a:r>
              <a:rPr lang="en-US" sz="1350" dirty="0"/>
              <a:t> </a:t>
            </a:r>
            <a:r>
              <a:rPr lang="en-US" sz="1350" dirty="0" err="1"/>
              <a:t>belum</a:t>
            </a:r>
            <a:r>
              <a:rPr lang="en-US" sz="1350" dirty="0"/>
              <a:t> </a:t>
            </a:r>
            <a:r>
              <a:rPr lang="en-US" sz="1350" dirty="0" err="1"/>
              <a:t>menggunakan</a:t>
            </a:r>
            <a:r>
              <a:rPr lang="en-US" sz="1350" dirty="0"/>
              <a:t> </a:t>
            </a:r>
            <a:r>
              <a:rPr lang="en-US" sz="1350" dirty="0" err="1"/>
              <a:t>standar</a:t>
            </a:r>
            <a:r>
              <a:rPr lang="en-US" sz="1350" dirty="0"/>
              <a:t> </a:t>
            </a:r>
            <a:r>
              <a:rPr lang="en-US" sz="1350" dirty="0" err="1"/>
              <a:t>perhitungan</a:t>
            </a:r>
            <a:r>
              <a:rPr lang="en-US" sz="1350" dirty="0"/>
              <a:t> </a:t>
            </a:r>
            <a:r>
              <a:rPr lang="en-US" sz="1350" dirty="0" err="1"/>
              <a:t>kuantitatif</a:t>
            </a:r>
            <a:r>
              <a:rPr lang="en-US" sz="1350" dirty="0"/>
              <a:t> yang </a:t>
            </a:r>
            <a:r>
              <a:rPr lang="en-US" sz="1350" dirty="0" err="1"/>
              <a:t>terukur</a:t>
            </a:r>
            <a:r>
              <a:rPr lang="en-US" sz="1350" dirty="0"/>
              <a:t>. Selain </a:t>
            </a:r>
            <a:r>
              <a:rPr lang="en-US" sz="1350" dirty="0" err="1"/>
              <a:t>itu</a:t>
            </a:r>
            <a:r>
              <a:rPr lang="en-US" sz="1350" dirty="0"/>
              <a:t>, data </a:t>
            </a:r>
            <a:r>
              <a:rPr lang="en-US" sz="1350" dirty="0" err="1"/>
              <a:t>penilaian</a:t>
            </a:r>
            <a:r>
              <a:rPr lang="en-US" sz="1350" dirty="0"/>
              <a:t> </a:t>
            </a:r>
            <a:r>
              <a:rPr lang="en-US" sz="1350" dirty="0" err="1"/>
              <a:t>masih</a:t>
            </a:r>
            <a:r>
              <a:rPr lang="en-US" sz="1350" dirty="0"/>
              <a:t> </a:t>
            </a:r>
            <a:r>
              <a:rPr lang="en-US" sz="1350" dirty="0" err="1"/>
              <a:t>dikelola</a:t>
            </a:r>
            <a:r>
              <a:rPr lang="en-US" sz="1350" dirty="0"/>
              <a:t> </a:t>
            </a:r>
            <a:r>
              <a:rPr lang="en-US" sz="1350" dirty="0" err="1"/>
              <a:t>secara</a:t>
            </a:r>
            <a:r>
              <a:rPr lang="en-US" sz="1350" dirty="0"/>
              <a:t> </a:t>
            </a:r>
            <a:r>
              <a:rPr lang="en-US" sz="1350" dirty="0" err="1"/>
              <a:t>terpisah</a:t>
            </a:r>
            <a:r>
              <a:rPr lang="en-US" sz="1350" dirty="0"/>
              <a:t>, </a:t>
            </a:r>
            <a:r>
              <a:rPr lang="en-US" sz="1350" dirty="0" err="1"/>
              <a:t>sehingga</a:t>
            </a:r>
            <a:r>
              <a:rPr lang="en-US" sz="1350" dirty="0"/>
              <a:t> proses </a:t>
            </a:r>
            <a:r>
              <a:rPr lang="en-US" sz="1350" dirty="0" err="1"/>
              <a:t>penggabungan</a:t>
            </a:r>
            <a:r>
              <a:rPr lang="en-US" sz="1350" dirty="0"/>
              <a:t> data </a:t>
            </a:r>
            <a:r>
              <a:rPr lang="en-US" sz="1350" dirty="0" err="1"/>
              <a:t>membutuhkan</a:t>
            </a:r>
            <a:r>
              <a:rPr lang="en-US" sz="1350" dirty="0"/>
              <a:t> </a:t>
            </a:r>
            <a:r>
              <a:rPr lang="en-US" sz="1350" dirty="0" err="1"/>
              <a:t>waktu</a:t>
            </a:r>
            <a:r>
              <a:rPr lang="en-US" sz="1350" dirty="0"/>
              <a:t> dan </a:t>
            </a:r>
            <a:r>
              <a:rPr lang="en-US" sz="1350" dirty="0" err="1"/>
              <a:t>berisiko</a:t>
            </a:r>
            <a:r>
              <a:rPr lang="en-US" sz="1350" dirty="0"/>
              <a:t> </a:t>
            </a:r>
            <a:r>
              <a:rPr lang="en-US" sz="1350" dirty="0" err="1"/>
              <a:t>menimbulkan</a:t>
            </a:r>
            <a:r>
              <a:rPr lang="en-US" sz="1350" dirty="0"/>
              <a:t> </a:t>
            </a:r>
            <a:r>
              <a:rPr lang="en-US" sz="1350" dirty="0" err="1"/>
              <a:t>kesalahan</a:t>
            </a:r>
            <a:r>
              <a:rPr lang="en-US" sz="1350" dirty="0"/>
              <a:t> input </a:t>
            </a:r>
            <a:r>
              <a:rPr lang="en-US" sz="1350" dirty="0" err="1"/>
              <a:t>maupun</a:t>
            </a:r>
            <a:r>
              <a:rPr lang="en-US" sz="1350" dirty="0"/>
              <a:t> </a:t>
            </a:r>
            <a:r>
              <a:rPr lang="en-US" sz="1350" dirty="0" err="1"/>
              <a:t>perhitungan</a:t>
            </a:r>
            <a:r>
              <a:rPr lang="en-US" sz="1350" dirty="0"/>
              <a:t>. </a:t>
            </a:r>
            <a:r>
              <a:rPr lang="en-US" sz="1350" dirty="0" err="1"/>
              <a:t>Kondisi</a:t>
            </a:r>
            <a:r>
              <a:rPr lang="en-US" sz="1350" dirty="0"/>
              <a:t> </a:t>
            </a:r>
            <a:r>
              <a:rPr lang="en-US" sz="1350" dirty="0" err="1"/>
              <a:t>tersebut</a:t>
            </a:r>
            <a:r>
              <a:rPr lang="en-US" sz="1350" dirty="0"/>
              <a:t> </a:t>
            </a:r>
            <a:r>
              <a:rPr lang="en-US" sz="1350" dirty="0" err="1"/>
              <a:t>menyebabkan</a:t>
            </a:r>
            <a:r>
              <a:rPr lang="en-US" sz="1350" dirty="0"/>
              <a:t> proses </a:t>
            </a:r>
            <a:r>
              <a:rPr lang="en-US" sz="1350" dirty="0" err="1"/>
              <a:t>penentuan</a:t>
            </a:r>
            <a:r>
              <a:rPr lang="en-US" sz="1350" dirty="0"/>
              <a:t> </a:t>
            </a:r>
            <a:r>
              <a:rPr lang="en-US" sz="1350" dirty="0" err="1"/>
              <a:t>siswa</a:t>
            </a:r>
            <a:r>
              <a:rPr lang="en-US" sz="1350" dirty="0"/>
              <a:t> </a:t>
            </a:r>
            <a:r>
              <a:rPr lang="en-US" sz="1350" dirty="0" err="1"/>
              <a:t>terbaik</a:t>
            </a:r>
            <a:r>
              <a:rPr lang="en-US" sz="1350" dirty="0"/>
              <a:t> </a:t>
            </a:r>
            <a:r>
              <a:rPr lang="en-US" sz="1350" dirty="0" err="1"/>
              <a:t>menjadi</a:t>
            </a:r>
            <a:r>
              <a:rPr lang="en-US" sz="1350" dirty="0"/>
              <a:t> </a:t>
            </a:r>
            <a:r>
              <a:rPr lang="en-US" sz="1350" dirty="0" err="1"/>
              <a:t>kurang</a:t>
            </a:r>
            <a:r>
              <a:rPr lang="en-US" sz="1350" dirty="0"/>
              <a:t> </a:t>
            </a:r>
            <a:r>
              <a:rPr lang="en-US" sz="1350" dirty="0" err="1"/>
              <a:t>efisien</a:t>
            </a:r>
            <a:r>
              <a:rPr lang="en-US" sz="1350" dirty="0"/>
              <a:t> dan </a:t>
            </a:r>
            <a:r>
              <a:rPr lang="en-US" sz="1350" dirty="0" err="1"/>
              <a:t>berpotensi</a:t>
            </a:r>
            <a:r>
              <a:rPr lang="en-US" sz="1350" dirty="0"/>
              <a:t> </a:t>
            </a:r>
            <a:r>
              <a:rPr lang="en-US" sz="1350" dirty="0" err="1"/>
              <a:t>memengaruhi</a:t>
            </a:r>
            <a:r>
              <a:rPr lang="en-US" sz="1350" dirty="0"/>
              <a:t> </a:t>
            </a:r>
            <a:r>
              <a:rPr lang="en-US" sz="1350" dirty="0" err="1"/>
              <a:t>objektivitas</a:t>
            </a:r>
            <a:r>
              <a:rPr lang="en-US" sz="1350" dirty="0"/>
              <a:t> </a:t>
            </a:r>
            <a:r>
              <a:rPr lang="en-US" sz="1350" dirty="0" err="1"/>
              <a:t>hasil</a:t>
            </a:r>
            <a:r>
              <a:rPr lang="en-US" sz="1350" dirty="0"/>
              <a:t> </a:t>
            </a:r>
            <a:r>
              <a:rPr lang="en-US" sz="1350" dirty="0" err="1"/>
              <a:t>keputusan</a:t>
            </a:r>
            <a:r>
              <a:rPr lang="en-US" sz="1350" dirty="0"/>
              <a:t>.</a:t>
            </a:r>
          </a:p>
          <a:p>
            <a:pPr algn="just">
              <a:lnSpc>
                <a:spcPct val="125000"/>
              </a:lnSpc>
            </a:pPr>
            <a:r>
              <a:rPr lang="en-US" sz="1350" dirty="0" err="1"/>
              <a:t>Permasalahan</a:t>
            </a:r>
            <a:r>
              <a:rPr lang="en-US" sz="1350" dirty="0"/>
              <a:t> </a:t>
            </a:r>
            <a:r>
              <a:rPr lang="en-US" sz="1350" dirty="0" err="1"/>
              <a:t>tersebut</a:t>
            </a:r>
            <a:r>
              <a:rPr lang="en-US" sz="1350" dirty="0"/>
              <a:t> </a:t>
            </a:r>
            <a:r>
              <a:rPr lang="en-US" sz="1350" dirty="0" err="1"/>
              <a:t>dapat</a:t>
            </a:r>
            <a:r>
              <a:rPr lang="en-US" sz="1350" dirty="0"/>
              <a:t> </a:t>
            </a:r>
            <a:r>
              <a:rPr lang="en-US" sz="1350" dirty="0" err="1"/>
              <a:t>diatasi</a:t>
            </a:r>
            <a:r>
              <a:rPr lang="en-US" sz="1350" dirty="0"/>
              <a:t> </a:t>
            </a:r>
            <a:r>
              <a:rPr lang="en-US" sz="1350" dirty="0" err="1"/>
              <a:t>melalui</a:t>
            </a:r>
            <a:r>
              <a:rPr lang="en-US" sz="1350" dirty="0"/>
              <a:t> </a:t>
            </a:r>
            <a:r>
              <a:rPr lang="en-US" sz="1350" dirty="0" err="1"/>
              <a:t>penerapan</a:t>
            </a:r>
            <a:r>
              <a:rPr lang="en-US" sz="1350" dirty="0"/>
              <a:t> </a:t>
            </a:r>
            <a:r>
              <a:rPr lang="en-US" sz="1350" dirty="0" err="1"/>
              <a:t>Sistem</a:t>
            </a:r>
            <a:r>
              <a:rPr lang="en-US" sz="1350" dirty="0"/>
              <a:t> </a:t>
            </a:r>
            <a:r>
              <a:rPr lang="en-US" sz="1350" dirty="0" err="1"/>
              <a:t>Pendukung</a:t>
            </a:r>
            <a:r>
              <a:rPr lang="en-US" sz="1350" dirty="0"/>
              <a:t> Keputusan (SPK) </a:t>
            </a:r>
            <a:r>
              <a:rPr lang="en-US" sz="1350" dirty="0" err="1"/>
              <a:t>berbasis</a:t>
            </a:r>
            <a:r>
              <a:rPr lang="en-US" sz="1350" dirty="0"/>
              <a:t> web yang </a:t>
            </a:r>
            <a:r>
              <a:rPr lang="en-US" sz="1350" dirty="0" err="1"/>
              <a:t>mampu</a:t>
            </a:r>
            <a:r>
              <a:rPr lang="en-US" sz="1350" dirty="0"/>
              <a:t> </a:t>
            </a:r>
            <a:r>
              <a:rPr lang="en-US" sz="1350" dirty="0" err="1"/>
              <a:t>mengintegrasikan</a:t>
            </a:r>
            <a:r>
              <a:rPr lang="en-US" sz="1350" dirty="0"/>
              <a:t> data </a:t>
            </a:r>
            <a:r>
              <a:rPr lang="en-US" sz="1350" dirty="0" err="1"/>
              <a:t>penilaian</a:t>
            </a:r>
            <a:r>
              <a:rPr lang="en-US" sz="1350" dirty="0"/>
              <a:t> dan </a:t>
            </a:r>
            <a:r>
              <a:rPr lang="en-US" sz="1350" dirty="0" err="1"/>
              <a:t>melakukan</a:t>
            </a:r>
            <a:r>
              <a:rPr lang="en-US" sz="1350" dirty="0"/>
              <a:t> proses </a:t>
            </a:r>
            <a:r>
              <a:rPr lang="en-US" sz="1350" dirty="0" err="1"/>
              <a:t>perhitungan</a:t>
            </a:r>
            <a:r>
              <a:rPr lang="en-US" sz="1350" dirty="0"/>
              <a:t> </a:t>
            </a:r>
            <a:r>
              <a:rPr lang="en-US" sz="1350" dirty="0" err="1"/>
              <a:t>secara</a:t>
            </a:r>
            <a:r>
              <a:rPr lang="en-US" sz="1350" dirty="0"/>
              <a:t> </a:t>
            </a:r>
            <a:r>
              <a:rPr lang="en-US" sz="1350" dirty="0" err="1"/>
              <a:t>otomatis</a:t>
            </a:r>
            <a:r>
              <a:rPr lang="en-US" sz="1350" dirty="0"/>
              <a:t>. </a:t>
            </a:r>
            <a:r>
              <a:rPr lang="en-US" sz="1350" dirty="0" err="1"/>
              <a:t>Penelitian</a:t>
            </a:r>
            <a:r>
              <a:rPr lang="en-US" sz="1350" dirty="0"/>
              <a:t> </a:t>
            </a:r>
            <a:r>
              <a:rPr lang="en-US" sz="1350" dirty="0" err="1"/>
              <a:t>ini</a:t>
            </a:r>
            <a:r>
              <a:rPr lang="en-US" sz="1350" dirty="0"/>
              <a:t> </a:t>
            </a:r>
            <a:r>
              <a:rPr lang="en-US" sz="1350" dirty="0" err="1"/>
              <a:t>menggunakan</a:t>
            </a:r>
            <a:r>
              <a:rPr lang="en-US" sz="1350" dirty="0"/>
              <a:t> </a:t>
            </a:r>
            <a:r>
              <a:rPr lang="en-US" sz="1350" dirty="0" err="1"/>
              <a:t>metode</a:t>
            </a:r>
            <a:r>
              <a:rPr lang="en-US" sz="1350" dirty="0"/>
              <a:t> Weighted Product (WP) </a:t>
            </a:r>
            <a:r>
              <a:rPr lang="en-US" sz="1350" dirty="0" err="1"/>
              <a:t>karena</a:t>
            </a:r>
            <a:r>
              <a:rPr lang="en-US" sz="1350" dirty="0"/>
              <a:t> </a:t>
            </a:r>
            <a:r>
              <a:rPr lang="en-US" sz="1350" dirty="0" err="1"/>
              <a:t>mampu</a:t>
            </a:r>
            <a:r>
              <a:rPr lang="en-US" sz="1350" dirty="0"/>
              <a:t> </a:t>
            </a:r>
            <a:r>
              <a:rPr lang="en-US" sz="1350" dirty="0" err="1"/>
              <a:t>mengolah</a:t>
            </a:r>
            <a:r>
              <a:rPr lang="en-US" sz="1350" dirty="0"/>
              <a:t> </a:t>
            </a:r>
            <a:r>
              <a:rPr lang="en-US" sz="1350" dirty="0" err="1"/>
              <a:t>beberapa</a:t>
            </a:r>
            <a:r>
              <a:rPr lang="en-US" sz="1350" dirty="0"/>
              <a:t> </a:t>
            </a:r>
            <a:r>
              <a:rPr lang="en-US" sz="1350" dirty="0" err="1"/>
              <a:t>kriteria</a:t>
            </a:r>
            <a:r>
              <a:rPr lang="en-US" sz="1350" dirty="0"/>
              <a:t> </a:t>
            </a:r>
            <a:r>
              <a:rPr lang="en-US" sz="1350" dirty="0" err="1"/>
              <a:t>dengan</a:t>
            </a:r>
            <a:r>
              <a:rPr lang="en-US" sz="1350" dirty="0"/>
              <a:t> </a:t>
            </a:r>
            <a:r>
              <a:rPr lang="en-US" sz="1350" dirty="0" err="1"/>
              <a:t>bobot</a:t>
            </a:r>
            <a:r>
              <a:rPr lang="en-US" sz="1350" dirty="0"/>
              <a:t> </a:t>
            </a:r>
            <a:r>
              <a:rPr lang="en-US" sz="1350" dirty="0" err="1"/>
              <a:t>kepentingan</a:t>
            </a:r>
            <a:r>
              <a:rPr lang="en-US" sz="1350" dirty="0"/>
              <a:t> yang </a:t>
            </a:r>
            <a:r>
              <a:rPr lang="en-US" sz="1350" dirty="0" err="1"/>
              <a:t>berbeda</a:t>
            </a:r>
            <a:r>
              <a:rPr lang="en-US" sz="1350" dirty="0"/>
              <a:t> </a:t>
            </a:r>
            <a:r>
              <a:rPr lang="en-US" sz="1350" dirty="0" err="1"/>
              <a:t>serta</a:t>
            </a:r>
            <a:r>
              <a:rPr lang="en-US" sz="1350" dirty="0"/>
              <a:t> </a:t>
            </a:r>
            <a:r>
              <a:rPr lang="en-US" sz="1350" dirty="0" err="1"/>
              <a:t>menghasilkan</a:t>
            </a:r>
            <a:r>
              <a:rPr lang="en-US" sz="1350" dirty="0"/>
              <a:t> </a:t>
            </a:r>
            <a:r>
              <a:rPr lang="en-US" sz="1350" dirty="0" err="1"/>
              <a:t>pemeringkatan</a:t>
            </a:r>
            <a:r>
              <a:rPr lang="en-US" sz="1350" dirty="0"/>
              <a:t> </a:t>
            </a:r>
            <a:r>
              <a:rPr lang="en-US" sz="1350" dirty="0" err="1"/>
              <a:t>secara</a:t>
            </a:r>
            <a:r>
              <a:rPr lang="en-US" sz="1350" dirty="0"/>
              <a:t> </a:t>
            </a:r>
            <a:r>
              <a:rPr lang="en-US" sz="1350" dirty="0" err="1"/>
              <a:t>lebih</a:t>
            </a:r>
            <a:r>
              <a:rPr lang="en-US" sz="1350" dirty="0"/>
              <a:t> </a:t>
            </a:r>
            <a:r>
              <a:rPr lang="en-US" sz="1350" dirty="0" err="1"/>
              <a:t>objektif</a:t>
            </a:r>
            <a:r>
              <a:rPr lang="en-US" sz="1350" dirty="0"/>
              <a:t> dan </a:t>
            </a:r>
            <a:r>
              <a:rPr lang="en-US" sz="1350" dirty="0" err="1"/>
              <a:t>konsisten</a:t>
            </a:r>
            <a:r>
              <a:rPr lang="en-US" sz="1350" dirty="0"/>
              <a:t>. </a:t>
            </a:r>
            <a:r>
              <a:rPr lang="en-US" sz="1350" dirty="0" err="1"/>
              <a:t>Sistem</a:t>
            </a:r>
            <a:r>
              <a:rPr lang="en-US" sz="1350" dirty="0"/>
              <a:t> yang </a:t>
            </a:r>
            <a:r>
              <a:rPr lang="en-US" sz="1350" dirty="0" err="1"/>
              <a:t>dibangun</a:t>
            </a:r>
            <a:r>
              <a:rPr lang="en-US" sz="1350" dirty="0"/>
              <a:t> </a:t>
            </a:r>
            <a:r>
              <a:rPr lang="en-US" sz="1350" dirty="0" err="1"/>
              <a:t>diharapkan</a:t>
            </a:r>
            <a:r>
              <a:rPr lang="en-US" sz="1350" dirty="0"/>
              <a:t> </a:t>
            </a:r>
            <a:r>
              <a:rPr lang="en-US" sz="1350" dirty="0" err="1"/>
              <a:t>dapat</a:t>
            </a:r>
            <a:r>
              <a:rPr lang="en-US" sz="1350" dirty="0"/>
              <a:t> </a:t>
            </a:r>
            <a:r>
              <a:rPr lang="en-US" sz="1350" dirty="0" err="1"/>
              <a:t>menjadi</a:t>
            </a:r>
            <a:r>
              <a:rPr lang="en-US" sz="1350" dirty="0"/>
              <a:t> </a:t>
            </a:r>
            <a:r>
              <a:rPr lang="en-US" sz="1350" dirty="0" err="1"/>
              <a:t>alat</a:t>
            </a:r>
            <a:r>
              <a:rPr lang="en-US" sz="1350" dirty="0"/>
              <a:t> </a:t>
            </a:r>
            <a:r>
              <a:rPr lang="en-US" sz="1350" dirty="0" err="1"/>
              <a:t>bantu</a:t>
            </a:r>
            <a:r>
              <a:rPr lang="en-US" sz="1350" dirty="0"/>
              <a:t> </a:t>
            </a:r>
            <a:r>
              <a:rPr lang="en-US" sz="1350" dirty="0" err="1"/>
              <a:t>bagi</a:t>
            </a:r>
            <a:r>
              <a:rPr lang="en-US" sz="1350" dirty="0"/>
              <a:t> </a:t>
            </a:r>
            <a:r>
              <a:rPr lang="en-US" sz="1350" dirty="0" err="1"/>
              <a:t>pihak</a:t>
            </a:r>
            <a:r>
              <a:rPr lang="en-US" sz="1350" dirty="0"/>
              <a:t> </a:t>
            </a:r>
            <a:r>
              <a:rPr lang="en-US" sz="1350" dirty="0" err="1"/>
              <a:t>sekolah</a:t>
            </a:r>
            <a:r>
              <a:rPr lang="en-US" sz="1350" dirty="0"/>
              <a:t> </a:t>
            </a:r>
            <a:r>
              <a:rPr lang="en-US" sz="1350" dirty="0" err="1"/>
              <a:t>dalam</a:t>
            </a:r>
            <a:r>
              <a:rPr lang="en-US" sz="1350" dirty="0"/>
              <a:t> </a:t>
            </a:r>
            <a:r>
              <a:rPr lang="en-US" sz="1350" dirty="0" err="1"/>
              <a:t>menentukan</a:t>
            </a:r>
            <a:r>
              <a:rPr lang="en-US" sz="1350" dirty="0"/>
              <a:t> </a:t>
            </a:r>
            <a:r>
              <a:rPr lang="en-US" sz="1350" dirty="0" err="1"/>
              <a:t>siswa</a:t>
            </a:r>
            <a:r>
              <a:rPr lang="en-US" sz="1350" dirty="0"/>
              <a:t> </a:t>
            </a:r>
            <a:r>
              <a:rPr lang="en-US" sz="1350" dirty="0" err="1"/>
              <a:t>terbaik</a:t>
            </a:r>
            <a:r>
              <a:rPr lang="en-US" sz="1350" dirty="0"/>
              <a:t> </a:t>
            </a:r>
            <a:r>
              <a:rPr lang="en-US" sz="1350" dirty="0" err="1"/>
              <a:t>berdasarkan</a:t>
            </a:r>
            <a:r>
              <a:rPr lang="en-US" sz="1350" dirty="0"/>
              <a:t> data yang </a:t>
            </a:r>
            <a:r>
              <a:rPr lang="en-US" sz="1350" dirty="0" err="1"/>
              <a:t>terukur</a:t>
            </a:r>
            <a:r>
              <a:rPr lang="en-US" sz="1350" dirty="0"/>
              <a:t>, </a:t>
            </a:r>
            <a:r>
              <a:rPr lang="en-US" sz="1350" dirty="0" err="1"/>
              <a:t>sekaligus</a:t>
            </a:r>
            <a:r>
              <a:rPr lang="en-US" sz="1350" dirty="0"/>
              <a:t> </a:t>
            </a:r>
            <a:r>
              <a:rPr lang="en-US" sz="1350" dirty="0" err="1"/>
              <a:t>meningkatkan</a:t>
            </a:r>
            <a:r>
              <a:rPr lang="en-US" sz="1350" dirty="0"/>
              <a:t> </a:t>
            </a:r>
            <a:r>
              <a:rPr lang="en-US" sz="1350" dirty="0" err="1"/>
              <a:t>efisiensi</a:t>
            </a:r>
            <a:r>
              <a:rPr lang="en-US" sz="1350" dirty="0"/>
              <a:t> </a:t>
            </a:r>
            <a:r>
              <a:rPr lang="en-US" sz="1350" dirty="0" err="1"/>
              <a:t>pengolahan</a:t>
            </a:r>
            <a:r>
              <a:rPr lang="en-US" sz="1350" dirty="0"/>
              <a:t> data, </a:t>
            </a:r>
            <a:r>
              <a:rPr lang="en-US" sz="1350" dirty="0" err="1"/>
              <a:t>transparansi</a:t>
            </a:r>
            <a:r>
              <a:rPr lang="en-US" sz="1350" dirty="0"/>
              <a:t>, dan </a:t>
            </a:r>
            <a:r>
              <a:rPr lang="en-US" sz="1350" dirty="0" err="1"/>
              <a:t>akurasi</a:t>
            </a:r>
            <a:r>
              <a:rPr lang="en-US" sz="1350" dirty="0"/>
              <a:t> proses </a:t>
            </a:r>
            <a:r>
              <a:rPr lang="en-US" sz="1350" dirty="0" err="1"/>
              <a:t>pengambilan</a:t>
            </a:r>
            <a:r>
              <a:rPr lang="en-US" sz="1350" dirty="0"/>
              <a:t> </a:t>
            </a:r>
            <a:r>
              <a:rPr lang="en-US" sz="1350" dirty="0" err="1"/>
              <a:t>keputusan</a:t>
            </a:r>
            <a:r>
              <a:rPr lang="en-US" sz="1350" dirty="0"/>
              <a:t>.</a:t>
            </a:r>
          </a:p>
        </p:txBody>
      </p:sp>
      <p:sp>
        <p:nvSpPr>
          <p:cNvPr id="11" name="Shape 7"/>
          <p:cNvSpPr/>
          <p:nvPr/>
        </p:nvSpPr>
        <p:spPr>
          <a:xfrm>
            <a:off x="411480" y="4343399"/>
            <a:ext cx="5440680" cy="2191871"/>
          </a:xfrm>
          <a:prstGeom prst="roundRect">
            <a:avLst>
              <a:gd name="adj" fmla="val 3810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8"/>
          <p:cNvSpPr/>
          <p:nvPr/>
        </p:nvSpPr>
        <p:spPr>
          <a:xfrm>
            <a:off x="576072" y="4197096"/>
            <a:ext cx="1499616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Text 9"/>
          <p:cNvSpPr/>
          <p:nvPr/>
        </p:nvSpPr>
        <p:spPr>
          <a:xfrm>
            <a:off x="576072" y="4197096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1" dirty="0" err="1">
                <a:solidFill>
                  <a:schemeClr val="bg1"/>
                </a:solidFill>
                <a:latin typeface="Calibri"/>
              </a:rPr>
              <a:t>Permasalahan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21792" y="47091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1"/>
          <p:cNvSpPr/>
          <p:nvPr/>
        </p:nvSpPr>
        <p:spPr>
          <a:xfrm>
            <a:off x="621792" y="4690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33272" y="46360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ID" sz="1250" dirty="0">
                <a:latin typeface="Calibri"/>
              </a:rPr>
              <a:t>Proses </a:t>
            </a:r>
            <a:r>
              <a:rPr lang="en-ID" sz="1250" dirty="0" err="1">
                <a:latin typeface="Calibri"/>
              </a:rPr>
              <a:t>pemilihan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siswa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terbaik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masih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bersifat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subjektif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karena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dilakukan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melalui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musyawarah</a:t>
            </a:r>
            <a:r>
              <a:rPr lang="en-ID" sz="1250" dirty="0">
                <a:latin typeface="Calibri"/>
              </a:rPr>
              <a:t> guru </a:t>
            </a:r>
            <a:r>
              <a:rPr lang="en-ID" sz="1250" dirty="0" err="1">
                <a:latin typeface="Calibri"/>
              </a:rPr>
              <a:t>tanpa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standar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perhitungan</a:t>
            </a:r>
            <a:r>
              <a:rPr lang="en-ID" sz="1250" dirty="0">
                <a:latin typeface="Calibri"/>
              </a:rPr>
              <a:t> yang </a:t>
            </a:r>
            <a:r>
              <a:rPr lang="en-ID" sz="1250" dirty="0" err="1">
                <a:latin typeface="Calibri"/>
              </a:rPr>
              <a:t>terukur</a:t>
            </a:r>
            <a:r>
              <a:rPr lang="en-ID" sz="1250" dirty="0">
                <a:latin typeface="Calibri"/>
              </a:rPr>
              <a:t>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1792" y="53309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4"/>
          <p:cNvSpPr/>
          <p:nvPr/>
        </p:nvSpPr>
        <p:spPr>
          <a:xfrm>
            <a:off x="621792" y="53126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033272" y="522391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ID" sz="1250" dirty="0">
                <a:latin typeface="Calibri"/>
              </a:rPr>
              <a:t>Data </a:t>
            </a:r>
            <a:r>
              <a:rPr lang="en-ID" sz="1250" dirty="0" err="1">
                <a:latin typeface="Calibri"/>
              </a:rPr>
              <a:t>penilaian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masih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tersimpan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secara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terpisah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sehingga</a:t>
            </a:r>
            <a:r>
              <a:rPr lang="en-ID" sz="1250" dirty="0">
                <a:latin typeface="Calibri"/>
              </a:rPr>
              <a:t> proses </a:t>
            </a:r>
            <a:r>
              <a:rPr lang="en-ID" sz="1250" dirty="0" err="1">
                <a:latin typeface="Calibri"/>
              </a:rPr>
              <a:t>penggabungan</a:t>
            </a:r>
            <a:r>
              <a:rPr lang="en-ID" sz="1250" dirty="0">
                <a:latin typeface="Calibri"/>
              </a:rPr>
              <a:t> dan </a:t>
            </a:r>
            <a:r>
              <a:rPr lang="en-ID" sz="1250" dirty="0" err="1">
                <a:latin typeface="Calibri"/>
              </a:rPr>
              <a:t>pemeringkatan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siswa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menjadi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kurang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efisien</a:t>
            </a:r>
            <a:r>
              <a:rPr lang="en-ID" sz="1250" dirty="0">
                <a:latin typeface="Calibri"/>
              </a:rPr>
              <a:t>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21792" y="597103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7"/>
          <p:cNvSpPr/>
          <p:nvPr/>
        </p:nvSpPr>
        <p:spPr>
          <a:xfrm>
            <a:off x="621792" y="5952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033272" y="58795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ID" sz="1250" dirty="0">
                <a:latin typeface="Calibri"/>
              </a:rPr>
              <a:t>Belum </a:t>
            </a:r>
            <a:r>
              <a:rPr lang="en-ID" sz="1250" dirty="0" err="1">
                <a:latin typeface="Calibri"/>
              </a:rPr>
              <a:t>tersedia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sistem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otomatis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untuk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mengolah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bobot</a:t>
            </a:r>
            <a:r>
              <a:rPr lang="en-ID" sz="1250" dirty="0">
                <a:latin typeface="Calibri"/>
              </a:rPr>
              <a:t> dan </a:t>
            </a:r>
            <a:r>
              <a:rPr lang="en-ID" sz="1250" dirty="0" err="1">
                <a:latin typeface="Calibri"/>
              </a:rPr>
              <a:t>perhitungan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kriteria</a:t>
            </a:r>
            <a:r>
              <a:rPr lang="en-ID" sz="1250" dirty="0">
                <a:latin typeface="Calibri"/>
              </a:rPr>
              <a:t>, </a:t>
            </a:r>
            <a:r>
              <a:rPr lang="en-ID" sz="1250" dirty="0" err="1">
                <a:latin typeface="Calibri"/>
              </a:rPr>
              <a:t>sehingga</a:t>
            </a:r>
            <a:r>
              <a:rPr lang="en-ID" sz="1250" dirty="0">
                <a:latin typeface="Calibri"/>
              </a:rPr>
              <a:t> proses </a:t>
            </a:r>
            <a:r>
              <a:rPr lang="en-ID" sz="1250" dirty="0" err="1">
                <a:latin typeface="Calibri"/>
              </a:rPr>
              <a:t>pemeringkatan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membutuhkan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waktu</a:t>
            </a:r>
            <a:r>
              <a:rPr lang="en-ID" sz="1250" dirty="0">
                <a:latin typeface="Calibri"/>
              </a:rPr>
              <a:t> dan </a:t>
            </a:r>
            <a:r>
              <a:rPr lang="en-ID" sz="1250" dirty="0" err="1">
                <a:latin typeface="Calibri"/>
              </a:rPr>
              <a:t>berisiko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terjadi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kesalahan</a:t>
            </a:r>
            <a:r>
              <a:rPr lang="en-ID" sz="1250" dirty="0">
                <a:latin typeface="Calibri"/>
              </a:rPr>
              <a:t> </a:t>
            </a:r>
            <a:r>
              <a:rPr lang="en-ID" sz="1250" dirty="0" err="1">
                <a:latin typeface="Calibri"/>
              </a:rPr>
              <a:t>perhitungan</a:t>
            </a:r>
            <a:r>
              <a:rPr lang="en-ID" sz="1250" dirty="0">
                <a:latin typeface="Calibri"/>
              </a:rPr>
              <a:t>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172200" y="434340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3"/>
          <p:cNvSpPr/>
          <p:nvPr/>
        </p:nvSpPr>
        <p:spPr>
          <a:xfrm>
            <a:off x="6336792" y="4197096"/>
            <a:ext cx="978408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8" name="Text 24"/>
          <p:cNvSpPr/>
          <p:nvPr/>
        </p:nvSpPr>
        <p:spPr>
          <a:xfrm>
            <a:off x="6336792" y="4197096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1" dirty="0">
                <a:solidFill>
                  <a:schemeClr val="bg1"/>
                </a:solidFill>
                <a:latin typeface="Calibri"/>
              </a:rPr>
              <a:t>Solusi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9" name="Shape 25"/>
          <p:cNvSpPr/>
          <p:nvPr/>
        </p:nvSpPr>
        <p:spPr>
          <a:xfrm>
            <a:off x="6382512" y="47091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" name="Text 26"/>
          <p:cNvSpPr/>
          <p:nvPr/>
        </p:nvSpPr>
        <p:spPr>
          <a:xfrm>
            <a:off x="6382512" y="4709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500" b="1" dirty="0">
                <a:solidFill>
                  <a:schemeClr val="bg1"/>
                </a:solidFill>
                <a:latin typeface="Calibri"/>
              </a:rPr>
              <a:t>SPK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1" name="Text 27"/>
          <p:cNvSpPr/>
          <p:nvPr/>
        </p:nvSpPr>
        <p:spPr>
          <a:xfrm>
            <a:off x="7086600" y="4690872"/>
            <a:ext cx="4526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sz="1250">
                <a:latin typeface="Calibri"/>
              </a:rPr>
              <a:t>Membangun Sistem Pendukung Keputusan berbasis web dengan metode Weighted Product untuk membantu menghasilkan pemeringkatan siswa secara objektif, terukur, dan otomatis.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960120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2700" b="1">
                <a:latin typeface="Calibri"/>
              </a:rPr>
              <a:t>Rumusan Masalah dan Tujuan Penelitian</a:t>
            </a:r>
            <a:endParaRPr lang="en-US" sz="2700" dirty="0"/>
          </a:p>
        </p:txBody>
      </p:sp>
      <p:pic>
        <p:nvPicPr>
          <p:cNvPr id="4" name="Image 0" descr="/home/claude/work/assets/logo_ubi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20040"/>
            <a:ext cx="1170432" cy="344729"/>
          </a:xfrm>
          <a:prstGeom prst="rect">
            <a:avLst/>
          </a:prstGeom>
        </p:spPr>
      </p:pic>
      <p:pic>
        <p:nvPicPr>
          <p:cNvPr id="6" name="Image 1" descr="/home/claude/work/assets/logo_biu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144768"/>
            <a:ext cx="566928" cy="685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508760"/>
            <a:ext cx="5577840" cy="4709160"/>
          </a:xfrm>
          <a:prstGeom prst="roundRect">
            <a:avLst>
              <a:gd name="adj" fmla="val 1553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Shape 4"/>
          <p:cNvSpPr/>
          <p:nvPr/>
        </p:nvSpPr>
        <p:spPr>
          <a:xfrm>
            <a:off x="576072" y="1362456"/>
            <a:ext cx="1760220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5"/>
          <p:cNvSpPr/>
          <p:nvPr/>
        </p:nvSpPr>
        <p:spPr>
          <a:xfrm>
            <a:off x="576072" y="1362456"/>
            <a:ext cx="17602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1" dirty="0" err="1">
                <a:solidFill>
                  <a:schemeClr val="bg1"/>
                </a:solidFill>
                <a:latin typeface="Calibri"/>
              </a:rPr>
              <a:t>Rumusan</a:t>
            </a:r>
            <a:r>
              <a:rPr sz="115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150" b="1" dirty="0" err="1">
                <a:solidFill>
                  <a:schemeClr val="bg1"/>
                </a:solidFill>
                <a:latin typeface="Calibri"/>
              </a:rPr>
              <a:t>Masalah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658368" y="2103120"/>
            <a:ext cx="384048" cy="384048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7"/>
          <p:cNvSpPr/>
          <p:nvPr/>
        </p:nvSpPr>
        <p:spPr>
          <a:xfrm>
            <a:off x="658368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07008" y="2048256"/>
            <a:ext cx="43511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ID" sz="1300" dirty="0" err="1">
                <a:latin typeface="Calibri"/>
              </a:rPr>
              <a:t>Bagaimana</a:t>
            </a:r>
            <a:r>
              <a:rPr lang="en-ID" sz="1300" dirty="0">
                <a:latin typeface="Calibri"/>
              </a:rPr>
              <a:t> </a:t>
            </a:r>
            <a:r>
              <a:rPr lang="en-ID" sz="1300" dirty="0" err="1">
                <a:latin typeface="Calibri"/>
              </a:rPr>
              <a:t>merancang</a:t>
            </a:r>
            <a:r>
              <a:rPr lang="en-ID" sz="1300" dirty="0">
                <a:latin typeface="Calibri"/>
              </a:rPr>
              <a:t> dan </a:t>
            </a:r>
            <a:r>
              <a:rPr lang="en-ID" sz="1300" dirty="0" err="1">
                <a:latin typeface="Calibri"/>
              </a:rPr>
              <a:t>membangun</a:t>
            </a:r>
            <a:r>
              <a:rPr lang="en-ID" sz="1300" dirty="0">
                <a:latin typeface="Calibri"/>
              </a:rPr>
              <a:t> SPK </a:t>
            </a:r>
            <a:r>
              <a:rPr lang="en-ID" sz="1300" dirty="0" err="1">
                <a:latin typeface="Calibri"/>
              </a:rPr>
              <a:t>pemilihan</a:t>
            </a:r>
            <a:r>
              <a:rPr lang="en-ID" sz="1300" dirty="0">
                <a:latin typeface="Calibri"/>
              </a:rPr>
              <a:t> </a:t>
            </a:r>
            <a:r>
              <a:rPr lang="en-ID" sz="1300" dirty="0" err="1">
                <a:latin typeface="Calibri"/>
              </a:rPr>
              <a:t>siswa</a:t>
            </a:r>
            <a:r>
              <a:rPr lang="en-ID" sz="1300" dirty="0">
                <a:latin typeface="Calibri"/>
              </a:rPr>
              <a:t> </a:t>
            </a:r>
            <a:r>
              <a:rPr lang="en-ID" sz="1300" dirty="0" err="1">
                <a:latin typeface="Calibri"/>
              </a:rPr>
              <a:t>terbaik</a:t>
            </a:r>
            <a:r>
              <a:rPr lang="en-ID" sz="1300" dirty="0">
                <a:latin typeface="Calibri"/>
              </a:rPr>
              <a:t> yang </a:t>
            </a:r>
            <a:r>
              <a:rPr lang="en-ID" sz="1300" dirty="0" err="1">
                <a:latin typeface="Calibri"/>
              </a:rPr>
              <a:t>mampu</a:t>
            </a:r>
            <a:r>
              <a:rPr lang="en-ID" sz="1300" dirty="0">
                <a:latin typeface="Calibri"/>
              </a:rPr>
              <a:t> </a:t>
            </a:r>
            <a:r>
              <a:rPr lang="en-ID" sz="1300" dirty="0" err="1">
                <a:latin typeface="Calibri"/>
              </a:rPr>
              <a:t>mengelola</a:t>
            </a:r>
            <a:r>
              <a:rPr lang="en-ID" sz="1300" dirty="0">
                <a:latin typeface="Calibri"/>
              </a:rPr>
              <a:t> data </a:t>
            </a:r>
            <a:r>
              <a:rPr lang="en-ID" sz="1300" dirty="0" err="1">
                <a:latin typeface="Calibri"/>
              </a:rPr>
              <a:t>kriteria</a:t>
            </a:r>
            <a:r>
              <a:rPr lang="en-ID" sz="1300" dirty="0">
                <a:latin typeface="Calibri"/>
              </a:rPr>
              <a:t> </a:t>
            </a:r>
            <a:r>
              <a:rPr lang="en-ID" sz="1300" dirty="0" err="1">
                <a:latin typeface="Calibri"/>
              </a:rPr>
              <a:t>secara</a:t>
            </a:r>
            <a:r>
              <a:rPr lang="en-ID" sz="1300" dirty="0">
                <a:latin typeface="Calibri"/>
              </a:rPr>
              <a:t> </a:t>
            </a:r>
            <a:r>
              <a:rPr lang="en-ID" sz="1300" dirty="0" err="1">
                <a:latin typeface="Calibri"/>
              </a:rPr>
              <a:t>terpusat</a:t>
            </a:r>
            <a:r>
              <a:rPr lang="en-ID" sz="1300" dirty="0">
                <a:latin typeface="Calibri"/>
              </a:rPr>
              <a:t>?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58368" y="3401568"/>
            <a:ext cx="384048" cy="384048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0"/>
          <p:cNvSpPr/>
          <p:nvPr/>
        </p:nvSpPr>
        <p:spPr>
          <a:xfrm>
            <a:off x="658368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207008" y="3346704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300" dirty="0" err="1">
                <a:latin typeface="Calibri"/>
              </a:rPr>
              <a:t>Bagaimana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mengimplementasikan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metode</a:t>
            </a:r>
            <a:r>
              <a:rPr sz="1300" dirty="0">
                <a:latin typeface="Calibri"/>
              </a:rPr>
              <a:t> Weighted Product </a:t>
            </a:r>
            <a:r>
              <a:rPr sz="1300" dirty="0" err="1">
                <a:latin typeface="Calibri"/>
              </a:rPr>
              <a:t>dalam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menghasilkan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peringkat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siswa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terbaik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secara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objektif</a:t>
            </a:r>
            <a:r>
              <a:rPr sz="1300" dirty="0">
                <a:latin typeface="Calibri"/>
              </a:rPr>
              <a:t>?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58368" y="4700016"/>
            <a:ext cx="384048" cy="384048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Text 13"/>
          <p:cNvSpPr/>
          <p:nvPr/>
        </p:nvSpPr>
        <p:spPr>
          <a:xfrm>
            <a:off x="658368" y="4700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207008" y="464515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300">
                <a:latin typeface="Calibri"/>
              </a:rPr>
              <a:t>Bagaimana efektivitas sistem berbasis web dalam membantu mempercepat proses pengambilan keputusan dibandingkan cara manual?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17920" y="1508760"/>
            <a:ext cx="5532120" cy="4709160"/>
          </a:xfrm>
          <a:prstGeom prst="roundRect">
            <a:avLst>
              <a:gd name="adj" fmla="val 1553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6"/>
          <p:cNvSpPr/>
          <p:nvPr/>
        </p:nvSpPr>
        <p:spPr>
          <a:xfrm>
            <a:off x="6382512" y="1362456"/>
            <a:ext cx="1933956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7"/>
          <p:cNvSpPr/>
          <p:nvPr/>
        </p:nvSpPr>
        <p:spPr>
          <a:xfrm>
            <a:off x="6382512" y="1362456"/>
            <a:ext cx="19339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1" dirty="0">
                <a:solidFill>
                  <a:schemeClr val="bg1"/>
                </a:solidFill>
                <a:latin typeface="Calibri"/>
              </a:rPr>
              <a:t>Tujuan </a:t>
            </a:r>
            <a:r>
              <a:rPr sz="1150" b="1" dirty="0" err="1">
                <a:solidFill>
                  <a:schemeClr val="bg1"/>
                </a:solidFill>
                <a:latin typeface="Calibri"/>
              </a:rPr>
              <a:t>Penelitian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2" name="Shape 18"/>
          <p:cNvSpPr/>
          <p:nvPr/>
        </p:nvSpPr>
        <p:spPr>
          <a:xfrm>
            <a:off x="6446520" y="21031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Text 19"/>
          <p:cNvSpPr/>
          <p:nvPr/>
        </p:nvSpPr>
        <p:spPr>
          <a:xfrm>
            <a:off x="644652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858000" y="202996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300">
                <a:latin typeface="Calibri"/>
              </a:rPr>
              <a:t>Merancang dan membangun sistem pendukung keputusan pemilihan siswa terbaik berbasis web.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46520" y="3401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2"/>
          <p:cNvSpPr/>
          <p:nvPr/>
        </p:nvSpPr>
        <p:spPr>
          <a:xfrm>
            <a:off x="644652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858000" y="3328416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300">
                <a:latin typeface="Calibri"/>
              </a:rPr>
              <a:t>Mengimplementasikan metode Weighted Product untuk menghasilkan urutan peringkat siswa berdasarkan bobot kriteria.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46520" y="47000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" name="Text 25"/>
          <p:cNvSpPr/>
          <p:nvPr/>
        </p:nvSpPr>
        <p:spPr>
          <a:xfrm>
            <a:off x="6446520" y="4681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858000" y="4626864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300">
                <a:latin typeface="Calibri"/>
              </a:rPr>
              <a:t>Menguji efektivitas sistem dalam membantu mempercepat proses penilaian dan pemeringkatan siswa.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960120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3000" b="1">
                <a:latin typeface="Calibri"/>
              </a:rPr>
              <a:t>Landasan Teori</a:t>
            </a:r>
            <a:endParaRPr lang="en-US" sz="3000" dirty="0"/>
          </a:p>
        </p:txBody>
      </p:sp>
      <p:pic>
        <p:nvPicPr>
          <p:cNvPr id="4" name="Image 0" descr="/home/claude/work/assets/logo_ubi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20040"/>
            <a:ext cx="1170432" cy="3447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024128"/>
            <a:ext cx="1719072" cy="36576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411480" y="1024128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 dirty="0" err="1">
                <a:solidFill>
                  <a:schemeClr val="bg1"/>
                </a:solidFill>
                <a:latin typeface="Calibri"/>
              </a:rPr>
              <a:t>Konsep</a:t>
            </a:r>
            <a:r>
              <a:rPr sz="1300" b="1" dirty="0">
                <a:solidFill>
                  <a:schemeClr val="bg1"/>
                </a:solidFill>
                <a:latin typeface="Calibri"/>
              </a:rPr>
              <a:t> Dasar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8" name="Image 1" descr="/home/claude/work/assets/logo_biu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144768"/>
            <a:ext cx="566928" cy="685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1480" y="1600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6"/>
          <p:cNvSpPr/>
          <p:nvPr/>
        </p:nvSpPr>
        <p:spPr>
          <a:xfrm>
            <a:off x="41148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88720" y="15819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50" b="1">
                <a:latin typeface="Calibri"/>
              </a:rPr>
              <a:t>Sistem Pendukung Keputusan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88720" y="1911096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sz="1180">
                <a:latin typeface="Calibri"/>
              </a:rPr>
              <a:t>Sistem berbasis komputer yang membantu proses pengambilan keputusan dengan memanfaatkan data dan model untuk menghasilkan alternatif atau rekomendasi.</a:t>
            </a:r>
            <a:endParaRPr lang="en-US" sz="1180" dirty="0"/>
          </a:p>
        </p:txBody>
      </p:sp>
      <p:sp>
        <p:nvSpPr>
          <p:cNvPr id="13" name="Shape 9"/>
          <p:cNvSpPr/>
          <p:nvPr/>
        </p:nvSpPr>
        <p:spPr>
          <a:xfrm>
            <a:off x="411480" y="31363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0"/>
          <p:cNvSpPr/>
          <p:nvPr/>
        </p:nvSpPr>
        <p:spPr>
          <a:xfrm>
            <a:off x="411480" y="3136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500" b="1" dirty="0">
                <a:solidFill>
                  <a:schemeClr val="bg1"/>
                </a:solidFill>
                <a:latin typeface="Calibri"/>
              </a:rPr>
              <a:t>WP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88720" y="31181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50" b="1">
                <a:latin typeface="Calibri"/>
              </a:rPr>
              <a:t>Weighted Product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188720" y="3447288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sz="1180">
                <a:latin typeface="Calibri"/>
              </a:rPr>
              <a:t>Metode Multi-Attribute Decision Making yang menghubungkan rating setiap atribut dengan bobot melalui operasi perkalian dan pemangkatan.</a:t>
            </a:r>
            <a:endParaRPr lang="en-US" sz="1180" dirty="0"/>
          </a:p>
        </p:txBody>
      </p:sp>
      <p:sp>
        <p:nvSpPr>
          <p:cNvPr id="17" name="Shape 13"/>
          <p:cNvSpPr/>
          <p:nvPr/>
        </p:nvSpPr>
        <p:spPr>
          <a:xfrm>
            <a:off x="411480" y="467258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4"/>
          <p:cNvSpPr/>
          <p:nvPr/>
        </p:nvSpPr>
        <p:spPr>
          <a:xfrm>
            <a:off x="411480" y="46725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500" b="1" dirty="0">
                <a:solidFill>
                  <a:schemeClr val="bg1"/>
                </a:solidFill>
                <a:latin typeface="Calibri"/>
              </a:rPr>
              <a:t>RAD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1188720" y="465429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50" b="1">
                <a:latin typeface="Calibri"/>
              </a:rPr>
              <a:t>Rapid Application Development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1188720" y="498348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sz="1180">
                <a:latin typeface="Calibri"/>
              </a:rPr>
              <a:t>Model pengembangan perangkat lunak yang berfokus pada pengembangan cepat, iteratif, dan melibatkan umpan balik pengguna.</a:t>
            </a:r>
            <a:endParaRPr lang="en-US" sz="1180" dirty="0"/>
          </a:p>
        </p:txBody>
      </p:sp>
      <p:sp>
        <p:nvSpPr>
          <p:cNvPr id="21" name="Shape 17"/>
          <p:cNvSpPr/>
          <p:nvPr/>
        </p:nvSpPr>
        <p:spPr>
          <a:xfrm>
            <a:off x="6172200" y="1600200"/>
            <a:ext cx="5577840" cy="4617720"/>
          </a:xfrm>
          <a:prstGeom prst="roundRect">
            <a:avLst>
              <a:gd name="adj" fmla="val 1584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18"/>
          <p:cNvSpPr/>
          <p:nvPr/>
        </p:nvSpPr>
        <p:spPr>
          <a:xfrm>
            <a:off x="6336792" y="1453896"/>
            <a:ext cx="2281428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Text 19"/>
          <p:cNvSpPr/>
          <p:nvPr/>
        </p:nvSpPr>
        <p:spPr>
          <a:xfrm>
            <a:off x="6336792" y="1453896"/>
            <a:ext cx="2281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1" dirty="0" err="1">
                <a:solidFill>
                  <a:schemeClr val="bg1"/>
                </a:solidFill>
                <a:latin typeface="Calibri"/>
              </a:rPr>
              <a:t>Komponen</a:t>
            </a:r>
            <a:r>
              <a:rPr sz="115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150" b="1" dirty="0" err="1">
                <a:solidFill>
                  <a:schemeClr val="bg1"/>
                </a:solidFill>
                <a:latin typeface="Calibri"/>
              </a:rPr>
              <a:t>Sistem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4" name="Shape 20"/>
          <p:cNvSpPr/>
          <p:nvPr/>
        </p:nvSpPr>
        <p:spPr>
          <a:xfrm>
            <a:off x="6400800" y="1965960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E6D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1"/>
          <p:cNvSpPr/>
          <p:nvPr/>
        </p:nvSpPr>
        <p:spPr>
          <a:xfrm>
            <a:off x="6583680" y="20391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20" b="1">
                <a:latin typeface="Calibri"/>
              </a:rPr>
              <a:t>Data Siswa &amp; Kriteria</a:t>
            </a:r>
            <a:endParaRPr lang="en-US" sz="1220" dirty="0"/>
          </a:p>
        </p:txBody>
      </p:sp>
      <p:sp>
        <p:nvSpPr>
          <p:cNvPr id="26" name="Text 22"/>
          <p:cNvSpPr/>
          <p:nvPr/>
        </p:nvSpPr>
        <p:spPr>
          <a:xfrm>
            <a:off x="6583680" y="2331720"/>
            <a:ext cx="47548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sz="1100">
                <a:latin typeface="Calibri"/>
              </a:rPr>
              <a:t>Data siswa, kriteria, bobot, subkriteria, dan penilaian menjadi input sistem.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400800" y="2999232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E6D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4"/>
          <p:cNvSpPr/>
          <p:nvPr/>
        </p:nvSpPr>
        <p:spPr>
          <a:xfrm>
            <a:off x="6583680" y="30723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20" b="1">
                <a:latin typeface="Calibri"/>
              </a:rPr>
              <a:t>Perhitungan WP</a:t>
            </a:r>
            <a:endParaRPr lang="en-US" sz="1220" dirty="0"/>
          </a:p>
        </p:txBody>
      </p:sp>
      <p:sp>
        <p:nvSpPr>
          <p:cNvPr id="29" name="Text 25"/>
          <p:cNvSpPr/>
          <p:nvPr/>
        </p:nvSpPr>
        <p:spPr>
          <a:xfrm>
            <a:off x="6583680" y="3364992"/>
            <a:ext cx="47548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sz="1100">
                <a:latin typeface="Calibri"/>
              </a:rPr>
              <a:t>Normalisasi bobot, Vektor S, dan Vektor V digunakan untuk memperoleh nilai akhir.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00800" y="4032504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E6D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7"/>
          <p:cNvSpPr/>
          <p:nvPr/>
        </p:nvSpPr>
        <p:spPr>
          <a:xfrm>
            <a:off x="6583680" y="410565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20" b="1">
                <a:latin typeface="Calibri"/>
              </a:rPr>
              <a:t>Pemeringkatan</a:t>
            </a:r>
            <a:endParaRPr lang="en-US" sz="1220" dirty="0"/>
          </a:p>
        </p:txBody>
      </p:sp>
      <p:sp>
        <p:nvSpPr>
          <p:cNvPr id="32" name="Text 28"/>
          <p:cNvSpPr/>
          <p:nvPr/>
        </p:nvSpPr>
        <p:spPr>
          <a:xfrm>
            <a:off x="6583680" y="4398264"/>
            <a:ext cx="47548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sz="1100">
                <a:latin typeface="Calibri"/>
              </a:rPr>
              <a:t>Nilai Vektor V digunakan untuk mengurutkan siswa dari nilai terbesar ke terkecil.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400800" y="5065776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E6D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30"/>
          <p:cNvSpPr/>
          <p:nvPr/>
        </p:nvSpPr>
        <p:spPr>
          <a:xfrm>
            <a:off x="6583680" y="513892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20" b="1">
                <a:latin typeface="Calibri"/>
              </a:rPr>
              <a:t>Database</a:t>
            </a:r>
            <a:endParaRPr lang="en-US" sz="1220" dirty="0"/>
          </a:p>
        </p:txBody>
      </p:sp>
      <p:sp>
        <p:nvSpPr>
          <p:cNvPr id="35" name="Text 31"/>
          <p:cNvSpPr/>
          <p:nvPr/>
        </p:nvSpPr>
        <p:spPr>
          <a:xfrm>
            <a:off x="6583680" y="5431536"/>
            <a:ext cx="47548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sz="1100">
                <a:latin typeface="Calibri"/>
              </a:rPr>
              <a:t>PostgreSQL digunakan untuk menyimpan data sistem secara terpusat.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960120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2600" b="1">
                <a:latin typeface="Calibri"/>
              </a:rPr>
              <a:t>Kriteria dan Bobot Penilaian</a:t>
            </a:r>
            <a:endParaRPr lang="en-US" sz="2600" dirty="0"/>
          </a:p>
        </p:txBody>
      </p:sp>
      <p:pic>
        <p:nvPicPr>
          <p:cNvPr id="4" name="Image 0" descr="/home/claude/work/assets/logo_ubi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20040"/>
            <a:ext cx="1170432" cy="3447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024128"/>
            <a:ext cx="1911096" cy="36576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411480" y="1024128"/>
            <a:ext cx="1911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 dirty="0" err="1">
                <a:solidFill>
                  <a:schemeClr val="bg1"/>
                </a:solidFill>
                <a:latin typeface="Calibri"/>
              </a:rPr>
              <a:t>Landasan</a:t>
            </a:r>
            <a:r>
              <a:rPr sz="1300" b="1" dirty="0">
                <a:solidFill>
                  <a:schemeClr val="bg1"/>
                </a:solidFill>
                <a:latin typeface="Calibri"/>
              </a:rPr>
              <a:t> Teori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8" name="Image 1" descr="/home/claude/work/assets/logo_biu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144768"/>
            <a:ext cx="566928" cy="685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14630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sz="1400" dirty="0" err="1">
                <a:latin typeface="Calibri"/>
              </a:rPr>
              <a:t>Penelitian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menggunakan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empat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kriteria</a:t>
            </a:r>
            <a:r>
              <a:rPr sz="1400" dirty="0">
                <a:latin typeface="Calibri"/>
              </a:rPr>
              <a:t>. </a:t>
            </a:r>
            <a:r>
              <a:rPr sz="1400" dirty="0" err="1">
                <a:latin typeface="Calibri"/>
              </a:rPr>
              <a:t>Seluruh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kriteria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merupakan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atribut</a:t>
            </a:r>
            <a:r>
              <a:rPr sz="1400" dirty="0">
                <a:latin typeface="Calibri"/>
              </a:rPr>
              <a:t> benefit, </a:t>
            </a:r>
            <a:r>
              <a:rPr sz="1400" dirty="0" err="1">
                <a:latin typeface="Calibri"/>
              </a:rPr>
              <a:t>dengan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bobot</a:t>
            </a:r>
            <a:r>
              <a:rPr sz="1400" dirty="0">
                <a:latin typeface="Calibri"/>
              </a:rPr>
              <a:t> yang </a:t>
            </a:r>
            <a:r>
              <a:rPr sz="1400" dirty="0" err="1">
                <a:latin typeface="Calibri"/>
              </a:rPr>
              <a:t>menunjukkan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tingkat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kepentingan</a:t>
            </a:r>
            <a:r>
              <a:rPr sz="1400" dirty="0">
                <a:latin typeface="Calibri"/>
              </a:rPr>
              <a:t> masing-masing </a:t>
            </a:r>
            <a:r>
              <a:rPr sz="1400" dirty="0" err="1">
                <a:latin typeface="Calibri"/>
              </a:rPr>
              <a:t>kriteria</a:t>
            </a:r>
            <a:r>
              <a:rPr sz="1400" dirty="0">
                <a:latin typeface="Calibri"/>
              </a:rPr>
              <a:t>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450944"/>
              </p:ext>
            </p:extLst>
          </p:nvPr>
        </p:nvGraphicFramePr>
        <p:xfrm>
          <a:off x="411480" y="2084832"/>
          <a:ext cx="11338560" cy="276148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600" dirty="0"/>
                        <a:t>Kode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Kriteria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Bobot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Atribut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Keterangan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/>
                        <a:t>C1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Nilai Akademik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Benefit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96–100 = 5; 90–95 = 4; 85–89 = 3; 80–84 = 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/>
                        <a:t>C2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Nilai Sikap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Benefit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A+, A = 5; B+, B = 4; C+, C, C− = 3; lainnya =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/>
                        <a:t>C3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Keaktifan Organisasi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Benefit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2 organisasi = 5; 1 = 4; tidak mengikuti =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/>
                        <a:t>C4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Nilai PKL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Benefit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A = 5; B = 4; C = 3; D = 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411480" y="5074920"/>
            <a:ext cx="11338560" cy="1005840"/>
          </a:xfrm>
          <a:prstGeom prst="roundRect">
            <a:avLst>
              <a:gd name="adj" fmla="val 7273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7"/>
          <p:cNvSpPr/>
          <p:nvPr/>
        </p:nvSpPr>
        <p:spPr>
          <a:xfrm>
            <a:off x="640080" y="519379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sz="1400" b="1" dirty="0" err="1">
                <a:latin typeface="Calibri"/>
              </a:rPr>
              <a:t>Jumlah</a:t>
            </a:r>
            <a:r>
              <a:rPr sz="1400" b="1" dirty="0">
                <a:latin typeface="Calibri"/>
              </a:rPr>
              <a:t> </a:t>
            </a:r>
            <a:r>
              <a:rPr sz="1400" b="1" dirty="0" err="1">
                <a:latin typeface="Calibri"/>
              </a:rPr>
              <a:t>bobot</a:t>
            </a:r>
            <a:r>
              <a:rPr sz="1400" b="1" dirty="0">
                <a:latin typeface="Calibri"/>
              </a:rPr>
              <a:t> = 16. </a:t>
            </a:r>
            <a:r>
              <a:rPr sz="1400" b="1" dirty="0" err="1">
                <a:latin typeface="Calibri"/>
              </a:rPr>
              <a:t>Bobot</a:t>
            </a:r>
            <a:r>
              <a:rPr sz="1400" b="1" dirty="0">
                <a:latin typeface="Calibri"/>
              </a:rPr>
              <a:t> </a:t>
            </a:r>
            <a:r>
              <a:rPr sz="1400" b="1" dirty="0" err="1">
                <a:latin typeface="Calibri"/>
              </a:rPr>
              <a:t>digunakan</a:t>
            </a:r>
            <a:r>
              <a:rPr sz="1400" b="1" dirty="0">
                <a:latin typeface="Calibri"/>
              </a:rPr>
              <a:t> </a:t>
            </a:r>
            <a:r>
              <a:rPr sz="1400" b="1" dirty="0" err="1">
                <a:latin typeface="Calibri"/>
              </a:rPr>
              <a:t>dalam</a:t>
            </a:r>
            <a:r>
              <a:rPr sz="1400" b="1" dirty="0">
                <a:latin typeface="Calibri"/>
              </a:rPr>
              <a:t> proses </a:t>
            </a:r>
            <a:r>
              <a:rPr sz="1400" b="1" dirty="0" err="1">
                <a:latin typeface="Calibri"/>
              </a:rPr>
              <a:t>normalisasi</a:t>
            </a:r>
            <a:r>
              <a:rPr sz="1400" b="1" dirty="0">
                <a:latin typeface="Calibri"/>
              </a:rPr>
              <a:t> </a:t>
            </a:r>
            <a:r>
              <a:rPr sz="1400" b="1" dirty="0" err="1">
                <a:latin typeface="Calibri"/>
              </a:rPr>
              <a:t>sebelum</a:t>
            </a:r>
            <a:r>
              <a:rPr sz="1400" b="1" dirty="0">
                <a:latin typeface="Calibri"/>
              </a:rPr>
              <a:t> </a:t>
            </a:r>
            <a:r>
              <a:rPr sz="1400" b="1" dirty="0" err="1">
                <a:latin typeface="Calibri"/>
              </a:rPr>
              <a:t>perhitungan</a:t>
            </a:r>
            <a:r>
              <a:rPr sz="1400" b="1" dirty="0">
                <a:latin typeface="Calibri"/>
              </a:rPr>
              <a:t> Weighted Product.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960120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2000" b="1">
                <a:latin typeface="Calibri"/>
              </a:rPr>
              <a:t>Studi Kasus: Perhitungan Weighted Product</a:t>
            </a:r>
            <a:endParaRPr lang="en-US" sz="2000" dirty="0"/>
          </a:p>
        </p:txBody>
      </p:sp>
      <p:pic>
        <p:nvPicPr>
          <p:cNvPr id="4" name="Image 0" descr="/home/claude/work/assets/logo_ubi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20040"/>
            <a:ext cx="1170432" cy="3447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024128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411480" y="10241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latin typeface="Calibri"/>
              </a:rPr>
              <a:t>Contoh Perhitungan</a:t>
            </a:r>
            <a:endParaRPr lang="en-US" sz="1300" dirty="0"/>
          </a:p>
        </p:txBody>
      </p:sp>
      <p:pic>
        <p:nvPicPr>
          <p:cNvPr id="8" name="Image 1" descr="/home/claude/work/assets/logo_biu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144768"/>
            <a:ext cx="566928" cy="685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1480" y="811073"/>
            <a:ext cx="3120614" cy="72511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0D9346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6"/>
              <p:cNvSpPr/>
              <p:nvPr/>
            </p:nvSpPr>
            <p:spPr>
              <a:xfrm>
                <a:off x="411480" y="932688"/>
                <a:ext cx="3120614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sz="1250" b="1" dirty="0" err="1">
                    <a:latin typeface="Calibri"/>
                  </a:rPr>
                  <a:t>Normalisasi</a:t>
                </a:r>
                <a:r>
                  <a:rPr sz="1250" b="1" dirty="0">
                    <a:latin typeface="Calibri"/>
                  </a:rPr>
                  <a:t> </a:t>
                </a:r>
                <a:r>
                  <a:rPr sz="1250" b="1" dirty="0" err="1">
                    <a:latin typeface="Calibri"/>
                  </a:rPr>
                  <a:t>Bobot</a:t>
                </a:r>
                <a:r>
                  <a:rPr sz="1250" b="1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ID" i="1">
                        <a:latin typeface="Cambria Math" panose="02040503050406030204" pitchFamily="18" charset="0"/>
                      </a:rPr>
                      <m:t>𝑊𝑗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ID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ID" dirty="0"/>
              </a:p>
            </p:txBody>
          </p:sp>
        </mc:Choice>
        <mc:Fallback xmlns="">
          <p:sp>
            <p:nvSpPr>
              <p:cNvPr id="10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932688"/>
                <a:ext cx="3120614" cy="457200"/>
              </a:xfrm>
              <a:prstGeom prst="rect">
                <a:avLst/>
              </a:prstGeom>
              <a:blipFill>
                <a:blip r:embed="rId5"/>
                <a:stretch>
                  <a:fillRect t="-21333" b="-113333"/>
                </a:stretch>
              </a:blipFill>
              <a:ln/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7"/>
          <p:cNvSpPr/>
          <p:nvPr/>
        </p:nvSpPr>
        <p:spPr>
          <a:xfrm>
            <a:off x="3935505" y="811073"/>
            <a:ext cx="2958353" cy="72511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0D934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8"/>
              <p:cNvSpPr/>
              <p:nvPr/>
            </p:nvSpPr>
            <p:spPr>
              <a:xfrm>
                <a:off x="4141694" y="932688"/>
                <a:ext cx="2501153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sz="1200" b="1" dirty="0">
                    <a:latin typeface="Calibri"/>
                  </a:rPr>
                  <a:t>Vektor S: </a:t>
                </a:r>
                <a14:m>
                  <m:oMath xmlns:m="http://schemas.openxmlformats.org/officeDocument/2006/math">
                    <m:r>
                      <a:rPr lang="en-ID" i="1">
                        <a:latin typeface="Cambria Math" panose="02040503050406030204" pitchFamily="18" charset="0"/>
                      </a:rPr>
                      <m:t>𝑆𝑖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∏"/>
                        <m:limLoc m:val="undOvr"/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D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D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D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D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𝑊𝑗</m:t>
                            </m:r>
                          </m:sup>
                        </m:sSubSup>
                      </m:e>
                    </m:nary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2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694" y="932688"/>
                <a:ext cx="2501153" cy="457200"/>
              </a:xfrm>
              <a:prstGeom prst="rect">
                <a:avLst/>
              </a:prstGeom>
              <a:blipFill>
                <a:blip r:embed="rId6"/>
                <a:stretch>
                  <a:fillRect t="-86667" b="-141333"/>
                </a:stretch>
              </a:blipFill>
              <a:ln/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0"/>
          <p:cNvSpPr/>
          <p:nvPr/>
        </p:nvSpPr>
        <p:spPr>
          <a:xfrm>
            <a:off x="411480" y="182880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1"/>
          <p:cNvSpPr/>
          <p:nvPr/>
        </p:nvSpPr>
        <p:spPr>
          <a:xfrm>
            <a:off x="411480" y="18288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b="1" dirty="0">
                <a:solidFill>
                  <a:schemeClr val="bg1"/>
                </a:solidFill>
                <a:latin typeface="Calibri"/>
              </a:rPr>
              <a:t>Data </a:t>
            </a:r>
            <a:r>
              <a:rPr sz="1000" b="1" dirty="0" err="1">
                <a:solidFill>
                  <a:schemeClr val="bg1"/>
                </a:solidFill>
                <a:latin typeface="Calibri"/>
              </a:rPr>
              <a:t>Alternatif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411480" y="215798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sz="1400" dirty="0" err="1">
                <a:latin typeface="Calibri"/>
              </a:rPr>
              <a:t>Penelitian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menggunakan</a:t>
            </a:r>
            <a:r>
              <a:rPr sz="1400" dirty="0">
                <a:latin typeface="Calibri"/>
              </a:rPr>
              <a:t> 142 </a:t>
            </a:r>
            <a:r>
              <a:rPr sz="1400" dirty="0" err="1">
                <a:latin typeface="Calibri"/>
              </a:rPr>
              <a:t>alternatif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siswa</a:t>
            </a:r>
            <a:r>
              <a:rPr sz="1400" dirty="0">
                <a:latin typeface="Calibri"/>
              </a:rPr>
              <a:t>. </a:t>
            </a:r>
            <a:r>
              <a:rPr sz="1400" dirty="0" err="1">
                <a:latin typeface="Calibri"/>
              </a:rPr>
              <a:t>Setiap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siswa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memiliki</a:t>
            </a:r>
            <a:r>
              <a:rPr sz="1400" dirty="0">
                <a:latin typeface="Calibri"/>
              </a:rPr>
              <a:t> rating </a:t>
            </a:r>
            <a:r>
              <a:rPr sz="1400" dirty="0" err="1">
                <a:latin typeface="Calibri"/>
              </a:rPr>
              <a:t>untuk</a:t>
            </a:r>
            <a:r>
              <a:rPr sz="1400" dirty="0">
                <a:latin typeface="Calibri"/>
              </a:rPr>
              <a:t> C1, C2, C3, dan C4.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11480" y="2816352"/>
            <a:ext cx="3977640" cy="292608"/>
          </a:xfrm>
          <a:prstGeom prst="roundRect">
            <a:avLst>
              <a:gd name="adj" fmla="val 15625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4"/>
          <p:cNvSpPr/>
          <p:nvPr/>
        </p:nvSpPr>
        <p:spPr>
          <a:xfrm>
            <a:off x="411480" y="281635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b="1" dirty="0" err="1">
                <a:solidFill>
                  <a:schemeClr val="bg1"/>
                </a:solidFill>
                <a:latin typeface="Calibri"/>
              </a:rPr>
              <a:t>Contoh</a:t>
            </a:r>
            <a:r>
              <a:rPr sz="1000" b="1" dirty="0">
                <a:solidFill>
                  <a:schemeClr val="bg1"/>
                </a:solidFill>
                <a:latin typeface="Calibri"/>
              </a:rPr>
              <a:t> Rating</a:t>
            </a:r>
            <a:endParaRPr lang="en-US" sz="1000" dirty="0">
              <a:solidFill>
                <a:schemeClr val="bg1"/>
              </a:solidFill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989612"/>
              </p:ext>
            </p:extLst>
          </p:nvPr>
        </p:nvGraphicFramePr>
        <p:xfrm>
          <a:off x="411480" y="3154680"/>
          <a:ext cx="5486400" cy="2286000"/>
        </p:xfrm>
        <a:graphic>
          <a:graphicData uri="http://schemas.openxmlformats.org/drawingml/2006/table">
            <a:tbl>
              <a:tblPr/>
              <a:tblGrid>
                <a:gridCol w="1435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bg1"/>
                          </a:solidFill>
                        </a:rPr>
                        <a:t>Kriteria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bg1"/>
                          </a:solidFill>
                        </a:rPr>
                        <a:t>Bobot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chemeClr val="bg1"/>
                          </a:solidFill>
                        </a:rPr>
                        <a:t>Normalisasi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C1 Akademik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0,3125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C2 Sikap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0,2500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C3 Organisasi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0,1875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C4 PKL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0,2500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5"/>
          <p:cNvSpPr/>
          <p:nvPr/>
        </p:nvSpPr>
        <p:spPr>
          <a:xfrm>
            <a:off x="6080760" y="1828800"/>
            <a:ext cx="5669280" cy="292608"/>
          </a:xfrm>
          <a:prstGeom prst="roundRect">
            <a:avLst>
              <a:gd name="adj" fmla="val 15625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6"/>
          <p:cNvSpPr/>
          <p:nvPr/>
        </p:nvSpPr>
        <p:spPr>
          <a:xfrm>
            <a:off x="6080760" y="18288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b="1" dirty="0" err="1">
                <a:solidFill>
                  <a:schemeClr val="bg1"/>
                </a:solidFill>
                <a:latin typeface="Calibri"/>
              </a:rPr>
              <a:t>Tahapan</a:t>
            </a:r>
            <a:r>
              <a:rPr sz="10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Calibri"/>
              </a:rPr>
              <a:t>Perhitungan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080760" y="2194560"/>
            <a:ext cx="5669280" cy="1481328"/>
          </a:xfrm>
          <a:prstGeom prst="roundRect">
            <a:avLst>
              <a:gd name="adj" fmla="val 4321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18"/>
          <p:cNvSpPr/>
          <p:nvPr/>
        </p:nvSpPr>
        <p:spPr>
          <a:xfrm>
            <a:off x="6263640" y="22677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50" b="1">
                <a:latin typeface="Calibri"/>
              </a:rPr>
              <a:t>Contoh alternatif: C1 = 5, C2 = 5, C3 = 4, C4 = 5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263640" y="25786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30">
                <a:latin typeface="Calibri"/>
              </a:rPr>
              <a:t>S = 5^0,3125 × 5^0,2500 × 4^0,1875 × 5^0,2500</a:t>
            </a:r>
            <a:endParaRPr lang="en-US" sz="1030" dirty="0"/>
          </a:p>
        </p:txBody>
      </p:sp>
      <p:sp>
        <p:nvSpPr>
          <p:cNvPr id="25" name="Text 20"/>
          <p:cNvSpPr/>
          <p:nvPr/>
        </p:nvSpPr>
        <p:spPr>
          <a:xfrm>
            <a:off x="6263640" y="28803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30">
                <a:latin typeface="Calibri"/>
              </a:rPr>
              <a:t>V = S / ΣS</a:t>
            </a:r>
            <a:endParaRPr lang="en-US" sz="1030" dirty="0"/>
          </a:p>
        </p:txBody>
      </p:sp>
      <p:sp>
        <p:nvSpPr>
          <p:cNvPr id="26" name="Shape 21"/>
          <p:cNvSpPr/>
          <p:nvPr/>
        </p:nvSpPr>
        <p:spPr>
          <a:xfrm>
            <a:off x="6263640" y="3218688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7" name="Text 22"/>
          <p:cNvSpPr/>
          <p:nvPr/>
        </p:nvSpPr>
        <p:spPr>
          <a:xfrm>
            <a:off x="6263640" y="321868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 b="1" dirty="0">
                <a:solidFill>
                  <a:schemeClr val="bg1"/>
                </a:solidFill>
                <a:latin typeface="Calibri"/>
              </a:rPr>
              <a:t>Vektor S</a:t>
            </a:r>
            <a:r>
              <a:rPr lang="en-US" sz="1200" b="1" dirty="0">
                <a:solidFill>
                  <a:schemeClr val="bg1"/>
                </a:solidFill>
                <a:latin typeface="Calibri"/>
              </a:rPr>
              <a:t> &amp; V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8" name="Shape 23"/>
          <p:cNvSpPr/>
          <p:nvPr/>
        </p:nvSpPr>
        <p:spPr>
          <a:xfrm>
            <a:off x="6080760" y="3822192"/>
            <a:ext cx="5669280" cy="1481328"/>
          </a:xfrm>
          <a:prstGeom prst="roundRect">
            <a:avLst>
              <a:gd name="adj" fmla="val 4321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29" name="Text 24"/>
          <p:cNvSpPr/>
          <p:nvPr/>
        </p:nvSpPr>
        <p:spPr>
          <a:xfrm>
            <a:off x="6263640" y="38953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50" b="1">
                <a:latin typeface="Calibri"/>
              </a:rPr>
              <a:t>Setelah seluruh alternatif memperoleh nilai S, nilai tersebut digunakan untuk menghitung Vektor V.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263640" y="42062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30">
                <a:latin typeface="Calibri"/>
              </a:rPr>
              <a:t>Vektor V</a:t>
            </a:r>
            <a:endParaRPr lang="en-US" sz="1030" dirty="0"/>
          </a:p>
        </p:txBody>
      </p:sp>
      <p:sp>
        <p:nvSpPr>
          <p:cNvPr id="31" name="Text 26"/>
          <p:cNvSpPr/>
          <p:nvPr/>
        </p:nvSpPr>
        <p:spPr>
          <a:xfrm>
            <a:off x="6263640" y="450799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30">
                <a:latin typeface="Calibri"/>
              </a:rPr>
              <a:t>Nilai Vektor V menjadi dasar pemeringkatan.</a:t>
            </a:r>
            <a:endParaRPr lang="en-US" sz="1030" dirty="0"/>
          </a:p>
        </p:txBody>
      </p:sp>
      <p:sp>
        <p:nvSpPr>
          <p:cNvPr id="32" name="Shape 27"/>
          <p:cNvSpPr/>
          <p:nvPr/>
        </p:nvSpPr>
        <p:spPr>
          <a:xfrm>
            <a:off x="6263640" y="4846320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" name="Text 28"/>
          <p:cNvSpPr/>
          <p:nvPr/>
        </p:nvSpPr>
        <p:spPr>
          <a:xfrm>
            <a:off x="6263640" y="48463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 b="1" dirty="0" err="1">
                <a:solidFill>
                  <a:schemeClr val="bg1"/>
                </a:solidFill>
                <a:latin typeface="Calibri"/>
              </a:rPr>
              <a:t>Peringkat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4" name="Shape 29"/>
          <p:cNvSpPr/>
          <p:nvPr/>
        </p:nvSpPr>
        <p:spPr>
          <a:xfrm>
            <a:off x="411480" y="5532120"/>
            <a:ext cx="11338560" cy="896112"/>
          </a:xfrm>
          <a:prstGeom prst="roundRect">
            <a:avLst>
              <a:gd name="adj" fmla="val 8163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5" name="Text 30"/>
          <p:cNvSpPr/>
          <p:nvPr/>
        </p:nvSpPr>
        <p:spPr>
          <a:xfrm>
            <a:off x="640080" y="5532120"/>
            <a:ext cx="10881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1400" b="1" dirty="0" err="1">
                <a:solidFill>
                  <a:schemeClr val="bg1"/>
                </a:solidFill>
                <a:latin typeface="Calibri"/>
              </a:rPr>
              <a:t>Sistem</a:t>
            </a:r>
            <a:r>
              <a:rPr sz="14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Calibri"/>
              </a:rPr>
              <a:t>mengurutkan</a:t>
            </a:r>
            <a:r>
              <a:rPr sz="14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Calibri"/>
              </a:rPr>
              <a:t>nilai</a:t>
            </a:r>
            <a:r>
              <a:rPr sz="1400" b="1" dirty="0">
                <a:solidFill>
                  <a:schemeClr val="bg1"/>
                </a:solidFill>
                <a:latin typeface="Calibri"/>
              </a:rPr>
              <a:t> V </a:t>
            </a:r>
            <a:r>
              <a:rPr sz="1400" b="1" dirty="0" err="1">
                <a:solidFill>
                  <a:schemeClr val="bg1"/>
                </a:solidFill>
                <a:latin typeface="Calibri"/>
              </a:rPr>
              <a:t>dari</a:t>
            </a:r>
            <a:r>
              <a:rPr sz="14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Calibri"/>
              </a:rPr>
              <a:t>terbesar</a:t>
            </a:r>
            <a:r>
              <a:rPr sz="14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Calibri"/>
              </a:rPr>
              <a:t>ke</a:t>
            </a:r>
            <a:r>
              <a:rPr sz="14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Calibri"/>
              </a:rPr>
              <a:t>terkecil</a:t>
            </a:r>
            <a:r>
              <a:rPr sz="14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Calibri"/>
              </a:rPr>
              <a:t>untuk</a:t>
            </a:r>
            <a:r>
              <a:rPr sz="14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Calibri"/>
              </a:rPr>
              <a:t>menghasilkan</a:t>
            </a:r>
            <a:r>
              <a:rPr sz="1400" b="1" dirty="0">
                <a:solidFill>
                  <a:schemeClr val="bg1"/>
                </a:solidFill>
                <a:latin typeface="Calibri"/>
              </a:rPr>
              <a:t> ranking </a:t>
            </a:r>
            <a:r>
              <a:rPr sz="1400" b="1" dirty="0" err="1">
                <a:solidFill>
                  <a:schemeClr val="bg1"/>
                </a:solidFill>
                <a:latin typeface="Calibri"/>
              </a:rPr>
              <a:t>siswa</a:t>
            </a:r>
            <a:r>
              <a:rPr sz="14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1" dirty="0" err="1">
                <a:solidFill>
                  <a:schemeClr val="bg1"/>
                </a:solidFill>
                <a:latin typeface="Calibri"/>
              </a:rPr>
              <a:t>terbaik</a:t>
            </a:r>
            <a:r>
              <a:rPr sz="1400" b="1" dirty="0">
                <a:solidFill>
                  <a:schemeClr val="bg1"/>
                </a:solidFill>
                <a:latin typeface="Calibri"/>
              </a:rPr>
              <a:t>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507D7B83-DECA-E3E7-2ABA-A6C2D459EED6}"/>
              </a:ext>
            </a:extLst>
          </p:cNvPr>
          <p:cNvSpPr/>
          <p:nvPr/>
        </p:nvSpPr>
        <p:spPr>
          <a:xfrm>
            <a:off x="7915834" y="811073"/>
            <a:ext cx="2958353" cy="72511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0D934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8">
                <a:extLst>
                  <a:ext uri="{FF2B5EF4-FFF2-40B4-BE49-F238E27FC236}">
                    <a16:creationId xmlns:a16="http://schemas.microsoft.com/office/drawing/2014/main" id="{3948B2B0-DCD8-504D-32D1-998AFE3BC64A}"/>
                  </a:ext>
                </a:extLst>
              </p:cNvPr>
              <p:cNvSpPr/>
              <p:nvPr/>
            </p:nvSpPr>
            <p:spPr>
              <a:xfrm>
                <a:off x="8122023" y="932688"/>
                <a:ext cx="2501153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sz="1200" b="1" dirty="0">
                    <a:latin typeface="Calibri"/>
                  </a:rPr>
                  <a:t>Vektor </a:t>
                </a:r>
                <a:r>
                  <a:rPr lang="en-US" sz="1200" b="1" dirty="0">
                    <a:latin typeface="Calibri"/>
                  </a:rPr>
                  <a:t>V</a:t>
                </a:r>
                <a:r>
                  <a:rPr sz="1200" b="1" dirty="0">
                    <a:latin typeface="Calibri"/>
                  </a:rPr>
                  <a:t>:</a:t>
                </a:r>
                <a:r>
                  <a:rPr lang="en-US" sz="1200" b="1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ID" i="1">
                        <a:latin typeface="Cambria Math" panose="02040503050406030204" pitchFamily="18" charset="0"/>
                      </a:rPr>
                      <m:t>𝑉𝑖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∏"/>
                            <m:limLoc m:val="undOvr"/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ID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𝑊𝑗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nary>
                          <m:naryPr>
                            <m:chr m:val="∏"/>
                            <m:limLoc m:val="undOvr"/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ID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D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D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D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D" i="1">
                                    <a:latin typeface="Cambria Math" panose="02040503050406030204" pitchFamily="18" charset="0"/>
                                  </a:rPr>
                                  <m:t>𝑊𝑗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39" name="Text 8">
                <a:extLst>
                  <a:ext uri="{FF2B5EF4-FFF2-40B4-BE49-F238E27FC236}">
                    <a16:creationId xmlns:a16="http://schemas.microsoft.com/office/drawing/2014/main" id="{3948B2B0-DCD8-504D-32D1-998AFE3BC6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023" y="932688"/>
                <a:ext cx="2501153" cy="457200"/>
              </a:xfrm>
              <a:prstGeom prst="rect">
                <a:avLst/>
              </a:prstGeom>
              <a:blipFill>
                <a:blip r:embed="rId7"/>
                <a:stretch>
                  <a:fillRect t="-9333" b="-17333"/>
                </a:stretch>
              </a:blipFill>
              <a:ln/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960120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3000" b="1">
                <a:latin typeface="Calibri"/>
              </a:rPr>
              <a:t>Metodologi Penelitian</a:t>
            </a:r>
            <a:endParaRPr lang="en-US" sz="3000" dirty="0"/>
          </a:p>
        </p:txBody>
      </p:sp>
      <p:pic>
        <p:nvPicPr>
          <p:cNvPr id="4" name="Image 0" descr="/home/claude/work/assets/logo_ubi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20040"/>
            <a:ext cx="1170432" cy="3447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024128"/>
            <a:ext cx="3063240" cy="36576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411480" y="10241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 dirty="0">
                <a:solidFill>
                  <a:schemeClr val="bg1"/>
                </a:solidFill>
                <a:latin typeface="Calibri"/>
              </a:rPr>
              <a:t>Metode </a:t>
            </a:r>
            <a:r>
              <a:rPr sz="1300" b="1" dirty="0" err="1">
                <a:solidFill>
                  <a:schemeClr val="bg1"/>
                </a:solidFill>
                <a:latin typeface="Calibri"/>
              </a:rPr>
              <a:t>Pengembangan</a:t>
            </a:r>
            <a:r>
              <a:rPr sz="13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300" b="1" dirty="0" err="1">
                <a:solidFill>
                  <a:schemeClr val="bg1"/>
                </a:solidFill>
                <a:latin typeface="Calibri"/>
              </a:rPr>
              <a:t>Sistem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8" name="Image 1" descr="/home/claude/work/assets/logo_biu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144768"/>
            <a:ext cx="566928" cy="685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148132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80">
                <a:latin typeface="Calibri"/>
              </a:rPr>
              <a:t>Penelitian menggunakan model Rapid Application Development (RAD). Data diperoleh melalui observasi, wawancara, dan studi pustaka.</a:t>
            </a:r>
            <a:endParaRPr lang="en-US" sz="1280" dirty="0"/>
          </a:p>
        </p:txBody>
      </p:sp>
      <p:sp>
        <p:nvSpPr>
          <p:cNvPr id="10" name="Shape 6"/>
          <p:cNvSpPr/>
          <p:nvPr/>
        </p:nvSpPr>
        <p:spPr>
          <a:xfrm>
            <a:off x="411480" y="2331720"/>
            <a:ext cx="2651760" cy="3566160"/>
          </a:xfrm>
          <a:prstGeom prst="roundRect">
            <a:avLst>
              <a:gd name="adj" fmla="val 3103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7"/>
          <p:cNvSpPr/>
          <p:nvPr/>
        </p:nvSpPr>
        <p:spPr>
          <a:xfrm>
            <a:off x="612648" y="2560320"/>
            <a:ext cx="457200" cy="457200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8"/>
          <p:cNvSpPr/>
          <p:nvPr/>
        </p:nvSpPr>
        <p:spPr>
          <a:xfrm>
            <a:off x="612648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12648" y="313639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sz="1400" b="1">
                <a:latin typeface="Calibri"/>
              </a:rPr>
              <a:t>Requirements</a:t>
            </a:r>
            <a:br/>
            <a:r>
              <a:rPr sz="1400" b="1">
                <a:latin typeface="Calibri"/>
              </a:rPr>
              <a:t>Planning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0936" y="4023360"/>
            <a:ext cx="73152" cy="73152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1"/>
          <p:cNvSpPr/>
          <p:nvPr/>
        </p:nvSpPr>
        <p:spPr>
          <a:xfrm>
            <a:off x="777240" y="38862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sz="1030" dirty="0" err="1">
                <a:latin typeface="Calibri"/>
              </a:rPr>
              <a:t>Identifikasi</a:t>
            </a:r>
            <a:r>
              <a:rPr sz="1030" dirty="0">
                <a:latin typeface="Calibri"/>
              </a:rPr>
              <a:t> </a:t>
            </a:r>
            <a:r>
              <a:rPr sz="1030" dirty="0" err="1">
                <a:latin typeface="Calibri"/>
              </a:rPr>
              <a:t>kebutuhan</a:t>
            </a:r>
            <a:r>
              <a:rPr sz="1030" dirty="0">
                <a:latin typeface="Calibri"/>
              </a:rPr>
              <a:t> </a:t>
            </a:r>
            <a:r>
              <a:rPr sz="1030" dirty="0" err="1">
                <a:latin typeface="Calibri"/>
              </a:rPr>
              <a:t>sistem</a:t>
            </a:r>
            <a:r>
              <a:rPr sz="1030" dirty="0">
                <a:latin typeface="Calibri"/>
              </a:rPr>
              <a:t>.</a:t>
            </a:r>
            <a:endParaRPr lang="en-US" sz="1030" dirty="0"/>
          </a:p>
        </p:txBody>
      </p:sp>
      <p:sp>
        <p:nvSpPr>
          <p:cNvPr id="16" name="Shape 12"/>
          <p:cNvSpPr/>
          <p:nvPr/>
        </p:nvSpPr>
        <p:spPr>
          <a:xfrm>
            <a:off x="630936" y="4456430"/>
            <a:ext cx="73152" cy="73152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Text 13"/>
          <p:cNvSpPr/>
          <p:nvPr/>
        </p:nvSpPr>
        <p:spPr>
          <a:xfrm>
            <a:off x="777240" y="432054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sz="1030" dirty="0" err="1">
                <a:latin typeface="Calibri"/>
              </a:rPr>
              <a:t>Observasi</a:t>
            </a:r>
            <a:r>
              <a:rPr sz="1030" dirty="0">
                <a:latin typeface="Calibri"/>
              </a:rPr>
              <a:t> proses </a:t>
            </a:r>
            <a:r>
              <a:rPr sz="1030" dirty="0" err="1">
                <a:latin typeface="Calibri"/>
              </a:rPr>
              <a:t>pemilihan</a:t>
            </a:r>
            <a:r>
              <a:rPr sz="1030" dirty="0">
                <a:latin typeface="Calibri"/>
              </a:rPr>
              <a:t> </a:t>
            </a:r>
            <a:r>
              <a:rPr sz="1030" dirty="0" err="1">
                <a:latin typeface="Calibri"/>
              </a:rPr>
              <a:t>siswa</a:t>
            </a:r>
            <a:r>
              <a:rPr sz="1030" dirty="0">
                <a:latin typeface="Calibri"/>
              </a:rPr>
              <a:t> </a:t>
            </a:r>
            <a:r>
              <a:rPr sz="1030" dirty="0" err="1">
                <a:latin typeface="Calibri"/>
              </a:rPr>
              <a:t>terbaik</a:t>
            </a:r>
            <a:r>
              <a:rPr sz="1030" dirty="0">
                <a:latin typeface="Calibri"/>
              </a:rPr>
              <a:t>.</a:t>
            </a:r>
            <a:endParaRPr lang="en-US" sz="1030" dirty="0"/>
          </a:p>
        </p:txBody>
      </p:sp>
      <p:sp>
        <p:nvSpPr>
          <p:cNvPr id="18" name="Shape 14"/>
          <p:cNvSpPr/>
          <p:nvPr/>
        </p:nvSpPr>
        <p:spPr>
          <a:xfrm>
            <a:off x="630936" y="4946650"/>
            <a:ext cx="73152" cy="73152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Text 15"/>
          <p:cNvSpPr/>
          <p:nvPr/>
        </p:nvSpPr>
        <p:spPr>
          <a:xfrm>
            <a:off x="751840" y="4869815"/>
            <a:ext cx="2121408" cy="2687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sz="1030">
                <a:latin typeface="Calibri"/>
              </a:rPr>
              <a:t>Wawancara dengan pihak sekolah.</a:t>
            </a:r>
            <a:endParaRPr lang="en-US" sz="1030" dirty="0"/>
          </a:p>
        </p:txBody>
      </p:sp>
      <p:sp>
        <p:nvSpPr>
          <p:cNvPr id="20" name="Shape 16"/>
          <p:cNvSpPr/>
          <p:nvPr/>
        </p:nvSpPr>
        <p:spPr>
          <a:xfrm>
            <a:off x="3081528" y="4069080"/>
            <a:ext cx="182880" cy="18288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Shape 17"/>
          <p:cNvSpPr/>
          <p:nvPr/>
        </p:nvSpPr>
        <p:spPr>
          <a:xfrm>
            <a:off x="3282696" y="2331720"/>
            <a:ext cx="2651760" cy="3566160"/>
          </a:xfrm>
          <a:prstGeom prst="roundRect">
            <a:avLst>
              <a:gd name="adj" fmla="val 3103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18"/>
          <p:cNvSpPr/>
          <p:nvPr/>
        </p:nvSpPr>
        <p:spPr>
          <a:xfrm>
            <a:off x="3483864" y="2560320"/>
            <a:ext cx="457200" cy="457200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Text 19"/>
          <p:cNvSpPr/>
          <p:nvPr/>
        </p:nvSpPr>
        <p:spPr>
          <a:xfrm>
            <a:off x="3483864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3483864" y="313639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sz="1400" b="1">
                <a:latin typeface="Calibri"/>
              </a:rPr>
              <a:t>User</a:t>
            </a:r>
            <a:br/>
            <a:r>
              <a:rPr sz="1400" b="1">
                <a:latin typeface="Calibri"/>
              </a:rPr>
              <a:t>Design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3502152" y="4023360"/>
            <a:ext cx="73152" cy="73152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2"/>
          <p:cNvSpPr/>
          <p:nvPr/>
        </p:nvSpPr>
        <p:spPr>
          <a:xfrm>
            <a:off x="3648456" y="38862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sz="1030">
                <a:latin typeface="Calibri"/>
              </a:rPr>
              <a:t>Perancangan sistem dan basis data.</a:t>
            </a:r>
            <a:endParaRPr lang="en-US" sz="1030" dirty="0"/>
          </a:p>
        </p:txBody>
      </p:sp>
      <p:sp>
        <p:nvSpPr>
          <p:cNvPr id="27" name="Shape 23"/>
          <p:cNvSpPr/>
          <p:nvPr/>
        </p:nvSpPr>
        <p:spPr>
          <a:xfrm>
            <a:off x="3502152" y="4983480"/>
            <a:ext cx="73152" cy="73152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8" name="Text 24"/>
          <p:cNvSpPr/>
          <p:nvPr/>
        </p:nvSpPr>
        <p:spPr>
          <a:xfrm>
            <a:off x="3648456" y="484632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sz="1030">
                <a:latin typeface="Calibri"/>
              </a:rPr>
              <a:t>Perancangan antarmuka dan alur proses.</a:t>
            </a:r>
            <a:endParaRPr lang="en-US" sz="1030" dirty="0"/>
          </a:p>
        </p:txBody>
      </p:sp>
      <p:sp>
        <p:nvSpPr>
          <p:cNvPr id="29" name="Shape 25"/>
          <p:cNvSpPr/>
          <p:nvPr/>
        </p:nvSpPr>
        <p:spPr>
          <a:xfrm>
            <a:off x="5952744" y="4069080"/>
            <a:ext cx="182880" cy="18288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" name="Shape 26"/>
          <p:cNvSpPr/>
          <p:nvPr/>
        </p:nvSpPr>
        <p:spPr>
          <a:xfrm>
            <a:off x="6153912" y="2331720"/>
            <a:ext cx="2651760" cy="3566160"/>
          </a:xfrm>
          <a:prstGeom prst="roundRect">
            <a:avLst>
              <a:gd name="adj" fmla="val 3103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Shape 27"/>
          <p:cNvSpPr/>
          <p:nvPr/>
        </p:nvSpPr>
        <p:spPr>
          <a:xfrm>
            <a:off x="6355080" y="2560320"/>
            <a:ext cx="457200" cy="457200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" name="Text 28"/>
          <p:cNvSpPr/>
          <p:nvPr/>
        </p:nvSpPr>
        <p:spPr>
          <a:xfrm>
            <a:off x="6355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6355080" y="313639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sz="1400" b="1">
                <a:latin typeface="Calibri"/>
              </a:rPr>
              <a:t>Construction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373368" y="4023360"/>
            <a:ext cx="73152" cy="73152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5" name="Text 31"/>
          <p:cNvSpPr/>
          <p:nvPr/>
        </p:nvSpPr>
        <p:spPr>
          <a:xfrm>
            <a:off x="6519672" y="38862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sz="1030">
                <a:latin typeface="Calibri"/>
              </a:rPr>
              <a:t>Implementasi Next.js, TypeScript, PostgreSQL.</a:t>
            </a:r>
            <a:endParaRPr lang="en-US" sz="1030" dirty="0"/>
          </a:p>
        </p:txBody>
      </p:sp>
      <p:sp>
        <p:nvSpPr>
          <p:cNvPr id="36" name="Shape 32"/>
          <p:cNvSpPr/>
          <p:nvPr/>
        </p:nvSpPr>
        <p:spPr>
          <a:xfrm>
            <a:off x="6373368" y="4983480"/>
            <a:ext cx="73152" cy="73152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7" name="Text 33"/>
          <p:cNvSpPr/>
          <p:nvPr/>
        </p:nvSpPr>
        <p:spPr>
          <a:xfrm>
            <a:off x="6519672" y="484632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sz="1030">
                <a:latin typeface="Calibri"/>
              </a:rPr>
              <a:t>Implementasi dan pengujian perhitungan Weighted Product.</a:t>
            </a:r>
            <a:endParaRPr lang="en-US" sz="1030" dirty="0"/>
          </a:p>
        </p:txBody>
      </p:sp>
      <p:sp>
        <p:nvSpPr>
          <p:cNvPr id="38" name="Shape 34"/>
          <p:cNvSpPr/>
          <p:nvPr/>
        </p:nvSpPr>
        <p:spPr>
          <a:xfrm>
            <a:off x="8823960" y="4069080"/>
            <a:ext cx="182880" cy="18288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9" name="Shape 35"/>
          <p:cNvSpPr/>
          <p:nvPr/>
        </p:nvSpPr>
        <p:spPr>
          <a:xfrm>
            <a:off x="9025128" y="2331720"/>
            <a:ext cx="2651760" cy="3566160"/>
          </a:xfrm>
          <a:prstGeom prst="roundRect">
            <a:avLst>
              <a:gd name="adj" fmla="val 3103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Shape 36"/>
          <p:cNvSpPr/>
          <p:nvPr/>
        </p:nvSpPr>
        <p:spPr>
          <a:xfrm>
            <a:off x="9226296" y="2560320"/>
            <a:ext cx="457200" cy="457200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1" name="Text 37"/>
          <p:cNvSpPr/>
          <p:nvPr/>
        </p:nvSpPr>
        <p:spPr>
          <a:xfrm>
            <a:off x="9226296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Text 38"/>
          <p:cNvSpPr/>
          <p:nvPr/>
        </p:nvSpPr>
        <p:spPr>
          <a:xfrm>
            <a:off x="9226296" y="313639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sz="1400" b="1">
                <a:latin typeface="Calibri"/>
              </a:rPr>
              <a:t>Cutover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9244584" y="4023360"/>
            <a:ext cx="73152" cy="73152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4" name="Text 40"/>
          <p:cNvSpPr/>
          <p:nvPr/>
        </p:nvSpPr>
        <p:spPr>
          <a:xfrm>
            <a:off x="9390888" y="38862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sz="1030">
                <a:latin typeface="Calibri"/>
              </a:rPr>
              <a:t>Pengujian Alfa dan Beta.</a:t>
            </a:r>
            <a:endParaRPr lang="en-US" sz="1030" dirty="0"/>
          </a:p>
        </p:txBody>
      </p:sp>
      <p:sp>
        <p:nvSpPr>
          <p:cNvPr id="45" name="Shape 41"/>
          <p:cNvSpPr/>
          <p:nvPr/>
        </p:nvSpPr>
        <p:spPr>
          <a:xfrm>
            <a:off x="9244584" y="4983480"/>
            <a:ext cx="73152" cy="73152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6" name="Text 42"/>
          <p:cNvSpPr/>
          <p:nvPr/>
        </p:nvSpPr>
        <p:spPr>
          <a:xfrm>
            <a:off x="9390888" y="484632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sz="1030">
                <a:latin typeface="Calibri"/>
              </a:rPr>
              <a:t>Evaluasi hasil dan penerapan sistem.</a:t>
            </a:r>
            <a:endParaRPr lang="en-US" sz="1030" dirty="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45364786-C6C6-45B7-5FD8-73C11EC8242C}"/>
              </a:ext>
            </a:extLst>
          </p:cNvPr>
          <p:cNvSpPr/>
          <p:nvPr/>
        </p:nvSpPr>
        <p:spPr>
          <a:xfrm>
            <a:off x="729615" y="5183505"/>
            <a:ext cx="2121408" cy="2687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sz="1030" dirty="0">
                <a:latin typeface="Aptos"/>
              </a:rPr>
              <a:t>Studi </a:t>
            </a:r>
            <a:r>
              <a:rPr sz="1030" dirty="0" err="1">
                <a:latin typeface="Aptos"/>
              </a:rPr>
              <a:t>pustaka</a:t>
            </a:r>
            <a:r>
              <a:rPr sz="1030" dirty="0">
                <a:latin typeface="Aptos"/>
              </a:rPr>
              <a:t> </a:t>
            </a:r>
            <a:r>
              <a:rPr sz="1030" dirty="0" err="1">
                <a:latin typeface="Aptos"/>
              </a:rPr>
              <a:t>digunakan</a:t>
            </a:r>
            <a:r>
              <a:rPr sz="1030" dirty="0">
                <a:latin typeface="Aptos"/>
              </a:rPr>
              <a:t> </a:t>
            </a:r>
            <a:r>
              <a:rPr sz="1030" dirty="0" err="1">
                <a:latin typeface="Aptos"/>
              </a:rPr>
              <a:t>untuk</a:t>
            </a:r>
            <a:r>
              <a:rPr sz="1030" dirty="0">
                <a:latin typeface="Aptos"/>
              </a:rPr>
              <a:t> </a:t>
            </a:r>
            <a:r>
              <a:rPr sz="1030" dirty="0" err="1">
                <a:latin typeface="Aptos"/>
              </a:rPr>
              <a:t>mendukung</a:t>
            </a:r>
            <a:r>
              <a:rPr sz="1030" dirty="0">
                <a:latin typeface="Aptos"/>
              </a:rPr>
              <a:t> </a:t>
            </a:r>
            <a:r>
              <a:rPr sz="1030" dirty="0" err="1">
                <a:latin typeface="Aptos"/>
              </a:rPr>
              <a:t>landasan</a:t>
            </a:r>
            <a:r>
              <a:rPr sz="1030" dirty="0">
                <a:latin typeface="Aptos"/>
              </a:rPr>
              <a:t> </a:t>
            </a:r>
            <a:r>
              <a:rPr sz="1030" dirty="0" err="1">
                <a:latin typeface="Aptos"/>
              </a:rPr>
              <a:t>teori</a:t>
            </a:r>
            <a:r>
              <a:rPr sz="1030" dirty="0">
                <a:latin typeface="Aptos"/>
              </a:rPr>
              <a:t> dan </a:t>
            </a:r>
            <a:r>
              <a:rPr sz="1030" dirty="0" err="1">
                <a:latin typeface="Aptos"/>
              </a:rPr>
              <a:t>penelitian</a:t>
            </a:r>
            <a:r>
              <a:rPr sz="1030" dirty="0">
                <a:latin typeface="Aptos"/>
              </a:rPr>
              <a:t> </a:t>
            </a:r>
            <a:r>
              <a:rPr sz="1030" dirty="0" err="1">
                <a:latin typeface="Aptos"/>
              </a:rPr>
              <a:t>terdahulu</a:t>
            </a:r>
            <a:r>
              <a:rPr sz="1030" dirty="0">
                <a:latin typeface="Aptos"/>
              </a:rPr>
              <a:t>.</a:t>
            </a:r>
            <a:endParaRPr lang="en-US" sz="1030" dirty="0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9587920C-D88A-217A-B731-6E25EFA03CE1}"/>
              </a:ext>
            </a:extLst>
          </p:cNvPr>
          <p:cNvSpPr/>
          <p:nvPr/>
        </p:nvSpPr>
        <p:spPr>
          <a:xfrm>
            <a:off x="630936" y="5299075"/>
            <a:ext cx="73152" cy="73152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960120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2800" b="1">
                <a:latin typeface="Calibri"/>
              </a:rPr>
              <a:t>Perancangan Sistem</a:t>
            </a:r>
            <a:endParaRPr lang="en-US" sz="2800" dirty="0"/>
          </a:p>
        </p:txBody>
      </p:sp>
      <p:pic>
        <p:nvPicPr>
          <p:cNvPr id="4" name="Image 0" descr="/home/claude/work/assets/logo_ubi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20040"/>
            <a:ext cx="1170432" cy="3447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024128"/>
            <a:ext cx="2871216" cy="36576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411480" y="1024128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 dirty="0" err="1">
                <a:solidFill>
                  <a:schemeClr val="bg1"/>
                </a:solidFill>
                <a:latin typeface="Calibri"/>
              </a:rPr>
              <a:t>Arsitektur</a:t>
            </a:r>
            <a:r>
              <a:rPr sz="1300" b="1" dirty="0">
                <a:solidFill>
                  <a:schemeClr val="bg1"/>
                </a:solidFill>
                <a:latin typeface="Calibri"/>
              </a:rPr>
              <a:t> &amp; Alur Proses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8" name="Image 1" descr="/home/claude/work/assets/logo_biu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144768"/>
            <a:ext cx="566928" cy="685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1480" y="16916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7780">
            <a:solidFill>
              <a:srgbClr val="0D934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6"/>
          <p:cNvSpPr/>
          <p:nvPr/>
        </p:nvSpPr>
        <p:spPr>
          <a:xfrm>
            <a:off x="411480" y="169164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sz="1080" b="1">
                <a:latin typeface="Calibri"/>
              </a:rPr>
              <a:t>Admin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1892808" y="1691640"/>
            <a:ext cx="201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093976" y="16916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7780">
            <a:solidFill>
              <a:srgbClr val="0D934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9"/>
          <p:cNvSpPr/>
          <p:nvPr/>
        </p:nvSpPr>
        <p:spPr>
          <a:xfrm>
            <a:off x="2093976" y="169164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sz="1080" b="1">
                <a:latin typeface="Calibri"/>
              </a:rPr>
              <a:t>Kelola Data</a:t>
            </a:r>
            <a:endParaRPr lang="en-US" sz="1080" dirty="0"/>
          </a:p>
        </p:txBody>
      </p:sp>
      <p:sp>
        <p:nvSpPr>
          <p:cNvPr id="14" name="Text 10"/>
          <p:cNvSpPr/>
          <p:nvPr/>
        </p:nvSpPr>
        <p:spPr>
          <a:xfrm>
            <a:off x="3575304" y="1691640"/>
            <a:ext cx="201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3776472" y="16916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7780">
            <a:solidFill>
              <a:srgbClr val="0D934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2"/>
          <p:cNvSpPr/>
          <p:nvPr/>
        </p:nvSpPr>
        <p:spPr>
          <a:xfrm>
            <a:off x="3776472" y="169164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sz="1080" b="1">
                <a:latin typeface="Calibri"/>
              </a:rPr>
              <a:t>Data Siswa</a:t>
            </a:r>
            <a:br/>
            <a:r>
              <a:rPr sz="1080" b="1">
                <a:latin typeface="Calibri"/>
              </a:rPr>
              <a:t>&amp; Penilaian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5257800" y="1691640"/>
            <a:ext cx="201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58968" y="16916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7780">
            <a:solidFill>
              <a:srgbClr val="0D934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5"/>
          <p:cNvSpPr/>
          <p:nvPr/>
        </p:nvSpPr>
        <p:spPr>
          <a:xfrm>
            <a:off x="5458968" y="169164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sz="1080" b="1">
                <a:latin typeface="Calibri"/>
              </a:rPr>
              <a:t>Kriteria</a:t>
            </a:r>
            <a:br/>
            <a:r>
              <a:rPr sz="1080" b="1">
                <a:latin typeface="Calibri"/>
              </a:rPr>
              <a:t>&amp; Bobot</a:t>
            </a:r>
            <a:endParaRPr lang="en-US" sz="1080" dirty="0"/>
          </a:p>
        </p:txBody>
      </p:sp>
      <p:sp>
        <p:nvSpPr>
          <p:cNvPr id="20" name="Text 16"/>
          <p:cNvSpPr/>
          <p:nvPr/>
        </p:nvSpPr>
        <p:spPr>
          <a:xfrm>
            <a:off x="6940296" y="1691640"/>
            <a:ext cx="201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141464" y="16916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7780">
            <a:solidFill>
              <a:srgbClr val="0D934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18"/>
          <p:cNvSpPr/>
          <p:nvPr/>
        </p:nvSpPr>
        <p:spPr>
          <a:xfrm>
            <a:off x="7141464" y="169164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sz="1080" b="1">
                <a:latin typeface="Calibri"/>
              </a:rPr>
              <a:t>Weighted</a:t>
            </a:r>
            <a:br/>
            <a:r>
              <a:rPr sz="1080" b="1">
                <a:latin typeface="Calibri"/>
              </a:rPr>
              <a:t>Product</a:t>
            </a:r>
            <a:endParaRPr lang="en-US" sz="1080" dirty="0"/>
          </a:p>
        </p:txBody>
      </p:sp>
      <p:sp>
        <p:nvSpPr>
          <p:cNvPr id="23" name="Text 19"/>
          <p:cNvSpPr/>
          <p:nvPr/>
        </p:nvSpPr>
        <p:spPr>
          <a:xfrm>
            <a:off x="8622792" y="1691640"/>
            <a:ext cx="201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8823960" y="16916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7780">
            <a:solidFill>
              <a:srgbClr val="0D934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1"/>
          <p:cNvSpPr/>
          <p:nvPr/>
        </p:nvSpPr>
        <p:spPr>
          <a:xfrm>
            <a:off x="8823960" y="169164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sz="1080" b="1">
                <a:latin typeface="Calibri"/>
              </a:rPr>
              <a:t>Vektor S</a:t>
            </a:r>
            <a:br/>
            <a:r>
              <a:rPr sz="1080" b="1">
                <a:latin typeface="Calibri"/>
              </a:rPr>
              <a:t>&amp; Vektor V</a:t>
            </a:r>
            <a:endParaRPr lang="en-US" sz="1080" dirty="0"/>
          </a:p>
        </p:txBody>
      </p:sp>
      <p:sp>
        <p:nvSpPr>
          <p:cNvPr id="26" name="Text 22"/>
          <p:cNvSpPr/>
          <p:nvPr/>
        </p:nvSpPr>
        <p:spPr>
          <a:xfrm>
            <a:off x="10305288" y="1691640"/>
            <a:ext cx="201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10506456" y="169164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0D9346"/>
          </a:solidFill>
          <a:ln w="17780">
            <a:solidFill>
              <a:srgbClr val="0D934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4"/>
          <p:cNvSpPr/>
          <p:nvPr/>
        </p:nvSpPr>
        <p:spPr>
          <a:xfrm>
            <a:off x="10506456" y="169164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sz="1080" b="1" dirty="0" err="1">
                <a:solidFill>
                  <a:schemeClr val="bg1"/>
                </a:solidFill>
                <a:latin typeface="Calibri"/>
              </a:rPr>
              <a:t>Peringkat</a:t>
            </a:r>
            <a:br>
              <a:rPr dirty="0">
                <a:solidFill>
                  <a:schemeClr val="bg1"/>
                </a:solidFill>
              </a:rPr>
            </a:br>
            <a:r>
              <a:rPr sz="1080" b="1" dirty="0" err="1">
                <a:solidFill>
                  <a:schemeClr val="bg1"/>
                </a:solidFill>
                <a:latin typeface="Calibri"/>
              </a:rPr>
              <a:t>Siswa</a:t>
            </a:r>
            <a:endParaRPr lang="en-US" sz="1080" dirty="0">
              <a:solidFill>
                <a:schemeClr val="bg1"/>
              </a:solidFill>
            </a:endParaRPr>
          </a:p>
        </p:txBody>
      </p:sp>
      <p:sp>
        <p:nvSpPr>
          <p:cNvPr id="29" name="Shape 25"/>
          <p:cNvSpPr/>
          <p:nvPr/>
        </p:nvSpPr>
        <p:spPr>
          <a:xfrm>
            <a:off x="411480" y="3063240"/>
            <a:ext cx="6949440" cy="3200400"/>
          </a:xfrm>
          <a:prstGeom prst="roundRect">
            <a:avLst>
              <a:gd name="adj" fmla="val 2286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Shape 26"/>
          <p:cNvSpPr/>
          <p:nvPr/>
        </p:nvSpPr>
        <p:spPr>
          <a:xfrm>
            <a:off x="576072" y="2916936"/>
            <a:ext cx="1586484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1" name="Text 27"/>
          <p:cNvSpPr/>
          <p:nvPr/>
        </p:nvSpPr>
        <p:spPr>
          <a:xfrm>
            <a:off x="576072" y="2916936"/>
            <a:ext cx="15864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1" dirty="0">
                <a:solidFill>
                  <a:schemeClr val="bg1"/>
                </a:solidFill>
                <a:latin typeface="Calibri"/>
              </a:rPr>
              <a:t>Proses </a:t>
            </a:r>
            <a:r>
              <a:rPr sz="1150" b="1" dirty="0" err="1">
                <a:solidFill>
                  <a:schemeClr val="bg1"/>
                </a:solidFill>
                <a:latin typeface="Calibri"/>
              </a:rPr>
              <a:t>Sistem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32" name="Shape 28"/>
          <p:cNvSpPr/>
          <p:nvPr/>
        </p:nvSpPr>
        <p:spPr>
          <a:xfrm>
            <a:off x="640080" y="3401568"/>
            <a:ext cx="329184" cy="329184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" name="Text 29"/>
          <p:cNvSpPr/>
          <p:nvPr/>
        </p:nvSpPr>
        <p:spPr>
          <a:xfrm>
            <a:off x="64008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1133856" y="334670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30">
                <a:latin typeface="Calibri"/>
              </a:rPr>
              <a:t>Admin login dan mengakses sistem.</a:t>
            </a:r>
            <a:endParaRPr lang="en-US" sz="1130" dirty="0"/>
          </a:p>
        </p:txBody>
      </p:sp>
      <p:sp>
        <p:nvSpPr>
          <p:cNvPr id="35" name="Shape 31"/>
          <p:cNvSpPr/>
          <p:nvPr/>
        </p:nvSpPr>
        <p:spPr>
          <a:xfrm>
            <a:off x="640080" y="3794760"/>
            <a:ext cx="329184" cy="329184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" name="Text 32"/>
          <p:cNvSpPr/>
          <p:nvPr/>
        </p:nvSpPr>
        <p:spPr>
          <a:xfrm>
            <a:off x="640080" y="37947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1133856" y="373989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30">
                <a:latin typeface="Calibri"/>
              </a:rPr>
              <a:t>Admin mengelola data siswa dan menginput/import data.</a:t>
            </a:r>
            <a:endParaRPr lang="en-US" sz="1130" dirty="0"/>
          </a:p>
        </p:txBody>
      </p:sp>
      <p:sp>
        <p:nvSpPr>
          <p:cNvPr id="38" name="Shape 34"/>
          <p:cNvSpPr/>
          <p:nvPr/>
        </p:nvSpPr>
        <p:spPr>
          <a:xfrm>
            <a:off x="640080" y="4187952"/>
            <a:ext cx="329184" cy="329184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9" name="Text 35"/>
          <p:cNvSpPr/>
          <p:nvPr/>
        </p:nvSpPr>
        <p:spPr>
          <a:xfrm>
            <a:off x="640080" y="4187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1133856" y="413308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30" dirty="0">
                <a:latin typeface="Calibri"/>
              </a:rPr>
              <a:t>Admin </a:t>
            </a:r>
            <a:r>
              <a:rPr lang="en-US" sz="1130" dirty="0" err="1">
                <a:latin typeface="Calibri"/>
              </a:rPr>
              <a:t>melihat</a:t>
            </a:r>
            <a:r>
              <a:rPr sz="1130" dirty="0">
                <a:latin typeface="Calibri"/>
              </a:rPr>
              <a:t> </a:t>
            </a:r>
            <a:r>
              <a:rPr sz="1130" dirty="0" err="1">
                <a:latin typeface="Calibri"/>
              </a:rPr>
              <a:t>kriteria</a:t>
            </a:r>
            <a:r>
              <a:rPr sz="1130" dirty="0">
                <a:latin typeface="Calibri"/>
              </a:rPr>
              <a:t>, </a:t>
            </a:r>
            <a:r>
              <a:rPr sz="1130" dirty="0" err="1">
                <a:latin typeface="Calibri"/>
              </a:rPr>
              <a:t>bobot</a:t>
            </a:r>
            <a:r>
              <a:rPr sz="1130" dirty="0">
                <a:latin typeface="Calibri"/>
              </a:rPr>
              <a:t>, dan </a:t>
            </a:r>
            <a:r>
              <a:rPr sz="1130" dirty="0" err="1">
                <a:latin typeface="Calibri"/>
              </a:rPr>
              <a:t>penilaian</a:t>
            </a:r>
            <a:r>
              <a:rPr sz="1130" dirty="0">
                <a:latin typeface="Calibri"/>
              </a:rPr>
              <a:t>.</a:t>
            </a:r>
            <a:endParaRPr lang="en-US" sz="1130" dirty="0"/>
          </a:p>
        </p:txBody>
      </p:sp>
      <p:sp>
        <p:nvSpPr>
          <p:cNvPr id="41" name="Shape 37"/>
          <p:cNvSpPr/>
          <p:nvPr/>
        </p:nvSpPr>
        <p:spPr>
          <a:xfrm>
            <a:off x="640080" y="4581144"/>
            <a:ext cx="329184" cy="329184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2" name="Text 38"/>
          <p:cNvSpPr/>
          <p:nvPr/>
        </p:nvSpPr>
        <p:spPr>
          <a:xfrm>
            <a:off x="640080" y="4581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1133856" y="45262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30">
                <a:latin typeface="Calibri"/>
              </a:rPr>
              <a:t>Sistem melakukan normalisasi bobot dan perhitungan WP.</a:t>
            </a:r>
            <a:endParaRPr lang="en-US" sz="1130" dirty="0"/>
          </a:p>
        </p:txBody>
      </p:sp>
      <p:sp>
        <p:nvSpPr>
          <p:cNvPr id="44" name="Shape 40"/>
          <p:cNvSpPr/>
          <p:nvPr/>
        </p:nvSpPr>
        <p:spPr>
          <a:xfrm>
            <a:off x="640080" y="4974336"/>
            <a:ext cx="329184" cy="329184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5" name="Text 41"/>
          <p:cNvSpPr/>
          <p:nvPr/>
        </p:nvSpPr>
        <p:spPr>
          <a:xfrm>
            <a:off x="640080" y="49743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42"/>
          <p:cNvSpPr/>
          <p:nvPr/>
        </p:nvSpPr>
        <p:spPr>
          <a:xfrm>
            <a:off x="1133856" y="491947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30">
                <a:latin typeface="Calibri"/>
              </a:rPr>
              <a:t>Sistem menghitung Vektor S dan Vektor V.</a:t>
            </a:r>
            <a:endParaRPr lang="en-US" sz="1130" dirty="0"/>
          </a:p>
        </p:txBody>
      </p:sp>
      <p:sp>
        <p:nvSpPr>
          <p:cNvPr id="47" name="Shape 43"/>
          <p:cNvSpPr/>
          <p:nvPr/>
        </p:nvSpPr>
        <p:spPr>
          <a:xfrm>
            <a:off x="640080" y="5367528"/>
            <a:ext cx="329184" cy="329184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8" name="Text 44"/>
          <p:cNvSpPr/>
          <p:nvPr/>
        </p:nvSpPr>
        <p:spPr>
          <a:xfrm>
            <a:off x="640080" y="5367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9" name="Text 45"/>
          <p:cNvSpPr/>
          <p:nvPr/>
        </p:nvSpPr>
        <p:spPr>
          <a:xfrm>
            <a:off x="1133856" y="531266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30">
                <a:latin typeface="Calibri"/>
              </a:rPr>
              <a:t>Nilai V diurutkan untuk menghasilkan peringkat.</a:t>
            </a:r>
            <a:endParaRPr lang="en-US" sz="1130" dirty="0"/>
          </a:p>
        </p:txBody>
      </p:sp>
      <p:sp>
        <p:nvSpPr>
          <p:cNvPr id="50" name="Shape 46"/>
          <p:cNvSpPr/>
          <p:nvPr/>
        </p:nvSpPr>
        <p:spPr>
          <a:xfrm>
            <a:off x="640080" y="5760720"/>
            <a:ext cx="329184" cy="329184"/>
          </a:xfrm>
          <a:prstGeom prst="ellipse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1" name="Text 47"/>
          <p:cNvSpPr/>
          <p:nvPr/>
        </p:nvSpPr>
        <p:spPr>
          <a:xfrm>
            <a:off x="640080" y="5760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1133856" y="570585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30">
                <a:latin typeface="Calibri"/>
              </a:rPr>
              <a:t>Hasil ranking dapat ditampilkan, difilter, dan diekspor.</a:t>
            </a:r>
            <a:endParaRPr lang="en-US" sz="1130" dirty="0"/>
          </a:p>
        </p:txBody>
      </p:sp>
      <p:sp>
        <p:nvSpPr>
          <p:cNvPr id="53" name="Shape 49"/>
          <p:cNvSpPr/>
          <p:nvPr/>
        </p:nvSpPr>
        <p:spPr>
          <a:xfrm>
            <a:off x="7543800" y="3063240"/>
            <a:ext cx="4206240" cy="3200400"/>
          </a:xfrm>
          <a:prstGeom prst="roundRect">
            <a:avLst>
              <a:gd name="adj" fmla="val 2286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4" name="Shape 50"/>
          <p:cNvSpPr/>
          <p:nvPr/>
        </p:nvSpPr>
        <p:spPr>
          <a:xfrm>
            <a:off x="7708392" y="2916936"/>
            <a:ext cx="2281428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5" name="Text 51"/>
          <p:cNvSpPr/>
          <p:nvPr/>
        </p:nvSpPr>
        <p:spPr>
          <a:xfrm>
            <a:off x="7708392" y="2916936"/>
            <a:ext cx="2281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1" dirty="0" err="1">
                <a:solidFill>
                  <a:schemeClr val="bg1"/>
                </a:solidFill>
                <a:latin typeface="Calibri"/>
              </a:rPr>
              <a:t>Arsitektur</a:t>
            </a:r>
            <a:r>
              <a:rPr sz="1150" b="1" dirty="0">
                <a:solidFill>
                  <a:schemeClr val="bg1"/>
                </a:solidFill>
                <a:latin typeface="Calibri"/>
              </a:rPr>
              <a:t> Three-Tier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56" name="Shape 52"/>
          <p:cNvSpPr/>
          <p:nvPr/>
        </p:nvSpPr>
        <p:spPr>
          <a:xfrm>
            <a:off x="7754112" y="3429000"/>
            <a:ext cx="37947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E6D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7" name="Text 53"/>
          <p:cNvSpPr/>
          <p:nvPr/>
        </p:nvSpPr>
        <p:spPr>
          <a:xfrm>
            <a:off x="7909560" y="3502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latin typeface="Calibri"/>
              </a:rPr>
              <a:t>Presentation Layer</a:t>
            </a:r>
            <a:endParaRPr lang="en-US" sz="1200" dirty="0"/>
          </a:p>
        </p:txBody>
      </p:sp>
      <p:sp>
        <p:nvSpPr>
          <p:cNvPr id="58" name="Text 54"/>
          <p:cNvSpPr/>
          <p:nvPr/>
        </p:nvSpPr>
        <p:spPr>
          <a:xfrm>
            <a:off x="7909560" y="3794760"/>
            <a:ext cx="35204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sz="1060">
                <a:latin typeface="Calibri"/>
              </a:rPr>
              <a:t>Next.js &amp; TypeScript — antarmuka sistem.</a:t>
            </a:r>
            <a:endParaRPr lang="en-US" sz="1060" dirty="0"/>
          </a:p>
        </p:txBody>
      </p:sp>
      <p:sp>
        <p:nvSpPr>
          <p:cNvPr id="59" name="Shape 55"/>
          <p:cNvSpPr/>
          <p:nvPr/>
        </p:nvSpPr>
        <p:spPr>
          <a:xfrm>
            <a:off x="7754112" y="4453128"/>
            <a:ext cx="37947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E6D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0" name="Text 56"/>
          <p:cNvSpPr/>
          <p:nvPr/>
        </p:nvSpPr>
        <p:spPr>
          <a:xfrm>
            <a:off x="7909560" y="45262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latin typeface="Calibri"/>
              </a:rPr>
              <a:t>Business Logic Layer</a:t>
            </a:r>
            <a:endParaRPr lang="en-US" sz="1200" dirty="0"/>
          </a:p>
        </p:txBody>
      </p:sp>
      <p:sp>
        <p:nvSpPr>
          <p:cNvPr id="61" name="Text 57"/>
          <p:cNvSpPr/>
          <p:nvPr/>
        </p:nvSpPr>
        <p:spPr>
          <a:xfrm>
            <a:off x="7909560" y="4818888"/>
            <a:ext cx="35204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sz="1060">
                <a:latin typeface="Calibri"/>
              </a:rPr>
              <a:t>Logika perhitungan Weighted Product dan proses bisnis.</a:t>
            </a:r>
            <a:endParaRPr lang="en-US" sz="1060" dirty="0"/>
          </a:p>
        </p:txBody>
      </p:sp>
      <p:sp>
        <p:nvSpPr>
          <p:cNvPr id="62" name="Shape 58"/>
          <p:cNvSpPr/>
          <p:nvPr/>
        </p:nvSpPr>
        <p:spPr>
          <a:xfrm>
            <a:off x="7754112" y="5477256"/>
            <a:ext cx="37947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E6D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3" name="Text 59"/>
          <p:cNvSpPr/>
          <p:nvPr/>
        </p:nvSpPr>
        <p:spPr>
          <a:xfrm>
            <a:off x="7909560" y="55504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latin typeface="Calibri"/>
              </a:rPr>
              <a:t>Data Layer</a:t>
            </a:r>
            <a:endParaRPr lang="en-US" sz="1200" dirty="0"/>
          </a:p>
        </p:txBody>
      </p:sp>
      <p:sp>
        <p:nvSpPr>
          <p:cNvPr id="64" name="Text 60"/>
          <p:cNvSpPr/>
          <p:nvPr/>
        </p:nvSpPr>
        <p:spPr>
          <a:xfrm>
            <a:off x="7909560" y="5843016"/>
            <a:ext cx="35204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sz="1060">
                <a:latin typeface="Calibri"/>
              </a:rPr>
              <a:t>PostgreSQL — penyimpanan data sistem.</a:t>
            </a:r>
            <a:endParaRPr lang="en-US" sz="10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960120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2800" b="1">
                <a:latin typeface="Calibri"/>
              </a:rPr>
              <a:t>Implementasi Sistem</a:t>
            </a:r>
            <a:endParaRPr lang="en-US" sz="2800" dirty="0"/>
          </a:p>
        </p:txBody>
      </p:sp>
      <p:pic>
        <p:nvPicPr>
          <p:cNvPr id="4" name="Image 0" descr="/home/claude/work/assets/logo_ubi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20040"/>
            <a:ext cx="1170432" cy="3447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024128"/>
            <a:ext cx="3927348" cy="36576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411480" y="1024128"/>
            <a:ext cx="39273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 dirty="0">
                <a:solidFill>
                  <a:schemeClr val="bg1"/>
                </a:solidFill>
                <a:latin typeface="Calibri"/>
              </a:rPr>
              <a:t>Data </a:t>
            </a:r>
            <a:r>
              <a:rPr sz="1300" b="1" dirty="0" err="1">
                <a:solidFill>
                  <a:schemeClr val="bg1"/>
                </a:solidFill>
                <a:latin typeface="Calibri"/>
              </a:rPr>
              <a:t>Sisw</a:t>
            </a:r>
            <a:r>
              <a:rPr lang="en-US" sz="1300" b="1" dirty="0" err="1">
                <a:solidFill>
                  <a:schemeClr val="bg1"/>
                </a:solidFill>
                <a:latin typeface="Calibri"/>
              </a:rPr>
              <a:t>a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8" name="Image 1" descr="/home/claude/work/assets/logo_biu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144768"/>
            <a:ext cx="566928" cy="685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1480" y="1600200"/>
            <a:ext cx="4919472" cy="5112374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6"/>
          <p:cNvSpPr/>
          <p:nvPr/>
        </p:nvSpPr>
        <p:spPr>
          <a:xfrm>
            <a:off x="-396240" y="6374246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sz="1050" dirty="0">
                <a:latin typeface="Calibri"/>
              </a:rPr>
              <a:t>Gambar. Halaman Data </a:t>
            </a:r>
            <a:r>
              <a:rPr sz="1050" dirty="0" err="1">
                <a:latin typeface="Calibri"/>
              </a:rPr>
              <a:t>Siswa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6562165" y="2503663"/>
            <a:ext cx="4572000" cy="2281518"/>
          </a:xfrm>
          <a:prstGeom prst="roundRect">
            <a:avLst>
              <a:gd name="adj" fmla="val 1758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8"/>
          <p:cNvSpPr/>
          <p:nvPr/>
        </p:nvSpPr>
        <p:spPr>
          <a:xfrm>
            <a:off x="6750558" y="2366503"/>
            <a:ext cx="1586484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9"/>
          <p:cNvSpPr/>
          <p:nvPr/>
        </p:nvSpPr>
        <p:spPr>
          <a:xfrm>
            <a:off x="6686550" y="2366503"/>
            <a:ext cx="15864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1" dirty="0" err="1">
                <a:solidFill>
                  <a:schemeClr val="bg1"/>
                </a:solidFill>
                <a:latin typeface="Calibri"/>
              </a:rPr>
              <a:t>Cakupan</a:t>
            </a:r>
            <a:r>
              <a:rPr sz="1150" b="1" dirty="0">
                <a:solidFill>
                  <a:schemeClr val="bg1"/>
                </a:solidFill>
                <a:latin typeface="Calibri"/>
              </a:rPr>
              <a:t> Fitur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890273" y="296567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Text 11"/>
          <p:cNvSpPr/>
          <p:nvPr/>
        </p:nvSpPr>
        <p:spPr>
          <a:xfrm>
            <a:off x="6890273" y="294738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202245" y="2714214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80" dirty="0" err="1">
                <a:latin typeface="Calibri"/>
              </a:rPr>
              <a:t>Tambah</a:t>
            </a:r>
            <a:r>
              <a:rPr sz="1180" dirty="0">
                <a:latin typeface="Calibri"/>
              </a:rPr>
              <a:t>, </a:t>
            </a:r>
            <a:r>
              <a:rPr sz="1180" dirty="0" err="1">
                <a:latin typeface="Calibri"/>
              </a:rPr>
              <a:t>ubah</a:t>
            </a:r>
            <a:r>
              <a:rPr sz="1180" dirty="0">
                <a:latin typeface="Calibri"/>
              </a:rPr>
              <a:t>, hapus, dan </a:t>
            </a:r>
            <a:r>
              <a:rPr sz="1180" dirty="0" err="1">
                <a:latin typeface="Calibri"/>
              </a:rPr>
              <a:t>lihat</a:t>
            </a:r>
            <a:r>
              <a:rPr sz="1180" dirty="0">
                <a:latin typeface="Calibri"/>
              </a:rPr>
              <a:t> data </a:t>
            </a:r>
            <a:r>
              <a:rPr sz="1180" dirty="0" err="1">
                <a:latin typeface="Calibri"/>
              </a:rPr>
              <a:t>siswa</a:t>
            </a:r>
            <a:r>
              <a:rPr sz="1180" dirty="0">
                <a:latin typeface="Calibri"/>
              </a:rPr>
              <a:t>.</a:t>
            </a:r>
            <a:endParaRPr lang="en-US" sz="1180" dirty="0"/>
          </a:p>
        </p:txBody>
      </p:sp>
      <p:sp>
        <p:nvSpPr>
          <p:cNvPr id="18" name="Shape 13"/>
          <p:cNvSpPr/>
          <p:nvPr/>
        </p:nvSpPr>
        <p:spPr>
          <a:xfrm>
            <a:off x="6890273" y="404344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Text 14"/>
          <p:cNvSpPr/>
          <p:nvPr/>
        </p:nvSpPr>
        <p:spPr>
          <a:xfrm>
            <a:off x="6890273" y="402515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221071" y="3767767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80" dirty="0">
                <a:latin typeface="Calibri"/>
              </a:rPr>
              <a:t>Import data </a:t>
            </a:r>
            <a:r>
              <a:rPr sz="1180" dirty="0" err="1">
                <a:latin typeface="Calibri"/>
              </a:rPr>
              <a:t>siswa</a:t>
            </a:r>
            <a:r>
              <a:rPr sz="1180" dirty="0">
                <a:latin typeface="Calibri"/>
              </a:rPr>
              <a:t> </a:t>
            </a:r>
            <a:r>
              <a:rPr sz="1180" dirty="0" err="1">
                <a:latin typeface="Calibri"/>
              </a:rPr>
              <a:t>melalui</a:t>
            </a:r>
            <a:r>
              <a:rPr sz="1180" dirty="0">
                <a:latin typeface="Calibri"/>
              </a:rPr>
              <a:t> Excel.</a:t>
            </a:r>
            <a:endParaRPr lang="en-US" sz="1180" dirty="0"/>
          </a:p>
        </p:txBody>
      </p:sp>
      <p:sp>
        <p:nvSpPr>
          <p:cNvPr id="25" name="Text 20"/>
          <p:cNvSpPr/>
          <p:nvPr/>
        </p:nvSpPr>
        <p:spPr>
          <a:xfrm>
            <a:off x="7543800" y="4690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Rectangle 26"/>
          <p:cNvSpPr/>
          <p:nvPr/>
        </p:nvSpPr>
        <p:spPr>
          <a:xfrm>
            <a:off x="594360" y="1600200"/>
            <a:ext cx="4571999" cy="3063240"/>
          </a:xfrm>
          <a:prstGeom prst="rect">
            <a:avLst/>
          </a:prstGeom>
          <a:noFill/>
          <a:ln>
            <a:solidFill>
              <a:srgbClr val="A0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TEMPAT SCREENSHOT HALAMAN DATA SISWA / PENILAIAN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E09168-0DDB-8ED1-24F9-5A9EE2D560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43"/>
          <a:stretch>
            <a:fillRect/>
          </a:stretch>
        </p:blipFill>
        <p:spPr bwMode="auto">
          <a:xfrm>
            <a:off x="594360" y="1600200"/>
            <a:ext cx="4571999" cy="4710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D4854-E4E8-7E17-2A35-09DEC509C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4BA132-A462-9780-D63C-FBCC5261AD14}"/>
              </a:ext>
            </a:extLst>
          </p:cNvPr>
          <p:cNvSpPr/>
          <p:nvPr/>
        </p:nvSpPr>
        <p:spPr>
          <a:xfrm>
            <a:off x="0" y="0"/>
            <a:ext cx="118872" cy="960120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B4191B-4D73-808A-F523-7C95F32EF040}"/>
              </a:ext>
            </a:extLst>
          </p:cNvPr>
          <p:cNvSpPr/>
          <p:nvPr/>
        </p:nvSpPr>
        <p:spPr>
          <a:xfrm>
            <a:off x="411480" y="25603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2800" b="1">
                <a:latin typeface="Calibri"/>
              </a:rPr>
              <a:t>Implementasi Sistem</a:t>
            </a:r>
            <a:endParaRPr lang="en-US" sz="2800" dirty="0"/>
          </a:p>
        </p:txBody>
      </p:sp>
      <p:pic>
        <p:nvPicPr>
          <p:cNvPr id="4" name="Image 0" descr="/home/claude/work/assets/logo_ubi_small.png">
            <a:extLst>
              <a:ext uri="{FF2B5EF4-FFF2-40B4-BE49-F238E27FC236}">
                <a16:creationId xmlns:a16="http://schemas.microsoft.com/office/drawing/2014/main" id="{FBA09795-31F4-91BE-0552-C55CDB583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20040"/>
            <a:ext cx="1170432" cy="344729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6CE0434-20D3-8DD0-9D1C-BB29B6937F31}"/>
              </a:ext>
            </a:extLst>
          </p:cNvPr>
          <p:cNvSpPr/>
          <p:nvPr/>
        </p:nvSpPr>
        <p:spPr>
          <a:xfrm>
            <a:off x="411480" y="1024128"/>
            <a:ext cx="3927348" cy="36576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0C1E79B-8F56-3318-6221-45B40604931D}"/>
              </a:ext>
            </a:extLst>
          </p:cNvPr>
          <p:cNvSpPr/>
          <p:nvPr/>
        </p:nvSpPr>
        <p:spPr>
          <a:xfrm>
            <a:off x="411480" y="1024128"/>
            <a:ext cx="39273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 dirty="0" err="1">
                <a:solidFill>
                  <a:schemeClr val="bg1"/>
                </a:solidFill>
                <a:latin typeface="Calibri"/>
              </a:rPr>
              <a:t>Penilaian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8" name="Image 1" descr="/home/claude/work/assets/logo_biu_signature.png">
            <a:extLst>
              <a:ext uri="{FF2B5EF4-FFF2-40B4-BE49-F238E27FC236}">
                <a16:creationId xmlns:a16="http://schemas.microsoft.com/office/drawing/2014/main" id="{1EBEB427-9494-D6D8-C34F-4F60F1AD3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144768"/>
            <a:ext cx="566928" cy="685800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858DB910-9FBD-0F36-80CB-FE79546D4288}"/>
              </a:ext>
            </a:extLst>
          </p:cNvPr>
          <p:cNvSpPr/>
          <p:nvPr/>
        </p:nvSpPr>
        <p:spPr>
          <a:xfrm>
            <a:off x="411480" y="1600200"/>
            <a:ext cx="64922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1A299C7-3A32-43FB-6DF3-73E99935198B}"/>
              </a:ext>
            </a:extLst>
          </p:cNvPr>
          <p:cNvSpPr/>
          <p:nvPr/>
        </p:nvSpPr>
        <p:spPr>
          <a:xfrm>
            <a:off x="456214" y="541782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sz="1050" dirty="0">
                <a:latin typeface="Calibri"/>
              </a:rPr>
              <a:t>Gambar. Halaman </a:t>
            </a:r>
            <a:r>
              <a:rPr sz="1050" dirty="0" err="1">
                <a:latin typeface="Calibri"/>
              </a:rPr>
              <a:t>Penilaian</a:t>
            </a:r>
            <a:endParaRPr lang="en-US" sz="105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FFFD8EE-89E8-6FE3-A798-DAE9251F6D0A}"/>
              </a:ext>
            </a:extLst>
          </p:cNvPr>
          <p:cNvSpPr/>
          <p:nvPr/>
        </p:nvSpPr>
        <p:spPr>
          <a:xfrm>
            <a:off x="7315200" y="1600200"/>
            <a:ext cx="4572000" cy="2469776"/>
          </a:xfrm>
          <a:prstGeom prst="roundRect">
            <a:avLst>
              <a:gd name="adj" fmla="val 1758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262F73EE-C263-18D9-617B-F2DD9E92CE6C}"/>
              </a:ext>
            </a:extLst>
          </p:cNvPr>
          <p:cNvSpPr/>
          <p:nvPr/>
        </p:nvSpPr>
        <p:spPr>
          <a:xfrm>
            <a:off x="7479792" y="1453896"/>
            <a:ext cx="1586484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D40A14C-137C-F571-10EF-9E5FDBAF57A1}"/>
              </a:ext>
            </a:extLst>
          </p:cNvPr>
          <p:cNvSpPr/>
          <p:nvPr/>
        </p:nvSpPr>
        <p:spPr>
          <a:xfrm>
            <a:off x="7479792" y="1453896"/>
            <a:ext cx="15864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1" dirty="0" err="1">
                <a:solidFill>
                  <a:schemeClr val="bg1"/>
                </a:solidFill>
                <a:latin typeface="Calibri"/>
              </a:rPr>
              <a:t>Cakupan</a:t>
            </a:r>
            <a:r>
              <a:rPr sz="1150" b="1" dirty="0">
                <a:solidFill>
                  <a:schemeClr val="bg1"/>
                </a:solidFill>
                <a:latin typeface="Calibri"/>
              </a:rPr>
              <a:t> Fitur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FFB7B639-7532-8CD9-3366-D0BCCA9C90C3}"/>
              </a:ext>
            </a:extLst>
          </p:cNvPr>
          <p:cNvSpPr/>
          <p:nvPr/>
        </p:nvSpPr>
        <p:spPr>
          <a:xfrm>
            <a:off x="7543800" y="19659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4404B36F-CE09-972E-45CF-0D990C43812B}"/>
              </a:ext>
            </a:extLst>
          </p:cNvPr>
          <p:cNvSpPr/>
          <p:nvPr/>
        </p:nvSpPr>
        <p:spPr>
          <a:xfrm>
            <a:off x="7543800" y="1947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436C2F5-79E1-3C49-14A1-D0B68AFFE7CA}"/>
              </a:ext>
            </a:extLst>
          </p:cNvPr>
          <p:cNvSpPr/>
          <p:nvPr/>
        </p:nvSpPr>
        <p:spPr>
          <a:xfrm>
            <a:off x="7955280" y="180390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r>
              <a:rPr lang="sv-SE" sz="1180" dirty="0"/>
              <a:t>Input penilaian berdasarkan empat kriteria.</a:t>
            </a: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05713337-DD7E-D250-45A8-71D1DE087A30}"/>
              </a:ext>
            </a:extLst>
          </p:cNvPr>
          <p:cNvSpPr/>
          <p:nvPr/>
        </p:nvSpPr>
        <p:spPr>
          <a:xfrm>
            <a:off x="7543800" y="28803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1B4D8164-BB14-D726-AE2C-F7DDF0702773}"/>
              </a:ext>
            </a:extLst>
          </p:cNvPr>
          <p:cNvSpPr/>
          <p:nvPr/>
        </p:nvSpPr>
        <p:spPr>
          <a:xfrm>
            <a:off x="7543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5CA73E20-A0EF-7FAF-7F4E-1BCB2E1D5B6E}"/>
              </a:ext>
            </a:extLst>
          </p:cNvPr>
          <p:cNvSpPr/>
          <p:nvPr/>
        </p:nvSpPr>
        <p:spPr>
          <a:xfrm>
            <a:off x="7955280" y="269290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r>
              <a:rPr lang="en-US" sz="1180" dirty="0"/>
              <a:t>Data </a:t>
            </a:r>
            <a:r>
              <a:rPr lang="en-US" sz="1180" dirty="0" err="1"/>
              <a:t>menjadi</a:t>
            </a:r>
            <a:r>
              <a:rPr lang="en-US" sz="1180" dirty="0"/>
              <a:t> input proses Weighted Product.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0129B4-0DDE-9F1D-DF9A-2D60AB7BF037}"/>
              </a:ext>
            </a:extLst>
          </p:cNvPr>
          <p:cNvSpPr/>
          <p:nvPr/>
        </p:nvSpPr>
        <p:spPr>
          <a:xfrm>
            <a:off x="594360" y="1600200"/>
            <a:ext cx="6173007" cy="3063240"/>
          </a:xfrm>
          <a:prstGeom prst="rect">
            <a:avLst/>
          </a:prstGeom>
          <a:noFill/>
          <a:ln>
            <a:solidFill>
              <a:srgbClr val="A0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TEMPAT SCREENSHOT HALAMAN DATA SISWA / PENILAIAN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3CDD9D-B15A-6E09-553F-7C39C594FB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85"/>
          <a:stretch>
            <a:fillRect/>
          </a:stretch>
        </p:blipFill>
        <p:spPr bwMode="auto">
          <a:xfrm>
            <a:off x="637301" y="1607910"/>
            <a:ext cx="6130066" cy="3766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6504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960120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2600" b="1">
                <a:latin typeface="Calibri"/>
              </a:rPr>
              <a:t>Implementasi Sistem</a:t>
            </a:r>
            <a:endParaRPr lang="en-US" sz="2600" dirty="0"/>
          </a:p>
        </p:txBody>
      </p:sp>
      <p:pic>
        <p:nvPicPr>
          <p:cNvPr id="4" name="Image 0" descr="/home/claude/work/assets/logo_ubi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20040"/>
            <a:ext cx="1170432" cy="3447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024128"/>
            <a:ext cx="4695444" cy="36576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411480" y="1024128"/>
            <a:ext cx="46954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 dirty="0" err="1">
                <a:solidFill>
                  <a:schemeClr val="bg1"/>
                </a:solidFill>
                <a:latin typeface="Calibri"/>
              </a:rPr>
              <a:t>Perhitungan</a:t>
            </a:r>
            <a:r>
              <a:rPr sz="1300" b="1" dirty="0">
                <a:solidFill>
                  <a:schemeClr val="bg1"/>
                </a:solidFill>
                <a:latin typeface="Calibri"/>
              </a:rPr>
              <a:t> &amp; Hasil </a:t>
            </a:r>
            <a:r>
              <a:rPr sz="1300" b="1" dirty="0" err="1">
                <a:solidFill>
                  <a:schemeClr val="bg1"/>
                </a:solidFill>
                <a:latin typeface="Calibri"/>
              </a:rPr>
              <a:t>Peringkat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1148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dari 17</a:t>
            </a:r>
            <a:endParaRPr lang="en-US" sz="1000" dirty="0"/>
          </a:p>
        </p:txBody>
      </p:sp>
      <p:pic>
        <p:nvPicPr>
          <p:cNvPr id="8" name="Image 1" descr="/home/claude/work/assets/logo_biu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144768"/>
            <a:ext cx="566928" cy="685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1480" y="1600200"/>
            <a:ext cx="553212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6"/>
          <p:cNvSpPr/>
          <p:nvPr/>
        </p:nvSpPr>
        <p:spPr>
          <a:xfrm>
            <a:off x="502919" y="5358384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sz="1050" dirty="0">
                <a:latin typeface="Calibri"/>
              </a:rPr>
              <a:t>Gambar. Halaman </a:t>
            </a:r>
            <a:r>
              <a:rPr sz="1050" dirty="0" err="1">
                <a:latin typeface="Calibri"/>
              </a:rPr>
              <a:t>Perhitungan</a:t>
            </a:r>
            <a:r>
              <a:rPr sz="1050" dirty="0">
                <a:latin typeface="Calibri"/>
              </a:rPr>
              <a:t> Weighted Product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6080760" y="1600200"/>
            <a:ext cx="56692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8"/>
          <p:cNvSpPr/>
          <p:nvPr/>
        </p:nvSpPr>
        <p:spPr>
          <a:xfrm>
            <a:off x="6172200" y="52018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sz="1050" dirty="0">
                <a:latin typeface="Calibri"/>
              </a:rPr>
              <a:t>Gambar. Halaman Hasil </a:t>
            </a:r>
            <a:r>
              <a:rPr sz="1050" dirty="0" err="1">
                <a:latin typeface="Calibri"/>
              </a:rPr>
              <a:t>Peringkat</a:t>
            </a:r>
            <a:endParaRPr lang="en-US" sz="1050" dirty="0"/>
          </a:p>
        </p:txBody>
      </p:sp>
      <p:sp>
        <p:nvSpPr>
          <p:cNvPr id="15" name="Rectangle 14"/>
          <p:cNvSpPr/>
          <p:nvPr/>
        </p:nvSpPr>
        <p:spPr>
          <a:xfrm>
            <a:off x="594360" y="1600200"/>
            <a:ext cx="5303520" cy="3063240"/>
          </a:xfrm>
          <a:prstGeom prst="rect">
            <a:avLst/>
          </a:prstGeom>
          <a:noFill/>
          <a:ln>
            <a:solidFill>
              <a:srgbClr val="A0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TEMPAT SCREENSHOT PERHITUNGAN WP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00200"/>
            <a:ext cx="5303520" cy="3063240"/>
          </a:xfrm>
          <a:prstGeom prst="rect">
            <a:avLst/>
          </a:prstGeom>
          <a:noFill/>
          <a:ln>
            <a:solidFill>
              <a:srgbClr val="A0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TEMPAT SCREENSHOT HASIL PERINGKAT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0944ED-16B0-852B-A9B6-CF60D02C06E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70033"/>
          <a:stretch>
            <a:fillRect/>
          </a:stretch>
        </p:blipFill>
        <p:spPr bwMode="auto">
          <a:xfrm>
            <a:off x="502919" y="1600887"/>
            <a:ext cx="5462539" cy="365691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2F1B64-F6A4-4E36-3C72-256DC55B15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24"/>
          <a:stretch>
            <a:fillRect/>
          </a:stretch>
        </p:blipFill>
        <p:spPr bwMode="auto">
          <a:xfrm>
            <a:off x="6126480" y="1602434"/>
            <a:ext cx="5532120" cy="3445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960120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3000" b="1">
                <a:latin typeface="Calibri"/>
              </a:rPr>
              <a:t>Hasil Pengujian Alfa</a:t>
            </a:r>
            <a:endParaRPr lang="en-US" sz="3000" dirty="0"/>
          </a:p>
        </p:txBody>
      </p:sp>
      <p:pic>
        <p:nvPicPr>
          <p:cNvPr id="4" name="Image 0" descr="/home/claude/work/assets/logo_ubi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20040"/>
            <a:ext cx="1170432" cy="3447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024128"/>
            <a:ext cx="2199132" cy="36576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411480" y="1024128"/>
            <a:ext cx="21991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 dirty="0">
                <a:solidFill>
                  <a:schemeClr val="bg1"/>
                </a:solidFill>
                <a:latin typeface="Calibri"/>
              </a:rPr>
              <a:t>Black Box Testing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8" name="Image 1" descr="/home/claude/work/assets/logo_biu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144768"/>
            <a:ext cx="566928" cy="685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150876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sz="1300">
                <a:latin typeface="Calibri"/>
              </a:rPr>
              <a:t>Pengujian alfa dilakukan untuk memverifikasi fungsi sistem berdasarkan input dan output. Total terdapat 44 skenario pengujian.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11480" y="2514600"/>
            <a:ext cx="5532120" cy="3063240"/>
          </a:xfrm>
          <a:prstGeom prst="roundRect">
            <a:avLst>
              <a:gd name="adj" fmla="val 2388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7"/>
          <p:cNvSpPr/>
          <p:nvPr/>
        </p:nvSpPr>
        <p:spPr>
          <a:xfrm>
            <a:off x="576072" y="2368296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8"/>
          <p:cNvSpPr/>
          <p:nvPr/>
        </p:nvSpPr>
        <p:spPr>
          <a:xfrm>
            <a:off x="576072" y="2368296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1" dirty="0" err="1">
                <a:solidFill>
                  <a:schemeClr val="bg1"/>
                </a:solidFill>
                <a:latin typeface="Calibri"/>
              </a:rPr>
              <a:t>Fungsi</a:t>
            </a:r>
            <a:r>
              <a:rPr sz="1150" b="1" dirty="0">
                <a:solidFill>
                  <a:schemeClr val="bg1"/>
                </a:solidFill>
                <a:latin typeface="Calibri"/>
              </a:rPr>
              <a:t> Utama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640080" y="28803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0"/>
          <p:cNvSpPr/>
          <p:nvPr/>
        </p:nvSpPr>
        <p:spPr>
          <a:xfrm>
            <a:off x="6400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51560" y="28072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latin typeface="Calibri"/>
              </a:rPr>
              <a:t>Login dan autentikasi admin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3832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Text 13"/>
          <p:cNvSpPr/>
          <p:nvPr/>
        </p:nvSpPr>
        <p:spPr>
          <a:xfrm>
            <a:off x="64008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51560" y="33101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latin typeface="Calibri"/>
              </a:rPr>
              <a:t>Data siswa dan import Excel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40080" y="38862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6"/>
          <p:cNvSpPr/>
          <p:nvPr/>
        </p:nvSpPr>
        <p:spPr>
          <a:xfrm>
            <a:off x="640080" y="3867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51560" y="38130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latin typeface="Calibri"/>
              </a:rPr>
              <a:t>Kriteria dan subkriteria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0080" y="43891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Text 19"/>
          <p:cNvSpPr/>
          <p:nvPr/>
        </p:nvSpPr>
        <p:spPr>
          <a:xfrm>
            <a:off x="640080" y="4370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051560" y="43159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latin typeface="Calibri"/>
              </a:rPr>
              <a:t>Input penilaian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40080" y="48920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2"/>
          <p:cNvSpPr/>
          <p:nvPr/>
        </p:nvSpPr>
        <p:spPr>
          <a:xfrm>
            <a:off x="640080" y="4873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051560" y="48188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latin typeface="Calibri"/>
              </a:rPr>
              <a:t>Perhitungan Weighted Product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263640" y="2514600"/>
            <a:ext cx="5486400" cy="3063240"/>
          </a:xfrm>
          <a:prstGeom prst="roundRect">
            <a:avLst>
              <a:gd name="adj" fmla="val 2388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5"/>
          <p:cNvSpPr/>
          <p:nvPr/>
        </p:nvSpPr>
        <p:spPr>
          <a:xfrm>
            <a:off x="6428232" y="2368296"/>
            <a:ext cx="2889504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" name="Text 26"/>
          <p:cNvSpPr/>
          <p:nvPr/>
        </p:nvSpPr>
        <p:spPr>
          <a:xfrm>
            <a:off x="6428232" y="2368296"/>
            <a:ext cx="2889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1" dirty="0">
                <a:solidFill>
                  <a:schemeClr val="bg1"/>
                </a:solidFill>
                <a:latin typeface="Calibri"/>
              </a:rPr>
              <a:t>Hasil </a:t>
            </a:r>
            <a:r>
              <a:rPr sz="1150" b="1" dirty="0" err="1">
                <a:solidFill>
                  <a:schemeClr val="bg1"/>
                </a:solidFill>
                <a:latin typeface="Calibri"/>
              </a:rPr>
              <a:t>Peringkat</a:t>
            </a:r>
            <a:r>
              <a:rPr sz="1150" b="1" dirty="0">
                <a:solidFill>
                  <a:schemeClr val="bg1"/>
                </a:solidFill>
                <a:latin typeface="Calibri"/>
              </a:rPr>
              <a:t> &amp; Filter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31" name="Shape 27"/>
          <p:cNvSpPr/>
          <p:nvPr/>
        </p:nvSpPr>
        <p:spPr>
          <a:xfrm>
            <a:off x="6492240" y="28803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" name="Text 28"/>
          <p:cNvSpPr/>
          <p:nvPr/>
        </p:nvSpPr>
        <p:spPr>
          <a:xfrm>
            <a:off x="649224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903720" y="28072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latin typeface="Calibri"/>
              </a:rPr>
              <a:t>Export Excel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492240" y="33832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5" name="Text 31"/>
          <p:cNvSpPr/>
          <p:nvPr/>
        </p:nvSpPr>
        <p:spPr>
          <a:xfrm>
            <a:off x="649224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6903720" y="33101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latin typeface="Calibri"/>
              </a:rPr>
              <a:t>Logout dan unauthorized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6492240" y="38862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8" name="Text 34"/>
          <p:cNvSpPr/>
          <p:nvPr/>
        </p:nvSpPr>
        <p:spPr>
          <a:xfrm>
            <a:off x="6492240" y="3867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6903720" y="38130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latin typeface="Calibri"/>
              </a:rPr>
              <a:t>Validasi fungsi sistem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6492240" y="43891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1" name="Text 37"/>
          <p:cNvSpPr/>
          <p:nvPr/>
        </p:nvSpPr>
        <p:spPr>
          <a:xfrm>
            <a:off x="6492240" y="4370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6903720" y="43159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latin typeface="Calibri"/>
              </a:rPr>
              <a:t>Hasil Pengujian</a:t>
            </a:r>
            <a:endParaRPr lang="en-US" sz="1250" dirty="0"/>
          </a:p>
        </p:txBody>
      </p:sp>
      <p:sp>
        <p:nvSpPr>
          <p:cNvPr id="43" name="Shape 39"/>
          <p:cNvSpPr/>
          <p:nvPr/>
        </p:nvSpPr>
        <p:spPr>
          <a:xfrm>
            <a:off x="6492240" y="48920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4" name="Text 40"/>
          <p:cNvSpPr/>
          <p:nvPr/>
        </p:nvSpPr>
        <p:spPr>
          <a:xfrm>
            <a:off x="6492240" y="4873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6903720" y="48188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latin typeface="Calibri"/>
              </a:rPr>
              <a:t>44 skenario berhasil</a:t>
            </a:r>
            <a:endParaRPr lang="en-US" sz="1250" dirty="0"/>
          </a:p>
        </p:txBody>
      </p:sp>
      <p:sp>
        <p:nvSpPr>
          <p:cNvPr id="46" name="Shape 42"/>
          <p:cNvSpPr/>
          <p:nvPr/>
        </p:nvSpPr>
        <p:spPr>
          <a:xfrm>
            <a:off x="411480" y="5806440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7" name="Text 43"/>
          <p:cNvSpPr/>
          <p:nvPr/>
        </p:nvSpPr>
        <p:spPr>
          <a:xfrm>
            <a:off x="594360" y="580644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50" b="1" dirty="0" err="1">
                <a:solidFill>
                  <a:schemeClr val="bg1"/>
                </a:solidFill>
                <a:latin typeface="Calibri"/>
              </a:rPr>
              <a:t>Simpulan</a:t>
            </a:r>
            <a:r>
              <a:rPr sz="1250" b="1" dirty="0">
                <a:solidFill>
                  <a:schemeClr val="bg1"/>
                </a:solidFill>
                <a:latin typeface="Calibri"/>
              </a:rPr>
              <a:t>: 44 </a:t>
            </a:r>
            <a:r>
              <a:rPr sz="1250" b="1" dirty="0" err="1">
                <a:solidFill>
                  <a:schemeClr val="bg1"/>
                </a:solidFill>
                <a:latin typeface="Calibri"/>
              </a:rPr>
              <a:t>dari</a:t>
            </a:r>
            <a:r>
              <a:rPr sz="1250" b="1" dirty="0">
                <a:solidFill>
                  <a:schemeClr val="bg1"/>
                </a:solidFill>
                <a:latin typeface="Calibri"/>
              </a:rPr>
              <a:t> 44 </a:t>
            </a:r>
            <a:r>
              <a:rPr sz="1250" b="1" dirty="0" err="1">
                <a:solidFill>
                  <a:schemeClr val="bg1"/>
                </a:solidFill>
                <a:latin typeface="Calibri"/>
              </a:rPr>
              <a:t>skenario</a:t>
            </a:r>
            <a:r>
              <a:rPr sz="125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250" b="1" dirty="0" err="1">
                <a:solidFill>
                  <a:schemeClr val="bg1"/>
                </a:solidFill>
                <a:latin typeface="Calibri"/>
              </a:rPr>
              <a:t>berhasil</a:t>
            </a:r>
            <a:r>
              <a:rPr sz="125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250" b="1" dirty="0" err="1">
                <a:solidFill>
                  <a:schemeClr val="bg1"/>
                </a:solidFill>
                <a:latin typeface="Calibri"/>
              </a:rPr>
              <a:t>dijalankan</a:t>
            </a:r>
            <a:r>
              <a:rPr sz="125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250" b="1" dirty="0" err="1">
                <a:solidFill>
                  <a:schemeClr val="bg1"/>
                </a:solidFill>
                <a:latin typeface="Calibri"/>
              </a:rPr>
              <a:t>sesuai</a:t>
            </a:r>
            <a:r>
              <a:rPr sz="125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250" b="1" dirty="0" err="1">
                <a:solidFill>
                  <a:schemeClr val="bg1"/>
                </a:solidFill>
                <a:latin typeface="Calibri"/>
              </a:rPr>
              <a:t>hasil</a:t>
            </a:r>
            <a:r>
              <a:rPr sz="1250" b="1" dirty="0">
                <a:solidFill>
                  <a:schemeClr val="bg1"/>
                </a:solidFill>
                <a:latin typeface="Calibri"/>
              </a:rPr>
              <a:t> yang </a:t>
            </a:r>
            <a:r>
              <a:rPr sz="1250" b="1" dirty="0" err="1">
                <a:solidFill>
                  <a:schemeClr val="bg1"/>
                </a:solidFill>
                <a:latin typeface="Calibri"/>
              </a:rPr>
              <a:t>diharapkan</a:t>
            </a:r>
            <a:r>
              <a:rPr sz="1250" b="1" dirty="0">
                <a:solidFill>
                  <a:schemeClr val="bg1"/>
                </a:solidFill>
                <a:latin typeface="Calibri"/>
              </a:rPr>
              <a:t> — </a:t>
            </a:r>
            <a:r>
              <a:rPr sz="1250" b="1" dirty="0" err="1">
                <a:solidFill>
                  <a:schemeClr val="bg1"/>
                </a:solidFill>
                <a:latin typeface="Calibri"/>
              </a:rPr>
              <a:t>tingkat</a:t>
            </a:r>
            <a:r>
              <a:rPr sz="125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250" b="1" dirty="0" err="1">
                <a:solidFill>
                  <a:schemeClr val="bg1"/>
                </a:solidFill>
                <a:latin typeface="Calibri"/>
              </a:rPr>
              <a:t>keberhasilan</a:t>
            </a:r>
            <a:r>
              <a:rPr sz="1250" b="1" dirty="0">
                <a:solidFill>
                  <a:schemeClr val="bg1"/>
                </a:solidFill>
                <a:latin typeface="Calibri"/>
              </a:rPr>
              <a:t> 100%.</a:t>
            </a:r>
            <a:endParaRPr lang="en-US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960120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3000" b="1">
                <a:latin typeface="Calibri"/>
              </a:rPr>
              <a:t>Hasil Pengujian Beta</a:t>
            </a:r>
            <a:endParaRPr lang="en-US" sz="3000" dirty="0"/>
          </a:p>
        </p:txBody>
      </p:sp>
      <p:pic>
        <p:nvPicPr>
          <p:cNvPr id="4" name="Image 0" descr="/home/claude/work/assets/logo_ubi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20040"/>
            <a:ext cx="1170432" cy="3447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024128"/>
            <a:ext cx="2871216" cy="36576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411480" y="1024128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 dirty="0" err="1">
                <a:solidFill>
                  <a:schemeClr val="bg1"/>
                </a:solidFill>
                <a:latin typeface="Calibri"/>
              </a:rPr>
              <a:t>Kuesioner</a:t>
            </a:r>
            <a:r>
              <a:rPr sz="13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300" b="1" dirty="0" err="1">
                <a:solidFill>
                  <a:schemeClr val="bg1"/>
                </a:solidFill>
                <a:latin typeface="Calibri"/>
              </a:rPr>
              <a:t>Pengguna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8" name="Image 1" descr="/home/claude/work/assets/logo_biu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144768"/>
            <a:ext cx="566928" cy="685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1508760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sz="1320">
                <a:latin typeface="Calibri"/>
              </a:rPr>
              <a:t>Pengujian beta dilakukan kepada 10 guru SMK Bina Industri Cikarang menggunakan kuesioner skala Likert untuk menilai penerimaan dan kemudahan penggunaan sistem.</a:t>
            </a:r>
            <a:endParaRPr lang="en-US" sz="1320" dirty="0"/>
          </a:p>
        </p:txBody>
      </p:sp>
      <p:sp>
        <p:nvSpPr>
          <p:cNvPr id="10" name="Shape 6"/>
          <p:cNvSpPr/>
          <p:nvPr/>
        </p:nvSpPr>
        <p:spPr>
          <a:xfrm>
            <a:off x="411480" y="2880359"/>
            <a:ext cx="6583680" cy="3566159"/>
          </a:xfrm>
          <a:prstGeom prst="roundRect">
            <a:avLst>
              <a:gd name="adj" fmla="val 2254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7"/>
          <p:cNvSpPr/>
          <p:nvPr/>
        </p:nvSpPr>
        <p:spPr>
          <a:xfrm>
            <a:off x="576072" y="2734056"/>
            <a:ext cx="1673352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8"/>
          <p:cNvSpPr/>
          <p:nvPr/>
        </p:nvSpPr>
        <p:spPr>
          <a:xfrm>
            <a:off x="576072" y="2734056"/>
            <a:ext cx="167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50" b="1" dirty="0">
                <a:solidFill>
                  <a:schemeClr val="bg1"/>
                </a:solidFill>
                <a:latin typeface="Calibri"/>
              </a:rPr>
              <a:t>Hasil </a:t>
            </a:r>
            <a:r>
              <a:rPr sz="1150" b="1" dirty="0" err="1">
                <a:solidFill>
                  <a:schemeClr val="bg1"/>
                </a:solidFill>
                <a:latin typeface="Calibri"/>
              </a:rPr>
              <a:t>Pengujian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68580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latin typeface="Calibri"/>
              </a:rPr>
              <a:t>Responden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977640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300" b="1">
                <a:latin typeface="Calibri"/>
              </a:rPr>
              <a:t>10 guru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85800" y="38221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latin typeface="Calibri"/>
              </a:rPr>
              <a:t>Skor diperoleh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977640" y="38221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300" b="1">
                <a:latin typeface="Calibri"/>
              </a:rPr>
              <a:t>507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5800" y="444398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latin typeface="Calibri"/>
              </a:rPr>
              <a:t>Skor maksimal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977640" y="444398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300" b="1">
                <a:latin typeface="Calibri"/>
              </a:rPr>
              <a:t>600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85800" y="50657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latin typeface="Calibri"/>
              </a:rPr>
              <a:t>Persentase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977640" y="506577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300" b="1">
                <a:latin typeface="Calibri"/>
              </a:rPr>
              <a:t>84,50%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818120" y="1874520"/>
            <a:ext cx="3566160" cy="3566160"/>
          </a:xfrm>
          <a:prstGeom prst="ellipse">
            <a:avLst/>
          </a:prstGeom>
          <a:solidFill>
            <a:srgbClr val="F3FAF4"/>
          </a:solidFill>
          <a:ln w="38100">
            <a:solidFill>
              <a:srgbClr val="0D934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18"/>
          <p:cNvSpPr/>
          <p:nvPr/>
        </p:nvSpPr>
        <p:spPr>
          <a:xfrm>
            <a:off x="7818120" y="24688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600" b="1">
                <a:latin typeface="Calibri"/>
              </a:rPr>
              <a:t>84,50%</a:t>
            </a:r>
            <a:endParaRPr lang="en-US" sz="4600" dirty="0"/>
          </a:p>
        </p:txBody>
      </p:sp>
      <p:sp>
        <p:nvSpPr>
          <p:cNvPr id="23" name="Text 19"/>
          <p:cNvSpPr/>
          <p:nvPr/>
        </p:nvSpPr>
        <p:spPr>
          <a:xfrm>
            <a:off x="8001000" y="35204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250" b="1">
                <a:latin typeface="Calibri"/>
              </a:rPr>
              <a:t>Hasil Kuesioner Pengguna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00100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sz="1150">
                <a:latin typeface="Calibri"/>
              </a:rPr>
              <a:t>Kategori: Sangat Baik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11480" y="5623560"/>
            <a:ext cx="63210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sz="1400" dirty="0">
                <a:latin typeface="Calibri"/>
              </a:rPr>
              <a:t>Hasil </a:t>
            </a:r>
            <a:r>
              <a:rPr sz="1400" dirty="0" err="1">
                <a:latin typeface="Calibri"/>
              </a:rPr>
              <a:t>menunjukkan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sistem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diterima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dengan</a:t>
            </a:r>
            <a:r>
              <a:rPr sz="1400" dirty="0">
                <a:latin typeface="Calibri"/>
              </a:rPr>
              <a:t> sangat </a:t>
            </a:r>
            <a:r>
              <a:rPr sz="1400" dirty="0" err="1">
                <a:latin typeface="Calibri"/>
              </a:rPr>
              <a:t>baik</a:t>
            </a:r>
            <a:r>
              <a:rPr sz="1400" dirty="0">
                <a:latin typeface="Calibri"/>
              </a:rPr>
              <a:t> dan </a:t>
            </a:r>
            <a:r>
              <a:rPr sz="1400" dirty="0" err="1">
                <a:latin typeface="Calibri"/>
              </a:rPr>
              <a:t>dinilai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membantu</a:t>
            </a:r>
            <a:r>
              <a:rPr sz="1400" dirty="0">
                <a:latin typeface="Calibri"/>
              </a:rPr>
              <a:t> proses </a:t>
            </a:r>
            <a:r>
              <a:rPr sz="1400" dirty="0" err="1">
                <a:latin typeface="Calibri"/>
              </a:rPr>
              <a:t>pemilihan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siswa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terbaik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dibandingkan</a:t>
            </a:r>
            <a:r>
              <a:rPr sz="1400" dirty="0">
                <a:latin typeface="Calibri"/>
              </a:rPr>
              <a:t> proses manual.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960120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3000" b="1">
                <a:latin typeface="Calibri"/>
              </a:rPr>
              <a:t>Simpulan</a:t>
            </a:r>
            <a:endParaRPr lang="en-US" sz="3000" dirty="0"/>
          </a:p>
        </p:txBody>
      </p:sp>
      <p:pic>
        <p:nvPicPr>
          <p:cNvPr id="4" name="Image 0" descr="/home/claude/work/assets/logo_ubi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20040"/>
            <a:ext cx="1170432" cy="3447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024128"/>
            <a:ext cx="2391156" cy="36576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411480" y="1024128"/>
            <a:ext cx="2391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 dirty="0" err="1">
                <a:solidFill>
                  <a:schemeClr val="bg1"/>
                </a:solidFill>
                <a:latin typeface="Calibri"/>
              </a:rPr>
              <a:t>Simpulan</a:t>
            </a:r>
            <a:r>
              <a:rPr sz="13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300" b="1" dirty="0" err="1">
                <a:solidFill>
                  <a:schemeClr val="bg1"/>
                </a:solidFill>
                <a:latin typeface="Calibri"/>
              </a:rPr>
              <a:t>Penelitian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8" name="Image 1" descr="/home/claude/work/assets/logo_biu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144768"/>
            <a:ext cx="566928" cy="685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1480" y="1691640"/>
            <a:ext cx="11338560" cy="1371600"/>
          </a:xfrm>
          <a:prstGeom prst="roundRect">
            <a:avLst>
              <a:gd name="adj" fmla="val 5333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6"/>
          <p:cNvSpPr/>
          <p:nvPr/>
        </p:nvSpPr>
        <p:spPr>
          <a:xfrm>
            <a:off x="640080" y="19476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7"/>
          <p:cNvSpPr/>
          <p:nvPr/>
        </p:nvSpPr>
        <p:spPr>
          <a:xfrm>
            <a:off x="640080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63040" y="181965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latin typeface="Calibri"/>
              </a:rPr>
              <a:t>Sistem berhasil dirancang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21945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30">
                <a:latin typeface="Calibri"/>
              </a:rPr>
              <a:t>Sistem Pendukung Keputusan pemilihan siswa terbaik berhasil dirancang dan dibangun berbasis web dengan model RAD, Next.js, TypeScript, dan PostgreSQL.</a:t>
            </a:r>
            <a:endParaRPr lang="en-US" sz="1230" dirty="0"/>
          </a:p>
        </p:txBody>
      </p:sp>
      <p:sp>
        <p:nvSpPr>
          <p:cNvPr id="14" name="Shape 10"/>
          <p:cNvSpPr/>
          <p:nvPr/>
        </p:nvSpPr>
        <p:spPr>
          <a:xfrm>
            <a:off x="411480" y="3264408"/>
            <a:ext cx="11338560" cy="1371600"/>
          </a:xfrm>
          <a:prstGeom prst="roundRect">
            <a:avLst>
              <a:gd name="adj" fmla="val 5333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1"/>
          <p:cNvSpPr/>
          <p:nvPr/>
        </p:nvSpPr>
        <p:spPr>
          <a:xfrm>
            <a:off x="640080" y="35204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Text 12"/>
          <p:cNvSpPr/>
          <p:nvPr/>
        </p:nvSpPr>
        <p:spPr>
          <a:xfrm>
            <a:off x="640080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463040" y="339242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latin typeface="Calibri"/>
              </a:rPr>
              <a:t>Metode Weighted Product berhasil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463040" y="3767328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30">
                <a:latin typeface="Calibri"/>
              </a:rPr>
              <a:t>Weighted Product berhasil diimplementasikan melalui normalisasi bobot, Vektor S, dan Vektor V untuk menghasilkan peringkat siswa secara otomatis.</a:t>
            </a:r>
            <a:endParaRPr lang="en-US" sz="1230" dirty="0"/>
          </a:p>
        </p:txBody>
      </p:sp>
      <p:sp>
        <p:nvSpPr>
          <p:cNvPr id="19" name="Shape 15"/>
          <p:cNvSpPr/>
          <p:nvPr/>
        </p:nvSpPr>
        <p:spPr>
          <a:xfrm>
            <a:off x="411480" y="4837176"/>
            <a:ext cx="11338560" cy="1371600"/>
          </a:xfrm>
          <a:prstGeom prst="roundRect">
            <a:avLst>
              <a:gd name="adj" fmla="val 5333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6"/>
          <p:cNvSpPr/>
          <p:nvPr/>
        </p:nvSpPr>
        <p:spPr>
          <a:xfrm>
            <a:off x="640080" y="509320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7"/>
          <p:cNvSpPr/>
          <p:nvPr/>
        </p:nvSpPr>
        <p:spPr>
          <a:xfrm>
            <a:off x="640080" y="5093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463040" y="49651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latin typeface="Calibri"/>
              </a:rPr>
              <a:t>Pengujian menunjukkan hasil positif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463040" y="5340096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sz="1230">
                <a:latin typeface="Calibri"/>
              </a:rPr>
              <a:t>Pengujian alfa terhadap 44 skenario menunjukkan 100% berhasil. Pengujian beta terhadap 10 guru menghasilkan 84,50% dengan kategori Sangat Baik.</a:t>
            </a:r>
            <a:endParaRPr lang="en-US" sz="12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960120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3000" b="1">
                <a:latin typeface="Calibri"/>
              </a:rPr>
              <a:t>Saran</a:t>
            </a:r>
            <a:endParaRPr lang="en-US" sz="3000" dirty="0"/>
          </a:p>
        </p:txBody>
      </p:sp>
      <p:pic>
        <p:nvPicPr>
          <p:cNvPr id="4" name="Image 0" descr="/home/claude/work/assets/logo_ubi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20040"/>
            <a:ext cx="1170432" cy="3447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024128"/>
            <a:ext cx="2967228" cy="36576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411480" y="1024128"/>
            <a:ext cx="2967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 dirty="0" err="1">
                <a:solidFill>
                  <a:schemeClr val="bg1"/>
                </a:solidFill>
                <a:latin typeface="Calibri"/>
              </a:rPr>
              <a:t>Rekomendasi</a:t>
            </a:r>
            <a:r>
              <a:rPr sz="13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300" b="1" dirty="0" err="1">
                <a:solidFill>
                  <a:schemeClr val="bg1"/>
                </a:solidFill>
                <a:latin typeface="Calibri"/>
              </a:rPr>
              <a:t>Tindak</a:t>
            </a:r>
            <a:r>
              <a:rPr sz="13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300" b="1" dirty="0" err="1">
                <a:solidFill>
                  <a:schemeClr val="bg1"/>
                </a:solidFill>
                <a:latin typeface="Calibri"/>
              </a:rPr>
              <a:t>Lanjut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8" name="Image 1" descr="/home/claude/work/assets/logo_biu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144768"/>
            <a:ext cx="566928" cy="685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1480" y="173736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6"/>
          <p:cNvSpPr/>
          <p:nvPr/>
        </p:nvSpPr>
        <p:spPr>
          <a:xfrm>
            <a:off x="1933956" y="20574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7"/>
          <p:cNvSpPr/>
          <p:nvPr/>
        </p:nvSpPr>
        <p:spPr>
          <a:xfrm>
            <a:off x="1933956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94360" y="2788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500" b="1">
                <a:latin typeface="Calibri"/>
              </a:rPr>
              <a:t>Bagi Sekolah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1520" y="333756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200">
                <a:latin typeface="Calibri"/>
              </a:rPr>
              <a:t>Sistem dapat digunakan sebagai alat bantu proses pemilihan siswa terbaik dan dikembangkan sesuai kebutuhan sekolah.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79392" y="173736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1"/>
          <p:cNvSpPr/>
          <p:nvPr/>
        </p:nvSpPr>
        <p:spPr>
          <a:xfrm>
            <a:off x="5801868" y="20574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Text 12"/>
          <p:cNvSpPr/>
          <p:nvPr/>
        </p:nvSpPr>
        <p:spPr>
          <a:xfrm>
            <a:off x="5801868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62272" y="2788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500" b="1">
                <a:latin typeface="Calibri"/>
              </a:rPr>
              <a:t>Bagi Pengembang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99432" y="333756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200">
                <a:latin typeface="Calibri"/>
              </a:rPr>
              <a:t>Sistem dapat dikembangkan dengan integrasi sistem akademik, otomatisasi pengambilan nilai, dan peningkatan fitur pelaporan.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47304" y="173736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F3FAF4"/>
          </a:solidFill>
          <a:ln w="12700">
            <a:solidFill>
              <a:srgbClr val="D5E8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6"/>
          <p:cNvSpPr/>
          <p:nvPr/>
        </p:nvSpPr>
        <p:spPr>
          <a:xfrm>
            <a:off x="9669780" y="20574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7"/>
          <p:cNvSpPr/>
          <p:nvPr/>
        </p:nvSpPr>
        <p:spPr>
          <a:xfrm>
            <a:off x="9669780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8330184" y="2788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500" b="1">
                <a:latin typeface="Calibri"/>
              </a:rPr>
              <a:t>Bagi Penelitian Lanjutan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467344" y="333756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200">
                <a:latin typeface="Calibri"/>
              </a:rPr>
              <a:t>Penelitian berikutnya dapat membandingkan Weighted Product dengan metode SPK lain atau menambahkan kriteria sesuai kebijakan sekolah.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0D9346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4" name="Image 0" descr="/home/claude/work/assets/logo_ubi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20040"/>
            <a:ext cx="1170432" cy="3447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46888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3600" b="1">
                <a:latin typeface="Calibri"/>
              </a:rPr>
              <a:t>TERIMA KASIH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5184648" y="3520440"/>
            <a:ext cx="1828800" cy="0"/>
          </a:xfrm>
          <a:prstGeom prst="line">
            <a:avLst/>
          </a:prstGeom>
          <a:noFill/>
          <a:ln w="38100">
            <a:solidFill>
              <a:srgbClr val="0D934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>
                <a:latin typeface="Calibri"/>
              </a:rPr>
              <a:t>Sesi Tanya Jawab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>
                <a:latin typeface="Calibri"/>
              </a:rPr>
              <a:t>Sistem Pendukung Keputusan Pemilihan Siswa Terbaik — Weighted Product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latin typeface="Calibri"/>
              </a:rPr>
              <a:t>Rama Pramudya Wibisana — Sistem Informasi — Universitas Bina Insani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1603</TotalTime>
  <Words>1490</Words>
  <Application>Microsoft Office PowerPoint</Application>
  <PresentationFormat>Widescreen</PresentationFormat>
  <Paragraphs>282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Rama Pramudya</cp:lastModifiedBy>
  <cp:revision>39</cp:revision>
  <dcterms:created xsi:type="dcterms:W3CDTF">2026-07-20T23:09:46Z</dcterms:created>
  <dcterms:modified xsi:type="dcterms:W3CDTF">2026-08-20T06:34:01Z</dcterms:modified>
</cp:coreProperties>
</file>
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6" r:id="rId7"/>
    <p:sldId id="267" r:id="rId8"/>
    <p:sldId id="268" r:id="rId9"/>
    <p:sldId id="269" r:id="rId10"/>
    <p:sldId id="270" r:id="rId11"/>
    <p:sldId id="265" r:id="rId12"/>
  </p:sldIdLst>
  <p:sldSz cx="18288000" cy="10287000"/>
  <p:notesSz cx="6858000" cy="9144000"/>
  <p:embeddedFontLst>
    <p:embeddedFont>
      <p:font typeface="Georgia Bold" panose="02040802050405020203" pitchFamily="18" charset="0"/>
      <p:regular r:id="rId13"/>
      <p:bold r:id="rId14"/>
    </p:embeddedFont>
    <p:embeddedFont>
      <p:font typeface="Poppins" panose="00000500000000000000" pitchFamily="2" charset="0"/>
      <p:regular r:id="rId15"/>
    </p:embeddedFont>
    <p:embeddedFont>
      <p:font typeface="Poppins Bold" panose="00000800000000000000" charset="0"/>
      <p:regular r:id="rId16"/>
    </p:embeddedFont>
    <p:embeddedFont>
      <p:font typeface="Rubik Medium" panose="020B0604020202020204" charset="-79"/>
      <p:regular r:id="rId17"/>
    </p:embeddedFont>
    <p:embeddedFont>
      <p:font typeface="Rubik Medium Bold" panose="020B0604020202020204" charset="-79"/>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15.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17.png"/><Relationship Id="rId10" Type="http://schemas.openxmlformats.org/officeDocument/2006/relationships/image" Target="../media/image9.png"/><Relationship Id="rId4" Type="http://schemas.openxmlformats.org/officeDocument/2006/relationships/image" Target="../media/image16.sv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8.sv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8.sv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24.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19.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18.sv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grpSp>
        <p:nvGrpSpPr>
          <p:cNvPr id="2" name="Group 2"/>
          <p:cNvGrpSpPr/>
          <p:nvPr/>
        </p:nvGrpSpPr>
        <p:grpSpPr>
          <a:xfrm>
            <a:off x="-699041" y="-477824"/>
            <a:ext cx="1834360" cy="18343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p:cNvSpPr/>
          <p:nvPr/>
        </p:nvSpPr>
        <p:spPr>
          <a:xfrm>
            <a:off x="14486828" y="8416772"/>
            <a:ext cx="2208245" cy="794968"/>
          </a:xfrm>
          <a:custGeom>
            <a:avLst/>
            <a:gdLst/>
            <a:ahLst/>
            <a:cxnLst/>
            <a:rect l="l" t="t" r="r" b="b"/>
            <a:pathLst>
              <a:path w="2208245" h="794968">
                <a:moveTo>
                  <a:pt x="0" y="0"/>
                </a:moveTo>
                <a:lnTo>
                  <a:pt x="2208244" y="0"/>
                </a:lnTo>
                <a:lnTo>
                  <a:pt x="2208244" y="794968"/>
                </a:lnTo>
                <a:lnTo>
                  <a:pt x="0" y="79496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6" name="Freeform 6"/>
          <p:cNvSpPr/>
          <p:nvPr/>
        </p:nvSpPr>
        <p:spPr>
          <a:xfrm flipV="1">
            <a:off x="15470128" y="484003"/>
            <a:ext cx="4986229" cy="4109224"/>
          </a:xfrm>
          <a:custGeom>
            <a:avLst/>
            <a:gdLst/>
            <a:ahLst/>
            <a:cxnLst/>
            <a:rect l="l" t="t" r="r" b="b"/>
            <a:pathLst>
              <a:path w="4986229" h="4109224">
                <a:moveTo>
                  <a:pt x="0" y="4109224"/>
                </a:moveTo>
                <a:lnTo>
                  <a:pt x="4986229" y="4109224"/>
                </a:lnTo>
                <a:lnTo>
                  <a:pt x="4986229" y="0"/>
                </a:lnTo>
                <a:lnTo>
                  <a:pt x="0" y="0"/>
                </a:lnTo>
                <a:lnTo>
                  <a:pt x="0" y="410922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7" name="Freeform 7"/>
          <p:cNvSpPr/>
          <p:nvPr/>
        </p:nvSpPr>
        <p:spPr>
          <a:xfrm flipH="1">
            <a:off x="-2168357" y="5693773"/>
            <a:ext cx="4986229" cy="4109224"/>
          </a:xfrm>
          <a:custGeom>
            <a:avLst/>
            <a:gdLst/>
            <a:ahLst/>
            <a:cxnLst/>
            <a:rect l="l" t="t" r="r" b="b"/>
            <a:pathLst>
              <a:path w="4986229" h="4109224">
                <a:moveTo>
                  <a:pt x="4986229" y="0"/>
                </a:moveTo>
                <a:lnTo>
                  <a:pt x="0" y="0"/>
                </a:lnTo>
                <a:lnTo>
                  <a:pt x="0" y="4109224"/>
                </a:lnTo>
                <a:lnTo>
                  <a:pt x="4986229" y="4109224"/>
                </a:lnTo>
                <a:lnTo>
                  <a:pt x="498622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8" name="Freeform 8"/>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sp>
        <p:nvSpPr>
          <p:cNvPr id="9" name="TextBox 9"/>
          <p:cNvSpPr txBox="1"/>
          <p:nvPr/>
        </p:nvSpPr>
        <p:spPr>
          <a:xfrm>
            <a:off x="2226870" y="2816091"/>
            <a:ext cx="13255595" cy="2657907"/>
          </a:xfrm>
          <a:prstGeom prst="rect">
            <a:avLst/>
          </a:prstGeom>
        </p:spPr>
        <p:txBody>
          <a:bodyPr wrap="square" lIns="0" tIns="0" rIns="0" bIns="0" rtlCol="0" anchor="t">
            <a:spAutoFit/>
          </a:bodyPr>
          <a:lstStyle/>
          <a:p>
            <a:pPr algn="ctr">
              <a:lnSpc>
                <a:spcPct val="150000"/>
              </a:lnSpc>
            </a:pPr>
            <a:r>
              <a:rPr lang="en-US" sz="4000" b="1" dirty="0">
                <a:solidFill>
                  <a:srgbClr val="28224D"/>
                </a:solidFill>
                <a:latin typeface="Georgia Bold"/>
                <a:ea typeface="Georgia Bold"/>
                <a:cs typeface="Georgia Bold"/>
                <a:sym typeface="Georgia Bold"/>
              </a:rPr>
              <a:t>DECISION SUPPORT SYSTEM FOR RANKING BEST STUDENTS USING WEIGHTED PRODUCT AT SMK BINA INDUSTRI CIKARANG</a:t>
            </a:r>
          </a:p>
        </p:txBody>
      </p:sp>
      <p:grpSp>
        <p:nvGrpSpPr>
          <p:cNvPr id="10" name="Group 10"/>
          <p:cNvGrpSpPr/>
          <p:nvPr/>
        </p:nvGrpSpPr>
        <p:grpSpPr>
          <a:xfrm>
            <a:off x="2119643" y="9165179"/>
            <a:ext cx="1275636" cy="127563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3" name="Group 13"/>
          <p:cNvGrpSpPr/>
          <p:nvPr/>
        </p:nvGrpSpPr>
        <p:grpSpPr>
          <a:xfrm>
            <a:off x="17152682" y="8930465"/>
            <a:ext cx="1834360" cy="183436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16" name="Freeform 16"/>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grpSp>
        <p:nvGrpSpPr>
          <p:cNvPr id="17" name="Group 17"/>
          <p:cNvGrpSpPr/>
          <p:nvPr/>
        </p:nvGrpSpPr>
        <p:grpSpPr>
          <a:xfrm>
            <a:off x="14892721" y="-153815"/>
            <a:ext cx="1275636" cy="127563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20" name="Freeform 20"/>
          <p:cNvSpPr/>
          <p:nvPr/>
        </p:nvSpPr>
        <p:spPr>
          <a:xfrm>
            <a:off x="4442107" y="1233584"/>
            <a:ext cx="9403786" cy="623001"/>
          </a:xfrm>
          <a:custGeom>
            <a:avLst/>
            <a:gdLst/>
            <a:ahLst/>
            <a:cxnLst/>
            <a:rect l="l" t="t" r="r" b="b"/>
            <a:pathLst>
              <a:path w="9403786" h="623001">
                <a:moveTo>
                  <a:pt x="0" y="0"/>
                </a:moveTo>
                <a:lnTo>
                  <a:pt x="9403786" y="0"/>
                </a:lnTo>
                <a:lnTo>
                  <a:pt x="9403786" y="623001"/>
                </a:lnTo>
                <a:lnTo>
                  <a:pt x="0" y="623001"/>
                </a:lnTo>
                <a:lnTo>
                  <a:pt x="0" y="0"/>
                </a:lnTo>
                <a:close/>
              </a:path>
            </a:pathLst>
          </a:custGeom>
          <a:blipFill>
            <a:blip r:embed="rId5"/>
            <a:stretch>
              <a:fillRect/>
            </a:stretch>
          </a:blipFill>
        </p:spPr>
        <p:txBody>
          <a:bodyPr/>
          <a:lstStyle/>
          <a:p>
            <a:endParaRPr lang="en-ID"/>
          </a:p>
        </p:txBody>
      </p:sp>
      <p:sp>
        <p:nvSpPr>
          <p:cNvPr id="21" name="TextBox 21"/>
          <p:cNvSpPr txBox="1"/>
          <p:nvPr/>
        </p:nvSpPr>
        <p:spPr>
          <a:xfrm>
            <a:off x="5177478" y="6110402"/>
            <a:ext cx="7354378" cy="2005549"/>
          </a:xfrm>
          <a:prstGeom prst="rect">
            <a:avLst/>
          </a:prstGeom>
        </p:spPr>
        <p:txBody>
          <a:bodyPr wrap="square" lIns="0" tIns="0" rIns="0" bIns="0" rtlCol="0" anchor="t">
            <a:spAutoFit/>
          </a:bodyPr>
          <a:lstStyle/>
          <a:p>
            <a:pPr algn="ctr">
              <a:lnSpc>
                <a:spcPts val="5320"/>
              </a:lnSpc>
            </a:pPr>
            <a:r>
              <a:rPr lang="en-US" sz="3800" dirty="0">
                <a:solidFill>
                  <a:srgbClr val="52067B"/>
                </a:solidFill>
                <a:latin typeface="Poppins"/>
                <a:ea typeface="Poppins"/>
                <a:cs typeface="Poppins"/>
                <a:sym typeface="Poppins"/>
              </a:rPr>
              <a:t>By Rama Pramudya </a:t>
            </a:r>
            <a:r>
              <a:rPr lang="en-US" sz="3800" dirty="0" err="1">
                <a:solidFill>
                  <a:srgbClr val="52067B"/>
                </a:solidFill>
                <a:latin typeface="Poppins"/>
                <a:ea typeface="Poppins"/>
                <a:cs typeface="Poppins"/>
                <a:sym typeface="Poppins"/>
              </a:rPr>
              <a:t>Wibisana</a:t>
            </a:r>
            <a:endParaRPr lang="en-US" sz="3800" dirty="0">
              <a:solidFill>
                <a:srgbClr val="52067B"/>
              </a:solidFill>
              <a:latin typeface="Poppins"/>
              <a:ea typeface="Poppins"/>
              <a:cs typeface="Poppins"/>
              <a:sym typeface="Poppins"/>
            </a:endParaRPr>
          </a:p>
          <a:p>
            <a:pPr algn="ctr">
              <a:lnSpc>
                <a:spcPts val="5320"/>
              </a:lnSpc>
            </a:pPr>
            <a:r>
              <a:rPr lang="en-US" sz="3800" dirty="0">
                <a:solidFill>
                  <a:srgbClr val="52067B"/>
                </a:solidFill>
                <a:latin typeface="Poppins"/>
                <a:ea typeface="Poppins"/>
                <a:cs typeface="Poppins"/>
                <a:sym typeface="Poppins"/>
              </a:rPr>
              <a:t>2022320019</a:t>
            </a:r>
          </a:p>
          <a:p>
            <a:pPr algn="ctr">
              <a:lnSpc>
                <a:spcPts val="5320"/>
              </a:lnSpc>
            </a:pPr>
            <a:r>
              <a:rPr lang="en-US" sz="3800" dirty="0">
                <a:solidFill>
                  <a:srgbClr val="52067B"/>
                </a:solidFill>
                <a:latin typeface="Poppins"/>
                <a:ea typeface="Poppins"/>
                <a:cs typeface="Poppins"/>
                <a:sym typeface="Poppins"/>
              </a:rPr>
              <a:t>SI22B</a:t>
            </a:r>
          </a:p>
        </p:txBody>
      </p:sp>
      <p:grpSp>
        <p:nvGrpSpPr>
          <p:cNvPr id="22" name="Group 22"/>
          <p:cNvGrpSpPr/>
          <p:nvPr/>
        </p:nvGrpSpPr>
        <p:grpSpPr>
          <a:xfrm>
            <a:off x="2251451" y="30686"/>
            <a:ext cx="12641271" cy="1145749"/>
            <a:chOff x="0" y="0"/>
            <a:chExt cx="16855028" cy="1527665"/>
          </a:xfrm>
        </p:grpSpPr>
        <p:sp>
          <p:nvSpPr>
            <p:cNvPr id="23" name="Freeform 23"/>
            <p:cNvSpPr/>
            <p:nvPr/>
          </p:nvSpPr>
          <p:spPr>
            <a:xfrm>
              <a:off x="6372025" y="217135"/>
              <a:ext cx="896019" cy="1093394"/>
            </a:xfrm>
            <a:custGeom>
              <a:avLst/>
              <a:gdLst/>
              <a:ahLst/>
              <a:cxnLst/>
              <a:rect l="l" t="t" r="r" b="b"/>
              <a:pathLst>
                <a:path w="896019" h="1093394">
                  <a:moveTo>
                    <a:pt x="0" y="0"/>
                  </a:moveTo>
                  <a:lnTo>
                    <a:pt x="896019" y="0"/>
                  </a:lnTo>
                  <a:lnTo>
                    <a:pt x="896019" y="1093394"/>
                  </a:lnTo>
                  <a:lnTo>
                    <a:pt x="0" y="1093394"/>
                  </a:lnTo>
                  <a:lnTo>
                    <a:pt x="0" y="0"/>
                  </a:lnTo>
                  <a:close/>
                </a:path>
              </a:pathLst>
            </a:custGeom>
            <a:blipFill>
              <a:blip r:embed="rId6"/>
              <a:stretch>
                <a:fillRect/>
              </a:stretch>
            </a:blipFill>
          </p:spPr>
          <p:txBody>
            <a:bodyPr/>
            <a:lstStyle/>
            <a:p>
              <a:endParaRPr lang="en-ID"/>
            </a:p>
          </p:txBody>
        </p:sp>
        <p:sp>
          <p:nvSpPr>
            <p:cNvPr id="24" name="Freeform 24"/>
            <p:cNvSpPr/>
            <p:nvPr/>
          </p:nvSpPr>
          <p:spPr>
            <a:xfrm>
              <a:off x="14189130" y="370612"/>
              <a:ext cx="2665898" cy="786440"/>
            </a:xfrm>
            <a:custGeom>
              <a:avLst/>
              <a:gdLst/>
              <a:ahLst/>
              <a:cxnLst/>
              <a:rect l="l" t="t" r="r" b="b"/>
              <a:pathLst>
                <a:path w="2665898" h="786440">
                  <a:moveTo>
                    <a:pt x="0" y="0"/>
                  </a:moveTo>
                  <a:lnTo>
                    <a:pt x="2665898" y="0"/>
                  </a:lnTo>
                  <a:lnTo>
                    <a:pt x="2665898" y="786440"/>
                  </a:lnTo>
                  <a:lnTo>
                    <a:pt x="0" y="786440"/>
                  </a:lnTo>
                  <a:lnTo>
                    <a:pt x="0" y="0"/>
                  </a:lnTo>
                  <a:close/>
                </a:path>
              </a:pathLst>
            </a:custGeom>
            <a:blipFill>
              <a:blip r:embed="rId7"/>
              <a:stretch>
                <a:fillRect/>
              </a:stretch>
            </a:blipFill>
          </p:spPr>
          <p:txBody>
            <a:bodyPr/>
            <a:lstStyle/>
            <a:p>
              <a:endParaRPr lang="en-ID"/>
            </a:p>
          </p:txBody>
        </p:sp>
        <p:sp>
          <p:nvSpPr>
            <p:cNvPr id="25" name="Freeform 25"/>
            <p:cNvSpPr/>
            <p:nvPr/>
          </p:nvSpPr>
          <p:spPr>
            <a:xfrm>
              <a:off x="5266885" y="211262"/>
              <a:ext cx="1105140" cy="1105140"/>
            </a:xfrm>
            <a:custGeom>
              <a:avLst/>
              <a:gdLst/>
              <a:ahLst/>
              <a:cxnLst/>
              <a:rect l="l" t="t" r="r" b="b"/>
              <a:pathLst>
                <a:path w="1105140" h="1105140">
                  <a:moveTo>
                    <a:pt x="0" y="0"/>
                  </a:moveTo>
                  <a:lnTo>
                    <a:pt x="1105140" y="0"/>
                  </a:lnTo>
                  <a:lnTo>
                    <a:pt x="1105140" y="1105140"/>
                  </a:lnTo>
                  <a:lnTo>
                    <a:pt x="0" y="1105140"/>
                  </a:lnTo>
                  <a:lnTo>
                    <a:pt x="0" y="0"/>
                  </a:lnTo>
                  <a:close/>
                </a:path>
              </a:pathLst>
            </a:custGeom>
            <a:blipFill>
              <a:blip r:embed="rId8"/>
              <a:stretch>
                <a:fillRect/>
              </a:stretch>
            </a:blipFill>
          </p:spPr>
          <p:txBody>
            <a:bodyPr/>
            <a:lstStyle/>
            <a:p>
              <a:endParaRPr lang="en-ID"/>
            </a:p>
          </p:txBody>
        </p:sp>
        <p:sp>
          <p:nvSpPr>
            <p:cNvPr id="26" name="Freeform 26"/>
            <p:cNvSpPr/>
            <p:nvPr/>
          </p:nvSpPr>
          <p:spPr>
            <a:xfrm>
              <a:off x="7394745" y="294590"/>
              <a:ext cx="3125396" cy="938485"/>
            </a:xfrm>
            <a:custGeom>
              <a:avLst/>
              <a:gdLst/>
              <a:ahLst/>
              <a:cxnLst/>
              <a:rect l="l" t="t" r="r" b="b"/>
              <a:pathLst>
                <a:path w="3125396" h="938485">
                  <a:moveTo>
                    <a:pt x="0" y="0"/>
                  </a:moveTo>
                  <a:lnTo>
                    <a:pt x="3125396" y="0"/>
                  </a:lnTo>
                  <a:lnTo>
                    <a:pt x="3125396" y="938485"/>
                  </a:lnTo>
                  <a:lnTo>
                    <a:pt x="0" y="938485"/>
                  </a:lnTo>
                  <a:lnTo>
                    <a:pt x="0" y="0"/>
                  </a:lnTo>
                  <a:close/>
                </a:path>
              </a:pathLst>
            </a:custGeom>
            <a:blipFill>
              <a:blip r:embed="rId9"/>
              <a:stretch>
                <a:fillRect t="-5771" b="-7179"/>
              </a:stretch>
            </a:blipFill>
          </p:spPr>
          <p:txBody>
            <a:bodyPr/>
            <a:lstStyle/>
            <a:p>
              <a:endParaRPr lang="en-ID"/>
            </a:p>
          </p:txBody>
        </p:sp>
        <p:sp>
          <p:nvSpPr>
            <p:cNvPr id="27" name="Freeform 27"/>
            <p:cNvSpPr/>
            <p:nvPr/>
          </p:nvSpPr>
          <p:spPr>
            <a:xfrm>
              <a:off x="10646842" y="240223"/>
              <a:ext cx="1074071" cy="1047220"/>
            </a:xfrm>
            <a:custGeom>
              <a:avLst/>
              <a:gdLst/>
              <a:ahLst/>
              <a:cxnLst/>
              <a:rect l="l" t="t" r="r" b="b"/>
              <a:pathLst>
                <a:path w="1074071" h="1047220">
                  <a:moveTo>
                    <a:pt x="0" y="0"/>
                  </a:moveTo>
                  <a:lnTo>
                    <a:pt x="1074071" y="0"/>
                  </a:lnTo>
                  <a:lnTo>
                    <a:pt x="1074071" y="1047219"/>
                  </a:lnTo>
                  <a:lnTo>
                    <a:pt x="0" y="1047219"/>
                  </a:lnTo>
                  <a:lnTo>
                    <a:pt x="0" y="0"/>
                  </a:lnTo>
                  <a:close/>
                </a:path>
              </a:pathLst>
            </a:custGeom>
            <a:blipFill>
              <a:blip r:embed="rId10"/>
              <a:stretch>
                <a:fillRect/>
              </a:stretch>
            </a:blipFill>
          </p:spPr>
          <p:txBody>
            <a:bodyPr/>
            <a:lstStyle/>
            <a:p>
              <a:endParaRPr lang="en-ID"/>
            </a:p>
          </p:txBody>
        </p:sp>
        <p:sp>
          <p:nvSpPr>
            <p:cNvPr id="28" name="Freeform 28"/>
            <p:cNvSpPr/>
            <p:nvPr/>
          </p:nvSpPr>
          <p:spPr>
            <a:xfrm>
              <a:off x="11847614" y="234736"/>
              <a:ext cx="801661" cy="1058193"/>
            </a:xfrm>
            <a:custGeom>
              <a:avLst/>
              <a:gdLst/>
              <a:ahLst/>
              <a:cxnLst/>
              <a:rect l="l" t="t" r="r" b="b"/>
              <a:pathLst>
                <a:path w="801661" h="1058193">
                  <a:moveTo>
                    <a:pt x="0" y="0"/>
                  </a:moveTo>
                  <a:lnTo>
                    <a:pt x="801661" y="0"/>
                  </a:lnTo>
                  <a:lnTo>
                    <a:pt x="801661" y="1058193"/>
                  </a:lnTo>
                  <a:lnTo>
                    <a:pt x="0" y="1058193"/>
                  </a:lnTo>
                  <a:lnTo>
                    <a:pt x="0" y="0"/>
                  </a:lnTo>
                  <a:close/>
                </a:path>
              </a:pathLst>
            </a:custGeom>
            <a:blipFill>
              <a:blip r:embed="rId11"/>
              <a:stretch>
                <a:fillRect/>
              </a:stretch>
            </a:blipFill>
          </p:spPr>
          <p:txBody>
            <a:bodyPr/>
            <a:lstStyle/>
            <a:p>
              <a:endParaRPr lang="en-ID"/>
            </a:p>
          </p:txBody>
        </p:sp>
        <p:sp>
          <p:nvSpPr>
            <p:cNvPr id="29" name="Freeform 29"/>
            <p:cNvSpPr/>
            <p:nvPr/>
          </p:nvSpPr>
          <p:spPr>
            <a:xfrm>
              <a:off x="12775976" y="139028"/>
              <a:ext cx="1248047" cy="1249609"/>
            </a:xfrm>
            <a:custGeom>
              <a:avLst/>
              <a:gdLst/>
              <a:ahLst/>
              <a:cxnLst/>
              <a:rect l="l" t="t" r="r" b="b"/>
              <a:pathLst>
                <a:path w="1248047" h="1249609">
                  <a:moveTo>
                    <a:pt x="0" y="0"/>
                  </a:moveTo>
                  <a:lnTo>
                    <a:pt x="1248047" y="0"/>
                  </a:lnTo>
                  <a:lnTo>
                    <a:pt x="1248047" y="1249609"/>
                  </a:lnTo>
                  <a:lnTo>
                    <a:pt x="0" y="1249609"/>
                  </a:lnTo>
                  <a:lnTo>
                    <a:pt x="0" y="0"/>
                  </a:lnTo>
                  <a:close/>
                </a:path>
              </a:pathLst>
            </a:custGeom>
            <a:blipFill>
              <a:blip r:embed="rId12"/>
              <a:stretch>
                <a:fillRect/>
              </a:stretch>
            </a:blipFill>
          </p:spPr>
          <p:txBody>
            <a:bodyPr/>
            <a:lstStyle/>
            <a:p>
              <a:endParaRPr lang="en-ID"/>
            </a:p>
          </p:txBody>
        </p:sp>
        <p:sp>
          <p:nvSpPr>
            <p:cNvPr id="30" name="Freeform 30"/>
            <p:cNvSpPr/>
            <p:nvPr/>
          </p:nvSpPr>
          <p:spPr>
            <a:xfrm>
              <a:off x="4302940" y="0"/>
              <a:ext cx="953294" cy="1527665"/>
            </a:xfrm>
            <a:custGeom>
              <a:avLst/>
              <a:gdLst/>
              <a:ahLst/>
              <a:cxnLst/>
              <a:rect l="l" t="t" r="r" b="b"/>
              <a:pathLst>
                <a:path w="953294" h="1527665">
                  <a:moveTo>
                    <a:pt x="0" y="0"/>
                  </a:moveTo>
                  <a:lnTo>
                    <a:pt x="953295" y="0"/>
                  </a:lnTo>
                  <a:lnTo>
                    <a:pt x="953295" y="1527665"/>
                  </a:lnTo>
                  <a:lnTo>
                    <a:pt x="0" y="1527665"/>
                  </a:lnTo>
                  <a:lnTo>
                    <a:pt x="0" y="0"/>
                  </a:lnTo>
                  <a:close/>
                </a:path>
              </a:pathLst>
            </a:custGeom>
            <a:blipFill>
              <a:blip r:embed="rId13"/>
              <a:stretch>
                <a:fillRect l="-123525" t="-4141" r="-123525" b="-4141"/>
              </a:stretch>
            </a:blipFill>
          </p:spPr>
          <p:txBody>
            <a:bodyPr/>
            <a:lstStyle/>
            <a:p>
              <a:endParaRPr lang="en-ID"/>
            </a:p>
          </p:txBody>
        </p:sp>
        <p:sp>
          <p:nvSpPr>
            <p:cNvPr id="31" name="Freeform 31"/>
            <p:cNvSpPr/>
            <p:nvPr/>
          </p:nvSpPr>
          <p:spPr>
            <a:xfrm>
              <a:off x="0" y="303854"/>
              <a:ext cx="919957" cy="919957"/>
            </a:xfrm>
            <a:custGeom>
              <a:avLst/>
              <a:gdLst/>
              <a:ahLst/>
              <a:cxnLst/>
              <a:rect l="l" t="t" r="r" b="b"/>
              <a:pathLst>
                <a:path w="919957" h="919957">
                  <a:moveTo>
                    <a:pt x="0" y="0"/>
                  </a:moveTo>
                  <a:lnTo>
                    <a:pt x="919957" y="0"/>
                  </a:lnTo>
                  <a:lnTo>
                    <a:pt x="919957" y="919957"/>
                  </a:lnTo>
                  <a:lnTo>
                    <a:pt x="0" y="919957"/>
                  </a:lnTo>
                  <a:lnTo>
                    <a:pt x="0" y="0"/>
                  </a:lnTo>
                  <a:close/>
                </a:path>
              </a:pathLst>
            </a:custGeom>
            <a:blipFill>
              <a:blip r:embed="rId14"/>
              <a:stretch>
                <a:fillRect/>
              </a:stretch>
            </a:blipFill>
          </p:spPr>
          <p:txBody>
            <a:bodyPr/>
            <a:lstStyle/>
            <a:p>
              <a:endParaRPr lang="en-ID"/>
            </a:p>
          </p:txBody>
        </p:sp>
        <p:sp>
          <p:nvSpPr>
            <p:cNvPr id="32" name="TextBox 32"/>
            <p:cNvSpPr txBox="1"/>
            <p:nvPr/>
          </p:nvSpPr>
          <p:spPr>
            <a:xfrm>
              <a:off x="1049687" y="442036"/>
              <a:ext cx="3066435" cy="648027"/>
            </a:xfrm>
            <a:prstGeom prst="rect">
              <a:avLst/>
            </a:prstGeom>
          </p:spPr>
          <p:txBody>
            <a:bodyPr lIns="0" tIns="0" rIns="0" bIns="0" rtlCol="0" anchor="t">
              <a:spAutoFit/>
            </a:bodyPr>
            <a:lstStyle/>
            <a:p>
              <a:pPr algn="l">
                <a:lnSpc>
                  <a:spcPts val="1368"/>
                </a:lnSpc>
              </a:pPr>
              <a:r>
                <a:rPr lang="en-US" sz="977" b="1">
                  <a:solidFill>
                    <a:srgbClr val="000000"/>
                  </a:solidFill>
                  <a:latin typeface="Rubik Medium Bold"/>
                  <a:ea typeface="Rubik Medium Bold"/>
                  <a:cs typeface="Rubik Medium Bold"/>
                  <a:sym typeface="Rubik Medium Bold"/>
                </a:rPr>
                <a:t>KEMENTERIAN  PENDIDIKAN TINGGI,</a:t>
              </a:r>
            </a:p>
            <a:p>
              <a:pPr algn="l">
                <a:lnSpc>
                  <a:spcPts val="1368"/>
                </a:lnSpc>
              </a:pPr>
              <a:r>
                <a:rPr lang="en-US" sz="977" b="1">
                  <a:solidFill>
                    <a:srgbClr val="000000"/>
                  </a:solidFill>
                  <a:latin typeface="Rubik Medium Bold"/>
                  <a:ea typeface="Rubik Medium Bold"/>
                  <a:cs typeface="Rubik Medium Bold"/>
                  <a:sym typeface="Rubik Medium Bold"/>
                </a:rPr>
                <a:t>SAINS, DAN TEKNOLOGI</a:t>
              </a:r>
            </a:p>
            <a:p>
              <a:pPr algn="l">
                <a:lnSpc>
                  <a:spcPts val="1368"/>
                </a:lnSpc>
                <a:spcBef>
                  <a:spcPct val="0"/>
                </a:spcBef>
              </a:pPr>
              <a:r>
                <a:rPr lang="en-US" sz="977">
                  <a:solidFill>
                    <a:srgbClr val="000000"/>
                  </a:solidFill>
                  <a:latin typeface="Rubik Medium"/>
                  <a:ea typeface="Rubik Medium"/>
                  <a:cs typeface="Rubik Medium"/>
                  <a:sym typeface="Rubik Medium"/>
                </a:rPr>
                <a:t>REPUBLIK INDONESIA</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sp>
        <p:nvSpPr>
          <p:cNvPr id="2" name="Freeform 2"/>
          <p:cNvSpPr/>
          <p:nvPr/>
        </p:nvSpPr>
        <p:spPr>
          <a:xfrm rot="5400000">
            <a:off x="55650" y="1750255"/>
            <a:ext cx="2090873" cy="752714"/>
          </a:xfrm>
          <a:custGeom>
            <a:avLst/>
            <a:gdLst/>
            <a:ahLst/>
            <a:cxnLst/>
            <a:rect l="l" t="t" r="r" b="b"/>
            <a:pathLst>
              <a:path w="2090873" h="752714">
                <a:moveTo>
                  <a:pt x="0" y="0"/>
                </a:moveTo>
                <a:lnTo>
                  <a:pt x="2090873" y="0"/>
                </a:lnTo>
                <a:lnTo>
                  <a:pt x="2090873" y="752715"/>
                </a:lnTo>
                <a:lnTo>
                  <a:pt x="0" y="75271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3" name="Freeform 3"/>
          <p:cNvSpPr/>
          <p:nvPr/>
        </p:nvSpPr>
        <p:spPr>
          <a:xfrm flipV="1">
            <a:off x="-516180" y="-472138"/>
            <a:ext cx="3234532" cy="1617867"/>
          </a:xfrm>
          <a:custGeom>
            <a:avLst/>
            <a:gdLst/>
            <a:ahLst/>
            <a:cxnLst/>
            <a:rect l="l" t="t" r="r" b="b"/>
            <a:pathLst>
              <a:path w="3234532" h="1617867">
                <a:moveTo>
                  <a:pt x="0" y="1617867"/>
                </a:moveTo>
                <a:lnTo>
                  <a:pt x="3234533" y="1617867"/>
                </a:lnTo>
                <a:lnTo>
                  <a:pt x="3234533" y="0"/>
                </a:lnTo>
                <a:lnTo>
                  <a:pt x="0" y="0"/>
                </a:lnTo>
                <a:lnTo>
                  <a:pt x="0" y="1617867"/>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4" name="Freeform 4"/>
          <p:cNvSpPr/>
          <p:nvPr/>
        </p:nvSpPr>
        <p:spPr>
          <a:xfrm rot="5400000">
            <a:off x="16141477" y="7784030"/>
            <a:ext cx="2090873" cy="752714"/>
          </a:xfrm>
          <a:custGeom>
            <a:avLst/>
            <a:gdLst/>
            <a:ahLst/>
            <a:cxnLst/>
            <a:rect l="l" t="t" r="r" b="b"/>
            <a:pathLst>
              <a:path w="2090873" h="752714">
                <a:moveTo>
                  <a:pt x="0" y="0"/>
                </a:moveTo>
                <a:lnTo>
                  <a:pt x="2090873" y="0"/>
                </a:lnTo>
                <a:lnTo>
                  <a:pt x="2090873" y="752715"/>
                </a:lnTo>
                <a:lnTo>
                  <a:pt x="0" y="75271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5" name="Freeform 5"/>
          <p:cNvSpPr/>
          <p:nvPr/>
        </p:nvSpPr>
        <p:spPr>
          <a:xfrm>
            <a:off x="377791" y="2761614"/>
            <a:ext cx="2019920" cy="1551398"/>
          </a:xfrm>
          <a:custGeom>
            <a:avLst/>
            <a:gdLst/>
            <a:ahLst/>
            <a:cxnLst/>
            <a:rect l="l" t="t" r="r" b="b"/>
            <a:pathLst>
              <a:path w="2019920" h="1551398">
                <a:moveTo>
                  <a:pt x="0" y="0"/>
                </a:moveTo>
                <a:lnTo>
                  <a:pt x="2019920" y="0"/>
                </a:lnTo>
                <a:lnTo>
                  <a:pt x="2019920" y="1551398"/>
                </a:lnTo>
                <a:lnTo>
                  <a:pt x="0" y="15513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sp>
        <p:nvSpPr>
          <p:cNvPr id="6" name="Freeform 6"/>
          <p:cNvSpPr/>
          <p:nvPr/>
        </p:nvSpPr>
        <p:spPr>
          <a:xfrm flipH="1">
            <a:off x="15890289" y="5973988"/>
            <a:ext cx="2019920" cy="1551398"/>
          </a:xfrm>
          <a:custGeom>
            <a:avLst/>
            <a:gdLst/>
            <a:ahLst/>
            <a:cxnLst/>
            <a:rect l="l" t="t" r="r" b="b"/>
            <a:pathLst>
              <a:path w="2019920" h="1551398">
                <a:moveTo>
                  <a:pt x="2019920" y="0"/>
                </a:moveTo>
                <a:lnTo>
                  <a:pt x="0" y="0"/>
                </a:lnTo>
                <a:lnTo>
                  <a:pt x="0" y="1551398"/>
                </a:lnTo>
                <a:lnTo>
                  <a:pt x="2019920" y="1551398"/>
                </a:lnTo>
                <a:lnTo>
                  <a:pt x="201992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sp>
        <p:nvSpPr>
          <p:cNvPr id="7" name="Freeform 7"/>
          <p:cNvSpPr/>
          <p:nvPr/>
        </p:nvSpPr>
        <p:spPr>
          <a:xfrm>
            <a:off x="15569647" y="9141271"/>
            <a:ext cx="3234532" cy="1617867"/>
          </a:xfrm>
          <a:custGeom>
            <a:avLst/>
            <a:gdLst/>
            <a:ahLst/>
            <a:cxnLst/>
            <a:rect l="l" t="t" r="r" b="b"/>
            <a:pathLst>
              <a:path w="3234532" h="1617867">
                <a:moveTo>
                  <a:pt x="0" y="0"/>
                </a:moveTo>
                <a:lnTo>
                  <a:pt x="3234533" y="0"/>
                </a:lnTo>
                <a:lnTo>
                  <a:pt x="3234533" y="1617867"/>
                </a:lnTo>
                <a:lnTo>
                  <a:pt x="0" y="16178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8" name="TextBox 8"/>
          <p:cNvSpPr txBox="1"/>
          <p:nvPr/>
        </p:nvSpPr>
        <p:spPr>
          <a:xfrm>
            <a:off x="3851592" y="3627323"/>
            <a:ext cx="10584815" cy="4100353"/>
          </a:xfrm>
          <a:prstGeom prst="rect">
            <a:avLst/>
          </a:prstGeom>
        </p:spPr>
        <p:txBody>
          <a:bodyPr lIns="0" tIns="0" rIns="0" bIns="0" rtlCol="0" anchor="t">
            <a:spAutoFit/>
          </a:bodyPr>
          <a:lstStyle/>
          <a:p>
            <a:pPr algn="ctr">
              <a:lnSpc>
                <a:spcPts val="4620"/>
              </a:lnSpc>
            </a:pPr>
            <a:r>
              <a:rPr lang="en-US" sz="3300" dirty="0">
                <a:solidFill>
                  <a:srgbClr val="52067B"/>
                </a:solidFill>
                <a:latin typeface="Poppins"/>
                <a:ea typeface="Poppins"/>
                <a:cs typeface="Poppins"/>
                <a:sym typeface="Poppins"/>
              </a:rPr>
              <a:t>This research discusses the design and development of a web-based decision support system to assist the process of selecting the best student at SMK Bina Industri </a:t>
            </a:r>
            <a:r>
              <a:rPr lang="en-US" sz="3300" dirty="0" err="1">
                <a:solidFill>
                  <a:srgbClr val="52067B"/>
                </a:solidFill>
                <a:latin typeface="Poppins"/>
                <a:ea typeface="Poppins"/>
                <a:cs typeface="Poppins"/>
                <a:sym typeface="Poppins"/>
              </a:rPr>
              <a:t>Cikarang</a:t>
            </a:r>
            <a:r>
              <a:rPr lang="en-US" sz="3300" dirty="0">
                <a:solidFill>
                  <a:srgbClr val="52067B"/>
                </a:solidFill>
                <a:latin typeface="Poppins"/>
                <a:ea typeface="Poppins"/>
                <a:cs typeface="Poppins"/>
                <a:sym typeface="Poppins"/>
              </a:rPr>
              <a:t>. The system applies the Weighted Product method to produce a more objective, measurable, and efficient student ranking process.</a:t>
            </a:r>
          </a:p>
        </p:txBody>
      </p:sp>
      <p:sp>
        <p:nvSpPr>
          <p:cNvPr id="9" name="TextBox 9"/>
          <p:cNvSpPr txBox="1"/>
          <p:nvPr/>
        </p:nvSpPr>
        <p:spPr>
          <a:xfrm>
            <a:off x="4542692" y="1828598"/>
            <a:ext cx="9202616" cy="1460501"/>
          </a:xfrm>
          <a:prstGeom prst="rect">
            <a:avLst/>
          </a:prstGeom>
        </p:spPr>
        <p:txBody>
          <a:bodyPr lIns="0" tIns="0" rIns="0" bIns="0" rtlCol="0" anchor="t">
            <a:spAutoFit/>
          </a:bodyPr>
          <a:lstStyle/>
          <a:p>
            <a:pPr algn="ctr">
              <a:lnSpc>
                <a:spcPts val="11899"/>
              </a:lnSpc>
            </a:pPr>
            <a:r>
              <a:rPr lang="en-US" sz="8499" b="1">
                <a:solidFill>
                  <a:srgbClr val="28224D"/>
                </a:solidFill>
                <a:latin typeface="Georgia Bold"/>
                <a:ea typeface="Georgia Bold"/>
                <a:cs typeface="Georgia Bold"/>
                <a:sym typeface="Georgia Bold"/>
              </a:rPr>
              <a:t>Introduction</a:t>
            </a:r>
          </a:p>
        </p:txBody>
      </p:sp>
      <p:sp>
        <p:nvSpPr>
          <p:cNvPr id="10" name="Freeform 10"/>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5">
              <a:alphaModFix amt="19999"/>
            </a:blip>
            <a:stretch>
              <a:fillRect/>
            </a:stretch>
          </a:blipFill>
        </p:spPr>
        <p:txBody>
          <a:bodyPr/>
          <a:lstStyle/>
          <a:p>
            <a:endParaRPr lang="en-ID"/>
          </a:p>
        </p:txBody>
      </p:sp>
      <p:grpSp>
        <p:nvGrpSpPr>
          <p:cNvPr id="11" name="Group 11"/>
          <p:cNvGrpSpPr/>
          <p:nvPr/>
        </p:nvGrpSpPr>
        <p:grpSpPr>
          <a:xfrm>
            <a:off x="8742144" y="346222"/>
            <a:ext cx="8821127" cy="799508"/>
            <a:chOff x="0" y="0"/>
            <a:chExt cx="11761503" cy="1066010"/>
          </a:xfrm>
        </p:grpSpPr>
        <p:sp>
          <p:nvSpPr>
            <p:cNvPr id="12" name="Freeform 12"/>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6">
                <a:alphaModFix amt="19999"/>
              </a:blip>
              <a:stretch>
                <a:fillRect/>
              </a:stretch>
            </a:blipFill>
          </p:spPr>
          <p:txBody>
            <a:bodyPr/>
            <a:lstStyle/>
            <a:p>
              <a:endParaRPr lang="en-ID"/>
            </a:p>
          </p:txBody>
        </p:sp>
        <p:sp>
          <p:nvSpPr>
            <p:cNvPr id="13" name="Freeform 13"/>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7">
                <a:alphaModFix amt="19999"/>
              </a:blip>
              <a:stretch>
                <a:fillRect/>
              </a:stretch>
            </a:blipFill>
          </p:spPr>
          <p:txBody>
            <a:bodyPr/>
            <a:lstStyle/>
            <a:p>
              <a:endParaRPr lang="en-ID"/>
            </a:p>
          </p:txBody>
        </p:sp>
        <p:sp>
          <p:nvSpPr>
            <p:cNvPr id="14" name="Freeform 14"/>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8">
                <a:alphaModFix amt="19999"/>
              </a:blip>
              <a:stretch>
                <a:fillRect/>
              </a:stretch>
            </a:blipFill>
          </p:spPr>
          <p:txBody>
            <a:bodyPr/>
            <a:lstStyle/>
            <a:p>
              <a:endParaRPr lang="en-ID"/>
            </a:p>
          </p:txBody>
        </p:sp>
        <p:sp>
          <p:nvSpPr>
            <p:cNvPr id="15" name="Freeform 15"/>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9">
                <a:alphaModFix amt="19999"/>
              </a:blip>
              <a:stretch>
                <a:fillRect t="-5771" b="-7179"/>
              </a:stretch>
            </a:blipFill>
          </p:spPr>
          <p:txBody>
            <a:bodyPr/>
            <a:lstStyle/>
            <a:p>
              <a:endParaRPr lang="en-ID"/>
            </a:p>
          </p:txBody>
        </p:sp>
        <p:sp>
          <p:nvSpPr>
            <p:cNvPr id="16" name="Freeform 16"/>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10">
                <a:alphaModFix amt="19999"/>
              </a:blip>
              <a:stretch>
                <a:fillRect/>
              </a:stretch>
            </a:blipFill>
          </p:spPr>
          <p:txBody>
            <a:bodyPr/>
            <a:lstStyle/>
            <a:p>
              <a:endParaRPr lang="en-ID"/>
            </a:p>
          </p:txBody>
        </p:sp>
        <p:sp>
          <p:nvSpPr>
            <p:cNvPr id="17" name="Freeform 17"/>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11">
                <a:alphaModFix amt="19999"/>
              </a:blip>
              <a:stretch>
                <a:fillRect/>
              </a:stretch>
            </a:blipFill>
          </p:spPr>
          <p:txBody>
            <a:bodyPr/>
            <a:lstStyle/>
            <a:p>
              <a:endParaRPr lang="en-ID"/>
            </a:p>
          </p:txBody>
        </p:sp>
        <p:sp>
          <p:nvSpPr>
            <p:cNvPr id="18" name="Freeform 18"/>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2">
                <a:alphaModFix amt="19999"/>
              </a:blip>
              <a:stretch>
                <a:fillRect/>
              </a:stretch>
            </a:blipFill>
          </p:spPr>
          <p:txBody>
            <a:bodyPr/>
            <a:lstStyle/>
            <a:p>
              <a:endParaRPr lang="en-ID"/>
            </a:p>
          </p:txBody>
        </p:sp>
        <p:sp>
          <p:nvSpPr>
            <p:cNvPr id="19" name="Freeform 19"/>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3">
                <a:alphaModFix amt="19999"/>
              </a:blip>
              <a:stretch>
                <a:fillRect l="-123525" t="-4141" r="-123525" b="-4141"/>
              </a:stretch>
            </a:blipFill>
          </p:spPr>
          <p:txBody>
            <a:bodyPr/>
            <a:lstStyle/>
            <a:p>
              <a:endParaRPr lang="en-ID"/>
            </a:p>
          </p:txBody>
        </p:sp>
        <p:sp>
          <p:nvSpPr>
            <p:cNvPr id="20" name="Freeform 20"/>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4">
                <a:alphaModFix amt="19999"/>
              </a:blip>
              <a:stretch>
                <a:fillRect/>
              </a:stretch>
            </a:blipFill>
          </p:spPr>
          <p:txBody>
            <a:bodyPr/>
            <a:lstStyle/>
            <a:p>
              <a:endParaRPr lang="en-ID"/>
            </a:p>
          </p:txBody>
        </p:sp>
        <p:sp>
          <p:nvSpPr>
            <p:cNvPr id="21" name="TextBox 21"/>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grpSp>
        <p:nvGrpSpPr>
          <p:cNvPr id="2" name="Group 2"/>
          <p:cNvGrpSpPr/>
          <p:nvPr/>
        </p:nvGrpSpPr>
        <p:grpSpPr>
          <a:xfrm>
            <a:off x="-699041" y="-477824"/>
            <a:ext cx="1834360" cy="18343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p:cNvGrpSpPr/>
          <p:nvPr/>
        </p:nvGrpSpPr>
        <p:grpSpPr>
          <a:xfrm>
            <a:off x="17152682" y="8930465"/>
            <a:ext cx="1834360" cy="18343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p:cNvSpPr txBox="1"/>
          <p:nvPr/>
        </p:nvSpPr>
        <p:spPr>
          <a:xfrm>
            <a:off x="4542692" y="1748240"/>
            <a:ext cx="9202616" cy="1460501"/>
          </a:xfrm>
          <a:prstGeom prst="rect">
            <a:avLst/>
          </a:prstGeom>
        </p:spPr>
        <p:txBody>
          <a:bodyPr lIns="0" tIns="0" rIns="0" bIns="0" rtlCol="0" anchor="t">
            <a:spAutoFit/>
          </a:bodyPr>
          <a:lstStyle/>
          <a:p>
            <a:pPr algn="ctr">
              <a:lnSpc>
                <a:spcPts val="11899"/>
              </a:lnSpc>
            </a:pPr>
            <a:r>
              <a:rPr lang="en-US" sz="8499" b="1">
                <a:solidFill>
                  <a:srgbClr val="28224D"/>
                </a:solidFill>
                <a:latin typeface="Georgia Bold"/>
                <a:ea typeface="Georgia Bold"/>
                <a:cs typeface="Georgia Bold"/>
                <a:sym typeface="Georgia Bold"/>
              </a:rPr>
              <a:t>Background</a:t>
            </a:r>
          </a:p>
        </p:txBody>
      </p:sp>
      <p:sp>
        <p:nvSpPr>
          <p:cNvPr id="11" name="TextBox 11"/>
          <p:cNvSpPr txBox="1"/>
          <p:nvPr/>
        </p:nvSpPr>
        <p:spPr>
          <a:xfrm>
            <a:off x="3230824" y="3564218"/>
            <a:ext cx="11826352" cy="5280163"/>
          </a:xfrm>
          <a:prstGeom prst="rect">
            <a:avLst/>
          </a:prstGeom>
        </p:spPr>
        <p:txBody>
          <a:bodyPr lIns="0" tIns="0" rIns="0" bIns="0" rtlCol="0" anchor="t">
            <a:spAutoFit/>
          </a:bodyPr>
          <a:lstStyle/>
          <a:p>
            <a:pPr algn="ctr">
              <a:lnSpc>
                <a:spcPts val="4620"/>
              </a:lnSpc>
            </a:pPr>
            <a:r>
              <a:rPr lang="en-US" sz="3300" dirty="0">
                <a:solidFill>
                  <a:srgbClr val="52067B"/>
                </a:solidFill>
                <a:latin typeface="Poppins"/>
                <a:ea typeface="Poppins"/>
                <a:cs typeface="Poppins"/>
                <a:sym typeface="Poppins"/>
              </a:rPr>
              <a:t>The current process of selecting the best student at SMK Bina Industri </a:t>
            </a:r>
            <a:r>
              <a:rPr lang="en-US" sz="3300" dirty="0" err="1">
                <a:solidFill>
                  <a:srgbClr val="52067B"/>
                </a:solidFill>
                <a:latin typeface="Poppins"/>
                <a:ea typeface="Poppins"/>
                <a:cs typeface="Poppins"/>
                <a:sym typeface="Poppins"/>
              </a:rPr>
              <a:t>Cikarang</a:t>
            </a:r>
            <a:r>
              <a:rPr lang="en-US" sz="3300" dirty="0">
                <a:solidFill>
                  <a:srgbClr val="52067B"/>
                </a:solidFill>
                <a:latin typeface="Poppins"/>
                <a:ea typeface="Poppins"/>
                <a:cs typeface="Poppins"/>
                <a:sym typeface="Poppins"/>
              </a:rPr>
              <a:t> is still conducted through teacher deliberation. This process may lead to subjective judgments because there is no standardized quantitative calculation. In addition, assessment data such as academic scores, attitude scores, organizational activity, and internship scores are still managed separately, making the recapitulation process slower and more vulnerable to errors.</a:t>
            </a:r>
          </a:p>
        </p:txBody>
      </p:sp>
      <p:sp>
        <p:nvSpPr>
          <p:cNvPr id="13" name="Freeform 13"/>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p:cNvGrpSpPr/>
          <p:nvPr/>
        </p:nvGrpSpPr>
        <p:grpSpPr>
          <a:xfrm>
            <a:off x="8742144" y="346222"/>
            <a:ext cx="8821127" cy="799508"/>
            <a:chOff x="0" y="0"/>
            <a:chExt cx="11761503" cy="1066010"/>
          </a:xfrm>
        </p:grpSpPr>
        <p:sp>
          <p:nvSpPr>
            <p:cNvPr id="15" name="Freeform 15"/>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sp>
        <p:nvSpPr>
          <p:cNvPr id="2" name="Freeform 2"/>
          <p:cNvSpPr/>
          <p:nvPr/>
        </p:nvSpPr>
        <p:spPr>
          <a:xfrm flipV="1">
            <a:off x="-2289066" y="-838545"/>
            <a:ext cx="4578132" cy="3772906"/>
          </a:xfrm>
          <a:custGeom>
            <a:avLst/>
            <a:gdLst/>
            <a:ahLst/>
            <a:cxnLst/>
            <a:rect l="l" t="t" r="r" b="b"/>
            <a:pathLst>
              <a:path w="4578132" h="3772906">
                <a:moveTo>
                  <a:pt x="0" y="3772906"/>
                </a:moveTo>
                <a:lnTo>
                  <a:pt x="4578132" y="3772906"/>
                </a:lnTo>
                <a:lnTo>
                  <a:pt x="4578132" y="0"/>
                </a:lnTo>
                <a:lnTo>
                  <a:pt x="0" y="0"/>
                </a:lnTo>
                <a:lnTo>
                  <a:pt x="0" y="3772906"/>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3" name="Freeform 3"/>
          <p:cNvSpPr/>
          <p:nvPr/>
        </p:nvSpPr>
        <p:spPr>
          <a:xfrm flipH="1">
            <a:off x="15998934" y="7352639"/>
            <a:ext cx="4578132" cy="3772906"/>
          </a:xfrm>
          <a:custGeom>
            <a:avLst/>
            <a:gdLst/>
            <a:ahLst/>
            <a:cxnLst/>
            <a:rect l="l" t="t" r="r" b="b"/>
            <a:pathLst>
              <a:path w="4578132" h="3772906">
                <a:moveTo>
                  <a:pt x="4578132" y="0"/>
                </a:moveTo>
                <a:lnTo>
                  <a:pt x="0" y="0"/>
                </a:lnTo>
                <a:lnTo>
                  <a:pt x="0" y="3772906"/>
                </a:lnTo>
                <a:lnTo>
                  <a:pt x="4578132" y="3772906"/>
                </a:lnTo>
                <a:lnTo>
                  <a:pt x="457813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4" name="Freeform 4"/>
          <p:cNvSpPr/>
          <p:nvPr/>
        </p:nvSpPr>
        <p:spPr>
          <a:xfrm flipV="1">
            <a:off x="-1149292" y="3043207"/>
            <a:ext cx="2026498" cy="1520254"/>
          </a:xfrm>
          <a:custGeom>
            <a:avLst/>
            <a:gdLst/>
            <a:ahLst/>
            <a:cxnLst/>
            <a:rect l="l" t="t" r="r" b="b"/>
            <a:pathLst>
              <a:path w="2026498" h="1520254">
                <a:moveTo>
                  <a:pt x="0" y="1520254"/>
                </a:moveTo>
                <a:lnTo>
                  <a:pt x="2026498" y="1520254"/>
                </a:lnTo>
                <a:lnTo>
                  <a:pt x="2026498" y="0"/>
                </a:lnTo>
                <a:lnTo>
                  <a:pt x="0" y="0"/>
                </a:lnTo>
                <a:lnTo>
                  <a:pt x="0" y="152025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5" name="Freeform 5"/>
          <p:cNvSpPr/>
          <p:nvPr/>
        </p:nvSpPr>
        <p:spPr>
          <a:xfrm>
            <a:off x="17410794" y="5723539"/>
            <a:ext cx="2026498" cy="1520254"/>
          </a:xfrm>
          <a:custGeom>
            <a:avLst/>
            <a:gdLst/>
            <a:ahLst/>
            <a:cxnLst/>
            <a:rect l="l" t="t" r="r" b="b"/>
            <a:pathLst>
              <a:path w="2026498" h="1520254">
                <a:moveTo>
                  <a:pt x="0" y="0"/>
                </a:moveTo>
                <a:lnTo>
                  <a:pt x="2026498" y="0"/>
                </a:lnTo>
                <a:lnTo>
                  <a:pt x="2026498" y="1520254"/>
                </a:lnTo>
                <a:lnTo>
                  <a:pt x="0" y="15202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6" name="TextBox 6"/>
          <p:cNvSpPr txBox="1"/>
          <p:nvPr/>
        </p:nvSpPr>
        <p:spPr>
          <a:xfrm>
            <a:off x="3035112" y="857250"/>
            <a:ext cx="12217776" cy="1460501"/>
          </a:xfrm>
          <a:prstGeom prst="rect">
            <a:avLst/>
          </a:prstGeom>
        </p:spPr>
        <p:txBody>
          <a:bodyPr lIns="0" tIns="0" rIns="0" bIns="0" rtlCol="0" anchor="t">
            <a:spAutoFit/>
          </a:bodyPr>
          <a:lstStyle/>
          <a:p>
            <a:pPr algn="ctr">
              <a:lnSpc>
                <a:spcPts val="11899"/>
              </a:lnSpc>
            </a:pPr>
            <a:r>
              <a:rPr lang="en-US" sz="8499" b="1">
                <a:solidFill>
                  <a:srgbClr val="28224D"/>
                </a:solidFill>
                <a:latin typeface="Georgia Bold"/>
                <a:ea typeface="Georgia Bold"/>
                <a:cs typeface="Georgia Bold"/>
                <a:sym typeface="Georgia Bold"/>
              </a:rPr>
              <a:t>Problem Statement</a:t>
            </a:r>
          </a:p>
        </p:txBody>
      </p:sp>
      <p:sp>
        <p:nvSpPr>
          <p:cNvPr id="7" name="TextBox 7"/>
          <p:cNvSpPr txBox="1"/>
          <p:nvPr/>
        </p:nvSpPr>
        <p:spPr>
          <a:xfrm>
            <a:off x="2716473" y="3396316"/>
            <a:ext cx="12855053" cy="1076320"/>
          </a:xfrm>
          <a:prstGeom prst="rect">
            <a:avLst/>
          </a:prstGeom>
        </p:spPr>
        <p:txBody>
          <a:bodyPr lIns="0" tIns="0" rIns="0" bIns="0" rtlCol="0" anchor="t">
            <a:spAutoFit/>
          </a:bodyPr>
          <a:lstStyle/>
          <a:p>
            <a:pPr algn="ctr">
              <a:lnSpc>
                <a:spcPts val="4340"/>
              </a:lnSpc>
            </a:pPr>
            <a:r>
              <a:rPr lang="en-US" sz="3100" dirty="0">
                <a:solidFill>
                  <a:srgbClr val="52067B"/>
                </a:solidFill>
                <a:latin typeface="Poppins"/>
                <a:ea typeface="Poppins"/>
                <a:cs typeface="Poppins"/>
                <a:sym typeface="Poppins"/>
              </a:rPr>
              <a:t>The best student selection process is still subjective because it relies on teacher deliberation.</a:t>
            </a:r>
          </a:p>
        </p:txBody>
      </p:sp>
      <p:grpSp>
        <p:nvGrpSpPr>
          <p:cNvPr id="8" name="Group 8"/>
          <p:cNvGrpSpPr/>
          <p:nvPr/>
        </p:nvGrpSpPr>
        <p:grpSpPr>
          <a:xfrm>
            <a:off x="8560776" y="2324100"/>
            <a:ext cx="1166447" cy="1069121"/>
            <a:chOff x="0" y="0"/>
            <a:chExt cx="886793" cy="812800"/>
          </a:xfrm>
        </p:grpSpPr>
        <p:sp>
          <p:nvSpPr>
            <p:cNvPr id="9" name="Freeform 9"/>
            <p:cNvSpPr/>
            <p:nvPr/>
          </p:nvSpPr>
          <p:spPr>
            <a:xfrm>
              <a:off x="0" y="0"/>
              <a:ext cx="886793" cy="812800"/>
            </a:xfrm>
            <a:custGeom>
              <a:avLst/>
              <a:gdLst/>
              <a:ahLst/>
              <a:cxnLst/>
              <a:rect l="l" t="t" r="r" b="b"/>
              <a:pathLst>
                <a:path w="886793" h="812800">
                  <a:moveTo>
                    <a:pt x="443396" y="0"/>
                  </a:moveTo>
                  <a:cubicBezTo>
                    <a:pt x="198515" y="0"/>
                    <a:pt x="0" y="181951"/>
                    <a:pt x="0" y="406400"/>
                  </a:cubicBezTo>
                  <a:cubicBezTo>
                    <a:pt x="0" y="630849"/>
                    <a:pt x="198515" y="812800"/>
                    <a:pt x="443396" y="812800"/>
                  </a:cubicBezTo>
                  <a:cubicBezTo>
                    <a:pt x="688277" y="812800"/>
                    <a:pt x="886793" y="630849"/>
                    <a:pt x="886793" y="406400"/>
                  </a:cubicBezTo>
                  <a:cubicBezTo>
                    <a:pt x="886793" y="181951"/>
                    <a:pt x="688277" y="0"/>
                    <a:pt x="443396" y="0"/>
                  </a:cubicBezTo>
                  <a:close/>
                </a:path>
              </a:pathLst>
            </a:custGeom>
            <a:solidFill>
              <a:srgbClr val="52067B"/>
            </a:solidFill>
          </p:spPr>
          <p:txBody>
            <a:bodyPr/>
            <a:lstStyle/>
            <a:p>
              <a:endParaRPr lang="en-ID"/>
            </a:p>
          </p:txBody>
        </p:sp>
        <p:sp>
          <p:nvSpPr>
            <p:cNvPr id="10" name="TextBox 10"/>
            <p:cNvSpPr txBox="1"/>
            <p:nvPr/>
          </p:nvSpPr>
          <p:spPr>
            <a:xfrm>
              <a:off x="83137" y="28575"/>
              <a:ext cx="720519" cy="708025"/>
            </a:xfrm>
            <a:prstGeom prst="rect">
              <a:avLst/>
            </a:prstGeom>
          </p:spPr>
          <p:txBody>
            <a:bodyPr lIns="50800" tIns="50800" rIns="50800" bIns="50800" rtlCol="0" anchor="ctr"/>
            <a:lstStyle/>
            <a:p>
              <a:pPr algn="ctr">
                <a:lnSpc>
                  <a:spcPts val="2239"/>
                </a:lnSpc>
              </a:pPr>
              <a:endParaRPr/>
            </a:p>
          </p:txBody>
        </p:sp>
      </p:grpSp>
      <p:sp>
        <p:nvSpPr>
          <p:cNvPr id="11" name="TextBox 11"/>
          <p:cNvSpPr txBox="1"/>
          <p:nvPr/>
        </p:nvSpPr>
        <p:spPr>
          <a:xfrm>
            <a:off x="8698338" y="2476747"/>
            <a:ext cx="891324" cy="634943"/>
          </a:xfrm>
          <a:prstGeom prst="rect">
            <a:avLst/>
          </a:prstGeom>
        </p:spPr>
        <p:txBody>
          <a:bodyPr lIns="0" tIns="0" rIns="0" bIns="0" rtlCol="0" anchor="t">
            <a:spAutoFit/>
          </a:bodyPr>
          <a:lstStyle/>
          <a:p>
            <a:pPr algn="ctr">
              <a:lnSpc>
                <a:spcPts val="4903"/>
              </a:lnSpc>
            </a:pPr>
            <a:r>
              <a:rPr lang="en-US" sz="3502" b="1">
                <a:solidFill>
                  <a:srgbClr val="F9F7FF"/>
                </a:solidFill>
                <a:latin typeface="Poppins Bold"/>
                <a:ea typeface="Poppins Bold"/>
                <a:cs typeface="Poppins Bold"/>
                <a:sym typeface="Poppins Bold"/>
              </a:rPr>
              <a:t>01.</a:t>
            </a:r>
          </a:p>
        </p:txBody>
      </p:sp>
      <p:sp>
        <p:nvSpPr>
          <p:cNvPr id="12" name="TextBox 12"/>
          <p:cNvSpPr txBox="1"/>
          <p:nvPr/>
        </p:nvSpPr>
        <p:spPr>
          <a:xfrm>
            <a:off x="2716473" y="5716975"/>
            <a:ext cx="12855053" cy="1076320"/>
          </a:xfrm>
          <a:prstGeom prst="rect">
            <a:avLst/>
          </a:prstGeom>
        </p:spPr>
        <p:txBody>
          <a:bodyPr lIns="0" tIns="0" rIns="0" bIns="0" rtlCol="0" anchor="t">
            <a:spAutoFit/>
          </a:bodyPr>
          <a:lstStyle/>
          <a:p>
            <a:pPr algn="ctr">
              <a:lnSpc>
                <a:spcPts val="4340"/>
              </a:lnSpc>
            </a:pPr>
            <a:r>
              <a:rPr lang="en-US" sz="3100" dirty="0">
                <a:solidFill>
                  <a:srgbClr val="52067B"/>
                </a:solidFill>
                <a:latin typeface="Poppins"/>
                <a:ea typeface="Poppins"/>
                <a:cs typeface="Poppins"/>
                <a:sym typeface="Poppins"/>
              </a:rPr>
              <a:t>Student assessment data is stored in separate documents, which slows down the data processing process.</a:t>
            </a:r>
          </a:p>
        </p:txBody>
      </p:sp>
      <p:grpSp>
        <p:nvGrpSpPr>
          <p:cNvPr id="13" name="Group 13"/>
          <p:cNvGrpSpPr/>
          <p:nvPr/>
        </p:nvGrpSpPr>
        <p:grpSpPr>
          <a:xfrm>
            <a:off x="8560776" y="4644759"/>
            <a:ext cx="1166447" cy="1069121"/>
            <a:chOff x="0" y="0"/>
            <a:chExt cx="886793" cy="812800"/>
          </a:xfrm>
        </p:grpSpPr>
        <p:sp>
          <p:nvSpPr>
            <p:cNvPr id="14" name="Freeform 14"/>
            <p:cNvSpPr/>
            <p:nvPr/>
          </p:nvSpPr>
          <p:spPr>
            <a:xfrm>
              <a:off x="0" y="0"/>
              <a:ext cx="886793" cy="812800"/>
            </a:xfrm>
            <a:custGeom>
              <a:avLst/>
              <a:gdLst/>
              <a:ahLst/>
              <a:cxnLst/>
              <a:rect l="l" t="t" r="r" b="b"/>
              <a:pathLst>
                <a:path w="886793" h="812800">
                  <a:moveTo>
                    <a:pt x="443396" y="0"/>
                  </a:moveTo>
                  <a:cubicBezTo>
                    <a:pt x="198515" y="0"/>
                    <a:pt x="0" y="181951"/>
                    <a:pt x="0" y="406400"/>
                  </a:cubicBezTo>
                  <a:cubicBezTo>
                    <a:pt x="0" y="630849"/>
                    <a:pt x="198515" y="812800"/>
                    <a:pt x="443396" y="812800"/>
                  </a:cubicBezTo>
                  <a:cubicBezTo>
                    <a:pt x="688277" y="812800"/>
                    <a:pt x="886793" y="630849"/>
                    <a:pt x="886793" y="406400"/>
                  </a:cubicBezTo>
                  <a:cubicBezTo>
                    <a:pt x="886793" y="181951"/>
                    <a:pt x="688277" y="0"/>
                    <a:pt x="443396" y="0"/>
                  </a:cubicBezTo>
                  <a:close/>
                </a:path>
              </a:pathLst>
            </a:custGeom>
            <a:solidFill>
              <a:srgbClr val="52067B"/>
            </a:solidFill>
          </p:spPr>
          <p:txBody>
            <a:bodyPr/>
            <a:lstStyle/>
            <a:p>
              <a:endParaRPr lang="en-ID"/>
            </a:p>
          </p:txBody>
        </p:sp>
        <p:sp>
          <p:nvSpPr>
            <p:cNvPr id="15" name="TextBox 15"/>
            <p:cNvSpPr txBox="1"/>
            <p:nvPr/>
          </p:nvSpPr>
          <p:spPr>
            <a:xfrm>
              <a:off x="83137" y="28575"/>
              <a:ext cx="720519" cy="708025"/>
            </a:xfrm>
            <a:prstGeom prst="rect">
              <a:avLst/>
            </a:prstGeom>
          </p:spPr>
          <p:txBody>
            <a:bodyPr lIns="50800" tIns="50800" rIns="50800" bIns="50800" rtlCol="0" anchor="ctr"/>
            <a:lstStyle/>
            <a:p>
              <a:pPr algn="ctr">
                <a:lnSpc>
                  <a:spcPts val="2239"/>
                </a:lnSpc>
              </a:pPr>
              <a:endParaRPr/>
            </a:p>
          </p:txBody>
        </p:sp>
      </p:grpSp>
      <p:sp>
        <p:nvSpPr>
          <p:cNvPr id="16" name="TextBox 16"/>
          <p:cNvSpPr txBox="1"/>
          <p:nvPr/>
        </p:nvSpPr>
        <p:spPr>
          <a:xfrm>
            <a:off x="8698338" y="4797406"/>
            <a:ext cx="891324" cy="634943"/>
          </a:xfrm>
          <a:prstGeom prst="rect">
            <a:avLst/>
          </a:prstGeom>
        </p:spPr>
        <p:txBody>
          <a:bodyPr lIns="0" tIns="0" rIns="0" bIns="0" rtlCol="0" anchor="t">
            <a:spAutoFit/>
          </a:bodyPr>
          <a:lstStyle/>
          <a:p>
            <a:pPr algn="ctr">
              <a:lnSpc>
                <a:spcPts val="4903"/>
              </a:lnSpc>
            </a:pPr>
            <a:r>
              <a:rPr lang="en-US" sz="3502" b="1" dirty="0">
                <a:solidFill>
                  <a:srgbClr val="F9F7FF"/>
                </a:solidFill>
                <a:latin typeface="Poppins Bold"/>
                <a:ea typeface="Poppins Bold"/>
                <a:cs typeface="Poppins Bold"/>
                <a:sym typeface="Poppins Bold"/>
              </a:rPr>
              <a:t>02.</a:t>
            </a:r>
          </a:p>
        </p:txBody>
      </p:sp>
      <p:sp>
        <p:nvSpPr>
          <p:cNvPr id="17" name="Freeform 17"/>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4">
              <a:alphaModFix amt="19999"/>
            </a:blip>
            <a:stretch>
              <a:fillRect/>
            </a:stretch>
          </a:blipFill>
        </p:spPr>
        <p:txBody>
          <a:bodyPr/>
          <a:lstStyle/>
          <a:p>
            <a:endParaRPr lang="en-ID"/>
          </a:p>
        </p:txBody>
      </p:sp>
      <p:grpSp>
        <p:nvGrpSpPr>
          <p:cNvPr id="18" name="Group 18"/>
          <p:cNvGrpSpPr/>
          <p:nvPr/>
        </p:nvGrpSpPr>
        <p:grpSpPr>
          <a:xfrm>
            <a:off x="8742144" y="346222"/>
            <a:ext cx="8821127" cy="799508"/>
            <a:chOff x="0" y="0"/>
            <a:chExt cx="11761503" cy="1066010"/>
          </a:xfrm>
        </p:grpSpPr>
        <p:sp>
          <p:nvSpPr>
            <p:cNvPr id="19" name="Freeform 19"/>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5">
                <a:alphaModFix amt="19999"/>
              </a:blip>
              <a:stretch>
                <a:fillRect/>
              </a:stretch>
            </a:blipFill>
          </p:spPr>
          <p:txBody>
            <a:bodyPr/>
            <a:lstStyle/>
            <a:p>
              <a:endParaRPr lang="en-ID"/>
            </a:p>
          </p:txBody>
        </p:sp>
        <p:sp>
          <p:nvSpPr>
            <p:cNvPr id="20" name="Freeform 20"/>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6">
                <a:alphaModFix amt="19999"/>
              </a:blip>
              <a:stretch>
                <a:fillRect/>
              </a:stretch>
            </a:blipFill>
          </p:spPr>
          <p:txBody>
            <a:bodyPr/>
            <a:lstStyle/>
            <a:p>
              <a:endParaRPr lang="en-ID"/>
            </a:p>
          </p:txBody>
        </p:sp>
        <p:sp>
          <p:nvSpPr>
            <p:cNvPr id="21" name="Freeform 21"/>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7">
                <a:alphaModFix amt="19999"/>
              </a:blip>
              <a:stretch>
                <a:fillRect/>
              </a:stretch>
            </a:blipFill>
          </p:spPr>
          <p:txBody>
            <a:bodyPr/>
            <a:lstStyle/>
            <a:p>
              <a:endParaRPr lang="en-ID"/>
            </a:p>
          </p:txBody>
        </p:sp>
        <p:sp>
          <p:nvSpPr>
            <p:cNvPr id="22" name="Freeform 22"/>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8">
                <a:alphaModFix amt="19999"/>
              </a:blip>
              <a:stretch>
                <a:fillRect t="-5771" b="-7179"/>
              </a:stretch>
            </a:blipFill>
          </p:spPr>
          <p:txBody>
            <a:bodyPr/>
            <a:lstStyle/>
            <a:p>
              <a:endParaRPr lang="en-ID"/>
            </a:p>
          </p:txBody>
        </p:sp>
        <p:sp>
          <p:nvSpPr>
            <p:cNvPr id="23" name="Freeform 23"/>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9">
                <a:alphaModFix amt="19999"/>
              </a:blip>
              <a:stretch>
                <a:fillRect/>
              </a:stretch>
            </a:blipFill>
          </p:spPr>
          <p:txBody>
            <a:bodyPr/>
            <a:lstStyle/>
            <a:p>
              <a:endParaRPr lang="en-ID"/>
            </a:p>
          </p:txBody>
        </p:sp>
        <p:sp>
          <p:nvSpPr>
            <p:cNvPr id="24" name="Freeform 24"/>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10">
                <a:alphaModFix amt="19999"/>
              </a:blip>
              <a:stretch>
                <a:fillRect/>
              </a:stretch>
            </a:blipFill>
          </p:spPr>
          <p:txBody>
            <a:bodyPr/>
            <a:lstStyle/>
            <a:p>
              <a:endParaRPr lang="en-ID"/>
            </a:p>
          </p:txBody>
        </p:sp>
        <p:sp>
          <p:nvSpPr>
            <p:cNvPr id="25" name="Freeform 25"/>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1">
                <a:alphaModFix amt="19999"/>
              </a:blip>
              <a:stretch>
                <a:fillRect/>
              </a:stretch>
            </a:blipFill>
          </p:spPr>
          <p:txBody>
            <a:bodyPr/>
            <a:lstStyle/>
            <a:p>
              <a:endParaRPr lang="en-ID"/>
            </a:p>
          </p:txBody>
        </p:sp>
        <p:sp>
          <p:nvSpPr>
            <p:cNvPr id="26" name="Freeform 26"/>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2">
                <a:alphaModFix amt="19999"/>
              </a:blip>
              <a:stretch>
                <a:fillRect l="-123525" t="-4141" r="-123525" b="-4141"/>
              </a:stretch>
            </a:blipFill>
          </p:spPr>
          <p:txBody>
            <a:bodyPr/>
            <a:lstStyle/>
            <a:p>
              <a:endParaRPr lang="en-ID"/>
            </a:p>
          </p:txBody>
        </p:sp>
        <p:sp>
          <p:nvSpPr>
            <p:cNvPr id="27" name="Freeform 27"/>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3">
                <a:alphaModFix amt="19999"/>
              </a:blip>
              <a:stretch>
                <a:fillRect/>
              </a:stretch>
            </a:blipFill>
          </p:spPr>
          <p:txBody>
            <a:bodyPr/>
            <a:lstStyle/>
            <a:p>
              <a:endParaRPr lang="en-ID"/>
            </a:p>
          </p:txBody>
        </p:sp>
        <p:sp>
          <p:nvSpPr>
            <p:cNvPr id="28" name="TextBox 28"/>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
        <p:nvSpPr>
          <p:cNvPr id="29" name="TextBox 12">
            <a:extLst>
              <a:ext uri="{FF2B5EF4-FFF2-40B4-BE49-F238E27FC236}">
                <a16:creationId xmlns:a16="http://schemas.microsoft.com/office/drawing/2014/main" id="{4749E588-EB3C-4981-5B02-F075899B9A69}"/>
              </a:ext>
            </a:extLst>
          </p:cNvPr>
          <p:cNvSpPr txBox="1"/>
          <p:nvPr/>
        </p:nvSpPr>
        <p:spPr>
          <a:xfrm>
            <a:off x="2716473" y="8096117"/>
            <a:ext cx="12855053" cy="1076320"/>
          </a:xfrm>
          <a:prstGeom prst="rect">
            <a:avLst/>
          </a:prstGeom>
        </p:spPr>
        <p:txBody>
          <a:bodyPr lIns="0" tIns="0" rIns="0" bIns="0" rtlCol="0" anchor="t">
            <a:spAutoFit/>
          </a:bodyPr>
          <a:lstStyle/>
          <a:p>
            <a:pPr algn="ctr">
              <a:lnSpc>
                <a:spcPts val="4340"/>
              </a:lnSpc>
            </a:pPr>
            <a:r>
              <a:rPr lang="en-US" sz="3100" dirty="0">
                <a:solidFill>
                  <a:srgbClr val="52067B"/>
                </a:solidFill>
                <a:latin typeface="Poppins"/>
                <a:ea typeface="Poppins"/>
                <a:cs typeface="Poppins"/>
                <a:sym typeface="Poppins"/>
              </a:rPr>
              <a:t>There is no system that automatically calculates criterion weights to generate accurate student rankings.</a:t>
            </a:r>
          </a:p>
        </p:txBody>
      </p:sp>
      <p:grpSp>
        <p:nvGrpSpPr>
          <p:cNvPr id="30" name="Group 13">
            <a:extLst>
              <a:ext uri="{FF2B5EF4-FFF2-40B4-BE49-F238E27FC236}">
                <a16:creationId xmlns:a16="http://schemas.microsoft.com/office/drawing/2014/main" id="{C277EEB4-B285-B660-79DF-85B5CFDEDDD7}"/>
              </a:ext>
            </a:extLst>
          </p:cNvPr>
          <p:cNvGrpSpPr/>
          <p:nvPr/>
        </p:nvGrpSpPr>
        <p:grpSpPr>
          <a:xfrm>
            <a:off x="8560776" y="7023901"/>
            <a:ext cx="1166447" cy="1069121"/>
            <a:chOff x="0" y="0"/>
            <a:chExt cx="886793" cy="812800"/>
          </a:xfrm>
        </p:grpSpPr>
        <p:sp>
          <p:nvSpPr>
            <p:cNvPr id="31" name="Freeform 14">
              <a:extLst>
                <a:ext uri="{FF2B5EF4-FFF2-40B4-BE49-F238E27FC236}">
                  <a16:creationId xmlns:a16="http://schemas.microsoft.com/office/drawing/2014/main" id="{0A8528F4-91E2-1FB5-EA85-DD6ECE198482}"/>
                </a:ext>
              </a:extLst>
            </p:cNvPr>
            <p:cNvSpPr/>
            <p:nvPr/>
          </p:nvSpPr>
          <p:spPr>
            <a:xfrm>
              <a:off x="0" y="0"/>
              <a:ext cx="886793" cy="812800"/>
            </a:xfrm>
            <a:custGeom>
              <a:avLst/>
              <a:gdLst/>
              <a:ahLst/>
              <a:cxnLst/>
              <a:rect l="l" t="t" r="r" b="b"/>
              <a:pathLst>
                <a:path w="886793" h="812800">
                  <a:moveTo>
                    <a:pt x="443396" y="0"/>
                  </a:moveTo>
                  <a:cubicBezTo>
                    <a:pt x="198515" y="0"/>
                    <a:pt x="0" y="181951"/>
                    <a:pt x="0" y="406400"/>
                  </a:cubicBezTo>
                  <a:cubicBezTo>
                    <a:pt x="0" y="630849"/>
                    <a:pt x="198515" y="812800"/>
                    <a:pt x="443396" y="812800"/>
                  </a:cubicBezTo>
                  <a:cubicBezTo>
                    <a:pt x="688277" y="812800"/>
                    <a:pt x="886793" y="630849"/>
                    <a:pt x="886793" y="406400"/>
                  </a:cubicBezTo>
                  <a:cubicBezTo>
                    <a:pt x="886793" y="181951"/>
                    <a:pt x="688277" y="0"/>
                    <a:pt x="443396" y="0"/>
                  </a:cubicBezTo>
                  <a:close/>
                </a:path>
              </a:pathLst>
            </a:custGeom>
            <a:solidFill>
              <a:srgbClr val="52067B"/>
            </a:solidFill>
          </p:spPr>
          <p:txBody>
            <a:bodyPr/>
            <a:lstStyle/>
            <a:p>
              <a:endParaRPr lang="en-ID"/>
            </a:p>
          </p:txBody>
        </p:sp>
        <p:sp>
          <p:nvSpPr>
            <p:cNvPr id="32" name="TextBox 15">
              <a:extLst>
                <a:ext uri="{FF2B5EF4-FFF2-40B4-BE49-F238E27FC236}">
                  <a16:creationId xmlns:a16="http://schemas.microsoft.com/office/drawing/2014/main" id="{7B23C57D-653B-79A0-EA9E-9A421CDB2648}"/>
                </a:ext>
              </a:extLst>
            </p:cNvPr>
            <p:cNvSpPr txBox="1"/>
            <p:nvPr/>
          </p:nvSpPr>
          <p:spPr>
            <a:xfrm>
              <a:off x="83137" y="28575"/>
              <a:ext cx="720519" cy="708025"/>
            </a:xfrm>
            <a:prstGeom prst="rect">
              <a:avLst/>
            </a:prstGeom>
          </p:spPr>
          <p:txBody>
            <a:bodyPr lIns="50800" tIns="50800" rIns="50800" bIns="50800" rtlCol="0" anchor="ctr"/>
            <a:lstStyle/>
            <a:p>
              <a:pPr algn="ctr">
                <a:lnSpc>
                  <a:spcPts val="2239"/>
                </a:lnSpc>
              </a:pPr>
              <a:endParaRPr/>
            </a:p>
          </p:txBody>
        </p:sp>
      </p:grpSp>
      <p:sp>
        <p:nvSpPr>
          <p:cNvPr id="33" name="TextBox 16">
            <a:extLst>
              <a:ext uri="{FF2B5EF4-FFF2-40B4-BE49-F238E27FC236}">
                <a16:creationId xmlns:a16="http://schemas.microsoft.com/office/drawing/2014/main" id="{427494D6-8C9B-1FFA-2BBC-52BEDC0F9A78}"/>
              </a:ext>
            </a:extLst>
          </p:cNvPr>
          <p:cNvSpPr txBox="1"/>
          <p:nvPr/>
        </p:nvSpPr>
        <p:spPr>
          <a:xfrm>
            <a:off x="8698338" y="7176548"/>
            <a:ext cx="891324" cy="597023"/>
          </a:xfrm>
          <a:prstGeom prst="rect">
            <a:avLst/>
          </a:prstGeom>
        </p:spPr>
        <p:txBody>
          <a:bodyPr lIns="0" tIns="0" rIns="0" bIns="0" rtlCol="0" anchor="t">
            <a:spAutoFit/>
          </a:bodyPr>
          <a:lstStyle/>
          <a:p>
            <a:pPr algn="ctr">
              <a:lnSpc>
                <a:spcPts val="4903"/>
              </a:lnSpc>
            </a:pPr>
            <a:r>
              <a:rPr lang="en-US" sz="3502" b="1">
                <a:solidFill>
                  <a:srgbClr val="F9F7FF"/>
                </a:solidFill>
                <a:latin typeface="Poppins Bold"/>
                <a:ea typeface="Poppins Bold"/>
                <a:cs typeface="Poppins Bold"/>
                <a:sym typeface="Poppins Bold"/>
              </a:rPr>
              <a:t>03.</a:t>
            </a:r>
            <a:endParaRPr lang="en-US" sz="3502" b="1" dirty="0">
              <a:solidFill>
                <a:srgbClr val="F9F7FF"/>
              </a:solidFill>
              <a:latin typeface="Poppins Bold"/>
              <a:ea typeface="Poppins Bold"/>
              <a:cs typeface="Poppins Bold"/>
              <a:sym typeface="Poppi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2707079" cy="653689"/>
          </a:xfrm>
          <a:custGeom>
            <a:avLst/>
            <a:gdLst/>
            <a:ahLst/>
            <a:cxnLst/>
            <a:rect l="l" t="t" r="r" b="b"/>
            <a:pathLst>
              <a:path w="2707079" h="653689">
                <a:moveTo>
                  <a:pt x="0" y="0"/>
                </a:moveTo>
                <a:lnTo>
                  <a:pt x="2707079" y="0"/>
                </a:lnTo>
                <a:lnTo>
                  <a:pt x="2707079" y="653689"/>
                </a:lnTo>
                <a:lnTo>
                  <a:pt x="0" y="65368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3" name="Freeform 3"/>
          <p:cNvSpPr/>
          <p:nvPr/>
        </p:nvSpPr>
        <p:spPr>
          <a:xfrm flipV="1">
            <a:off x="-628179" y="-627070"/>
            <a:ext cx="2207141" cy="1655770"/>
          </a:xfrm>
          <a:custGeom>
            <a:avLst/>
            <a:gdLst/>
            <a:ahLst/>
            <a:cxnLst/>
            <a:rect l="l" t="t" r="r" b="b"/>
            <a:pathLst>
              <a:path w="2207141" h="1655770">
                <a:moveTo>
                  <a:pt x="0" y="1655770"/>
                </a:moveTo>
                <a:lnTo>
                  <a:pt x="2207140" y="1655770"/>
                </a:lnTo>
                <a:lnTo>
                  <a:pt x="2207140" y="0"/>
                </a:lnTo>
                <a:lnTo>
                  <a:pt x="0" y="0"/>
                </a:lnTo>
                <a:lnTo>
                  <a:pt x="0" y="165577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grpSp>
        <p:nvGrpSpPr>
          <p:cNvPr id="4" name="Group 4"/>
          <p:cNvGrpSpPr/>
          <p:nvPr/>
        </p:nvGrpSpPr>
        <p:grpSpPr>
          <a:xfrm>
            <a:off x="16741349" y="8733235"/>
            <a:ext cx="2020750" cy="202075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7" name="TextBox 7"/>
          <p:cNvSpPr txBox="1"/>
          <p:nvPr/>
        </p:nvSpPr>
        <p:spPr>
          <a:xfrm>
            <a:off x="5236580" y="1510939"/>
            <a:ext cx="7814841" cy="1460501"/>
          </a:xfrm>
          <a:prstGeom prst="rect">
            <a:avLst/>
          </a:prstGeom>
        </p:spPr>
        <p:txBody>
          <a:bodyPr lIns="0" tIns="0" rIns="0" bIns="0" rtlCol="0" anchor="t">
            <a:spAutoFit/>
          </a:bodyPr>
          <a:lstStyle/>
          <a:p>
            <a:pPr algn="ctr">
              <a:lnSpc>
                <a:spcPts val="11899"/>
              </a:lnSpc>
            </a:pPr>
            <a:r>
              <a:rPr lang="en-US" sz="8499" b="1">
                <a:solidFill>
                  <a:srgbClr val="28224D"/>
                </a:solidFill>
                <a:latin typeface="Georgia Bold"/>
                <a:ea typeface="Georgia Bold"/>
                <a:cs typeface="Georgia Bold"/>
                <a:sym typeface="Georgia Bold"/>
              </a:rPr>
              <a:t>Objectives</a:t>
            </a:r>
          </a:p>
        </p:txBody>
      </p:sp>
      <p:sp>
        <p:nvSpPr>
          <p:cNvPr id="8" name="TextBox 8"/>
          <p:cNvSpPr txBox="1"/>
          <p:nvPr/>
        </p:nvSpPr>
        <p:spPr>
          <a:xfrm>
            <a:off x="2971800" y="4522450"/>
            <a:ext cx="5670336" cy="1627753"/>
          </a:xfrm>
          <a:prstGeom prst="rect">
            <a:avLst/>
          </a:prstGeom>
        </p:spPr>
        <p:txBody>
          <a:bodyPr wrap="square" lIns="0" tIns="0" rIns="0" bIns="0" rtlCol="0" anchor="t">
            <a:spAutoFit/>
          </a:bodyPr>
          <a:lstStyle/>
          <a:p>
            <a:pPr algn="ctr">
              <a:lnSpc>
                <a:spcPts val="4340"/>
              </a:lnSpc>
            </a:pPr>
            <a:r>
              <a:rPr lang="en-US" sz="2400" dirty="0">
                <a:solidFill>
                  <a:srgbClr val="52067B"/>
                </a:solidFill>
                <a:latin typeface="Poppins"/>
                <a:ea typeface="Poppins"/>
                <a:cs typeface="Poppins"/>
                <a:sym typeface="Poppins"/>
              </a:rPr>
              <a:t>To design and develop a web-based decision support system for selecting the best student.</a:t>
            </a:r>
          </a:p>
        </p:txBody>
      </p:sp>
      <p:grpSp>
        <p:nvGrpSpPr>
          <p:cNvPr id="9" name="Group 9"/>
          <p:cNvGrpSpPr/>
          <p:nvPr/>
        </p:nvGrpSpPr>
        <p:grpSpPr>
          <a:xfrm>
            <a:off x="4095135" y="3543300"/>
            <a:ext cx="3423667" cy="818373"/>
            <a:chOff x="0" y="0"/>
            <a:chExt cx="704458" cy="168390"/>
          </a:xfrm>
        </p:grpSpPr>
        <p:sp>
          <p:nvSpPr>
            <p:cNvPr id="10" name="Freeform 10"/>
            <p:cNvSpPr/>
            <p:nvPr/>
          </p:nvSpPr>
          <p:spPr>
            <a:xfrm>
              <a:off x="0" y="0"/>
              <a:ext cx="704458" cy="168390"/>
            </a:xfrm>
            <a:custGeom>
              <a:avLst/>
              <a:gdLst/>
              <a:ahLst/>
              <a:cxnLst/>
              <a:rect l="l" t="t" r="r" b="b"/>
              <a:pathLst>
                <a:path w="704458" h="168390">
                  <a:moveTo>
                    <a:pt x="84195" y="0"/>
                  </a:moveTo>
                  <a:lnTo>
                    <a:pt x="620263" y="0"/>
                  </a:lnTo>
                  <a:cubicBezTo>
                    <a:pt x="666763" y="0"/>
                    <a:pt x="704458" y="37695"/>
                    <a:pt x="704458" y="84195"/>
                  </a:cubicBezTo>
                  <a:lnTo>
                    <a:pt x="704458" y="84195"/>
                  </a:lnTo>
                  <a:cubicBezTo>
                    <a:pt x="704458" y="106525"/>
                    <a:pt x="695588" y="127940"/>
                    <a:pt x="679798" y="143729"/>
                  </a:cubicBezTo>
                  <a:cubicBezTo>
                    <a:pt x="664009" y="159519"/>
                    <a:pt x="642593" y="168390"/>
                    <a:pt x="620263" y="168390"/>
                  </a:cubicBezTo>
                  <a:lnTo>
                    <a:pt x="84195" y="168390"/>
                  </a:lnTo>
                  <a:cubicBezTo>
                    <a:pt x="37695" y="168390"/>
                    <a:pt x="0" y="130694"/>
                    <a:pt x="0" y="84195"/>
                  </a:cubicBezTo>
                  <a:lnTo>
                    <a:pt x="0" y="84195"/>
                  </a:lnTo>
                  <a:cubicBezTo>
                    <a:pt x="0" y="37695"/>
                    <a:pt x="37695" y="0"/>
                    <a:pt x="84195" y="0"/>
                  </a:cubicBezTo>
                  <a:close/>
                </a:path>
              </a:pathLst>
            </a:custGeom>
            <a:solidFill>
              <a:srgbClr val="52067B"/>
            </a:solidFill>
          </p:spPr>
          <p:txBody>
            <a:bodyPr/>
            <a:lstStyle/>
            <a:p>
              <a:endParaRPr lang="en-ID"/>
            </a:p>
          </p:txBody>
        </p:sp>
        <p:sp>
          <p:nvSpPr>
            <p:cNvPr id="11" name="TextBox 11"/>
            <p:cNvSpPr txBox="1"/>
            <p:nvPr/>
          </p:nvSpPr>
          <p:spPr>
            <a:xfrm>
              <a:off x="0" y="-47625"/>
              <a:ext cx="704458" cy="216015"/>
            </a:xfrm>
            <a:prstGeom prst="rect">
              <a:avLst/>
            </a:prstGeom>
          </p:spPr>
          <p:txBody>
            <a:bodyPr lIns="50800" tIns="50800" rIns="50800" bIns="50800" rtlCol="0" anchor="ctr"/>
            <a:lstStyle/>
            <a:p>
              <a:pPr algn="ctr">
                <a:lnSpc>
                  <a:spcPts val="2239"/>
                </a:lnSpc>
              </a:pPr>
              <a:endParaRPr/>
            </a:p>
          </p:txBody>
        </p:sp>
      </p:grpSp>
      <p:sp>
        <p:nvSpPr>
          <p:cNvPr id="12" name="TextBox 12"/>
          <p:cNvSpPr txBox="1"/>
          <p:nvPr/>
        </p:nvSpPr>
        <p:spPr>
          <a:xfrm>
            <a:off x="4296184" y="3582707"/>
            <a:ext cx="3021568" cy="571823"/>
          </a:xfrm>
          <a:prstGeom prst="rect">
            <a:avLst/>
          </a:prstGeom>
        </p:spPr>
        <p:txBody>
          <a:bodyPr wrap="square" lIns="0" tIns="0" rIns="0" bIns="0" rtlCol="0" anchor="t">
            <a:spAutoFit/>
          </a:bodyPr>
          <a:lstStyle/>
          <a:p>
            <a:pPr algn="ctr">
              <a:lnSpc>
                <a:spcPts val="4903"/>
              </a:lnSpc>
            </a:pPr>
            <a:r>
              <a:rPr lang="en-US" sz="2800" b="1" dirty="0">
                <a:solidFill>
                  <a:srgbClr val="F9F7FF"/>
                </a:solidFill>
                <a:latin typeface="Poppins Bold"/>
                <a:ea typeface="Poppins Bold"/>
                <a:cs typeface="Poppins Bold"/>
                <a:sym typeface="Poppins Bold"/>
              </a:rPr>
              <a:t>Objective 1</a:t>
            </a:r>
          </a:p>
        </p:txBody>
      </p:sp>
      <p:sp>
        <p:nvSpPr>
          <p:cNvPr id="13" name="TextBox 13"/>
          <p:cNvSpPr txBox="1"/>
          <p:nvPr/>
        </p:nvSpPr>
        <p:spPr>
          <a:xfrm>
            <a:off x="9740622" y="4522450"/>
            <a:ext cx="5898936" cy="1602618"/>
          </a:xfrm>
          <a:prstGeom prst="rect">
            <a:avLst/>
          </a:prstGeom>
        </p:spPr>
        <p:txBody>
          <a:bodyPr wrap="square" lIns="0" tIns="0" rIns="0" bIns="0" rtlCol="0" anchor="t">
            <a:spAutoFit/>
          </a:bodyPr>
          <a:lstStyle/>
          <a:p>
            <a:pPr algn="ctr">
              <a:lnSpc>
                <a:spcPts val="4340"/>
              </a:lnSpc>
            </a:pPr>
            <a:r>
              <a:rPr lang="en-US" sz="2400" dirty="0">
                <a:solidFill>
                  <a:srgbClr val="52067B"/>
                </a:solidFill>
                <a:latin typeface="Poppins"/>
                <a:ea typeface="Poppins"/>
                <a:cs typeface="Poppins"/>
                <a:sym typeface="Poppins"/>
              </a:rPr>
              <a:t>To implement the Weighted Product method in order to generate objective student rankings.</a:t>
            </a:r>
          </a:p>
        </p:txBody>
      </p:sp>
      <p:grpSp>
        <p:nvGrpSpPr>
          <p:cNvPr id="14" name="Group 14"/>
          <p:cNvGrpSpPr/>
          <p:nvPr/>
        </p:nvGrpSpPr>
        <p:grpSpPr>
          <a:xfrm>
            <a:off x="10900129" y="3543300"/>
            <a:ext cx="3423667" cy="818373"/>
            <a:chOff x="0" y="0"/>
            <a:chExt cx="704458" cy="168390"/>
          </a:xfrm>
        </p:grpSpPr>
        <p:sp>
          <p:nvSpPr>
            <p:cNvPr id="15" name="Freeform 15"/>
            <p:cNvSpPr/>
            <p:nvPr/>
          </p:nvSpPr>
          <p:spPr>
            <a:xfrm>
              <a:off x="0" y="0"/>
              <a:ext cx="704458" cy="168390"/>
            </a:xfrm>
            <a:custGeom>
              <a:avLst/>
              <a:gdLst/>
              <a:ahLst/>
              <a:cxnLst/>
              <a:rect l="l" t="t" r="r" b="b"/>
              <a:pathLst>
                <a:path w="704458" h="168390">
                  <a:moveTo>
                    <a:pt x="84195" y="0"/>
                  </a:moveTo>
                  <a:lnTo>
                    <a:pt x="620263" y="0"/>
                  </a:lnTo>
                  <a:cubicBezTo>
                    <a:pt x="666763" y="0"/>
                    <a:pt x="704458" y="37695"/>
                    <a:pt x="704458" y="84195"/>
                  </a:cubicBezTo>
                  <a:lnTo>
                    <a:pt x="704458" y="84195"/>
                  </a:lnTo>
                  <a:cubicBezTo>
                    <a:pt x="704458" y="106525"/>
                    <a:pt x="695588" y="127940"/>
                    <a:pt x="679798" y="143729"/>
                  </a:cubicBezTo>
                  <a:cubicBezTo>
                    <a:pt x="664009" y="159519"/>
                    <a:pt x="642593" y="168390"/>
                    <a:pt x="620263" y="168390"/>
                  </a:cubicBezTo>
                  <a:lnTo>
                    <a:pt x="84195" y="168390"/>
                  </a:lnTo>
                  <a:cubicBezTo>
                    <a:pt x="37695" y="168390"/>
                    <a:pt x="0" y="130694"/>
                    <a:pt x="0" y="84195"/>
                  </a:cubicBezTo>
                  <a:lnTo>
                    <a:pt x="0" y="84195"/>
                  </a:lnTo>
                  <a:cubicBezTo>
                    <a:pt x="0" y="37695"/>
                    <a:pt x="37695" y="0"/>
                    <a:pt x="84195" y="0"/>
                  </a:cubicBezTo>
                  <a:close/>
                </a:path>
              </a:pathLst>
            </a:custGeom>
            <a:solidFill>
              <a:srgbClr val="52067B"/>
            </a:solidFill>
          </p:spPr>
          <p:txBody>
            <a:bodyPr/>
            <a:lstStyle/>
            <a:p>
              <a:endParaRPr lang="en-ID"/>
            </a:p>
          </p:txBody>
        </p:sp>
        <p:sp>
          <p:nvSpPr>
            <p:cNvPr id="16" name="TextBox 16"/>
            <p:cNvSpPr txBox="1"/>
            <p:nvPr/>
          </p:nvSpPr>
          <p:spPr>
            <a:xfrm>
              <a:off x="0" y="-47625"/>
              <a:ext cx="704458" cy="216015"/>
            </a:xfrm>
            <a:prstGeom prst="rect">
              <a:avLst/>
            </a:prstGeom>
          </p:spPr>
          <p:txBody>
            <a:bodyPr lIns="50800" tIns="50800" rIns="50800" bIns="50800" rtlCol="0" anchor="ctr"/>
            <a:lstStyle/>
            <a:p>
              <a:pPr algn="ctr">
                <a:lnSpc>
                  <a:spcPts val="2239"/>
                </a:lnSpc>
              </a:pPr>
              <a:endParaRPr/>
            </a:p>
          </p:txBody>
        </p:sp>
      </p:grpSp>
      <p:sp>
        <p:nvSpPr>
          <p:cNvPr id="17" name="TextBox 17"/>
          <p:cNvSpPr txBox="1"/>
          <p:nvPr/>
        </p:nvSpPr>
        <p:spPr>
          <a:xfrm>
            <a:off x="11101178" y="3582707"/>
            <a:ext cx="3021568" cy="571823"/>
          </a:xfrm>
          <a:prstGeom prst="rect">
            <a:avLst/>
          </a:prstGeom>
        </p:spPr>
        <p:txBody>
          <a:bodyPr wrap="square" lIns="0" tIns="0" rIns="0" bIns="0" rtlCol="0" anchor="t">
            <a:spAutoFit/>
          </a:bodyPr>
          <a:lstStyle/>
          <a:p>
            <a:pPr algn="ctr">
              <a:lnSpc>
                <a:spcPts val="4903"/>
              </a:lnSpc>
            </a:pPr>
            <a:r>
              <a:rPr lang="en-US" sz="2800" b="1" dirty="0">
                <a:solidFill>
                  <a:srgbClr val="F9F7FF"/>
                </a:solidFill>
                <a:latin typeface="Poppins Bold"/>
                <a:ea typeface="Poppins Bold"/>
                <a:cs typeface="Poppins Bold"/>
                <a:sym typeface="Poppins Bold"/>
              </a:rPr>
              <a:t>Objective 2</a:t>
            </a:r>
          </a:p>
        </p:txBody>
      </p:sp>
      <p:sp>
        <p:nvSpPr>
          <p:cNvPr id="18" name="Freeform 18"/>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4">
              <a:alphaModFix amt="19999"/>
            </a:blip>
            <a:stretch>
              <a:fillRect/>
            </a:stretch>
          </a:blipFill>
        </p:spPr>
        <p:txBody>
          <a:bodyPr/>
          <a:lstStyle/>
          <a:p>
            <a:endParaRPr lang="en-ID"/>
          </a:p>
        </p:txBody>
      </p:sp>
      <p:grpSp>
        <p:nvGrpSpPr>
          <p:cNvPr id="19" name="Group 19"/>
          <p:cNvGrpSpPr/>
          <p:nvPr/>
        </p:nvGrpSpPr>
        <p:grpSpPr>
          <a:xfrm>
            <a:off x="8742144" y="346222"/>
            <a:ext cx="8821127" cy="799508"/>
            <a:chOff x="0" y="0"/>
            <a:chExt cx="11761503" cy="1066010"/>
          </a:xfrm>
        </p:grpSpPr>
        <p:sp>
          <p:nvSpPr>
            <p:cNvPr id="20" name="Freeform 20"/>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5">
                <a:alphaModFix amt="19999"/>
              </a:blip>
              <a:stretch>
                <a:fillRect/>
              </a:stretch>
            </a:blipFill>
          </p:spPr>
          <p:txBody>
            <a:bodyPr/>
            <a:lstStyle/>
            <a:p>
              <a:endParaRPr lang="en-ID"/>
            </a:p>
          </p:txBody>
        </p:sp>
        <p:sp>
          <p:nvSpPr>
            <p:cNvPr id="21" name="Freeform 21"/>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6">
                <a:alphaModFix amt="19999"/>
              </a:blip>
              <a:stretch>
                <a:fillRect/>
              </a:stretch>
            </a:blipFill>
          </p:spPr>
          <p:txBody>
            <a:bodyPr/>
            <a:lstStyle/>
            <a:p>
              <a:endParaRPr lang="en-ID"/>
            </a:p>
          </p:txBody>
        </p:sp>
        <p:sp>
          <p:nvSpPr>
            <p:cNvPr id="22" name="Freeform 22"/>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7">
                <a:alphaModFix amt="19999"/>
              </a:blip>
              <a:stretch>
                <a:fillRect/>
              </a:stretch>
            </a:blipFill>
          </p:spPr>
          <p:txBody>
            <a:bodyPr/>
            <a:lstStyle/>
            <a:p>
              <a:endParaRPr lang="en-ID"/>
            </a:p>
          </p:txBody>
        </p:sp>
        <p:sp>
          <p:nvSpPr>
            <p:cNvPr id="23" name="Freeform 23"/>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8">
                <a:alphaModFix amt="19999"/>
              </a:blip>
              <a:stretch>
                <a:fillRect t="-5771" b="-7179"/>
              </a:stretch>
            </a:blipFill>
          </p:spPr>
          <p:txBody>
            <a:bodyPr/>
            <a:lstStyle/>
            <a:p>
              <a:endParaRPr lang="en-ID"/>
            </a:p>
          </p:txBody>
        </p:sp>
        <p:sp>
          <p:nvSpPr>
            <p:cNvPr id="24" name="Freeform 24"/>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9">
                <a:alphaModFix amt="19999"/>
              </a:blip>
              <a:stretch>
                <a:fillRect/>
              </a:stretch>
            </a:blipFill>
          </p:spPr>
          <p:txBody>
            <a:bodyPr/>
            <a:lstStyle/>
            <a:p>
              <a:endParaRPr lang="en-ID"/>
            </a:p>
          </p:txBody>
        </p:sp>
        <p:sp>
          <p:nvSpPr>
            <p:cNvPr id="25" name="Freeform 25"/>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10">
                <a:alphaModFix amt="19999"/>
              </a:blip>
              <a:stretch>
                <a:fillRect/>
              </a:stretch>
            </a:blipFill>
          </p:spPr>
          <p:txBody>
            <a:bodyPr/>
            <a:lstStyle/>
            <a:p>
              <a:endParaRPr lang="en-ID"/>
            </a:p>
          </p:txBody>
        </p:sp>
        <p:sp>
          <p:nvSpPr>
            <p:cNvPr id="26" name="Freeform 26"/>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1">
                <a:alphaModFix amt="19999"/>
              </a:blip>
              <a:stretch>
                <a:fillRect/>
              </a:stretch>
            </a:blipFill>
          </p:spPr>
          <p:txBody>
            <a:bodyPr/>
            <a:lstStyle/>
            <a:p>
              <a:endParaRPr lang="en-ID"/>
            </a:p>
          </p:txBody>
        </p:sp>
        <p:sp>
          <p:nvSpPr>
            <p:cNvPr id="27" name="Freeform 27"/>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2">
                <a:alphaModFix amt="19999"/>
              </a:blip>
              <a:stretch>
                <a:fillRect l="-123525" t="-4141" r="-123525" b="-4141"/>
              </a:stretch>
            </a:blipFill>
          </p:spPr>
          <p:txBody>
            <a:bodyPr/>
            <a:lstStyle/>
            <a:p>
              <a:endParaRPr lang="en-ID"/>
            </a:p>
          </p:txBody>
        </p:sp>
        <p:sp>
          <p:nvSpPr>
            <p:cNvPr id="28" name="Freeform 28"/>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3">
                <a:alphaModFix amt="19999"/>
              </a:blip>
              <a:stretch>
                <a:fillRect/>
              </a:stretch>
            </a:blipFill>
          </p:spPr>
          <p:txBody>
            <a:bodyPr/>
            <a:lstStyle/>
            <a:p>
              <a:endParaRPr lang="en-ID"/>
            </a:p>
          </p:txBody>
        </p:sp>
        <p:sp>
          <p:nvSpPr>
            <p:cNvPr id="29" name="TextBox 29"/>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
        <p:nvSpPr>
          <p:cNvPr id="30" name="TextBox 13">
            <a:extLst>
              <a:ext uri="{FF2B5EF4-FFF2-40B4-BE49-F238E27FC236}">
                <a16:creationId xmlns:a16="http://schemas.microsoft.com/office/drawing/2014/main" id="{3051948B-BD36-234C-72BC-FDDF007F87B7}"/>
              </a:ext>
            </a:extLst>
          </p:cNvPr>
          <p:cNvSpPr txBox="1"/>
          <p:nvPr/>
        </p:nvSpPr>
        <p:spPr>
          <a:xfrm>
            <a:off x="5042069" y="7771893"/>
            <a:ext cx="8203862" cy="1602618"/>
          </a:xfrm>
          <a:prstGeom prst="rect">
            <a:avLst/>
          </a:prstGeom>
        </p:spPr>
        <p:txBody>
          <a:bodyPr wrap="square" lIns="0" tIns="0" rIns="0" bIns="0" rtlCol="0" anchor="t">
            <a:spAutoFit/>
          </a:bodyPr>
          <a:lstStyle/>
          <a:p>
            <a:pPr algn="ctr">
              <a:lnSpc>
                <a:spcPts val="4340"/>
              </a:lnSpc>
            </a:pPr>
            <a:r>
              <a:rPr lang="en-US" sz="2400" dirty="0">
                <a:solidFill>
                  <a:srgbClr val="52067B"/>
                </a:solidFill>
                <a:latin typeface="Poppins"/>
                <a:ea typeface="Poppins"/>
                <a:cs typeface="Poppins"/>
                <a:sym typeface="Poppins"/>
              </a:rPr>
              <a:t>To evaluate the effectiveness of the system in accelerating the assessment administration process and providing recommendations to the school.</a:t>
            </a:r>
          </a:p>
        </p:txBody>
      </p:sp>
      <p:grpSp>
        <p:nvGrpSpPr>
          <p:cNvPr id="31" name="Group 14">
            <a:extLst>
              <a:ext uri="{FF2B5EF4-FFF2-40B4-BE49-F238E27FC236}">
                <a16:creationId xmlns:a16="http://schemas.microsoft.com/office/drawing/2014/main" id="{5B061E7A-6F07-6663-C2E5-21163B572332}"/>
              </a:ext>
            </a:extLst>
          </p:cNvPr>
          <p:cNvGrpSpPr/>
          <p:nvPr/>
        </p:nvGrpSpPr>
        <p:grpSpPr>
          <a:xfrm>
            <a:off x="7433645" y="6722063"/>
            <a:ext cx="3423667" cy="818373"/>
            <a:chOff x="0" y="0"/>
            <a:chExt cx="704458" cy="168390"/>
          </a:xfrm>
        </p:grpSpPr>
        <p:sp>
          <p:nvSpPr>
            <p:cNvPr id="32" name="Freeform 15">
              <a:extLst>
                <a:ext uri="{FF2B5EF4-FFF2-40B4-BE49-F238E27FC236}">
                  <a16:creationId xmlns:a16="http://schemas.microsoft.com/office/drawing/2014/main" id="{B28B894A-0F50-ABB4-539D-A1A008365353}"/>
                </a:ext>
              </a:extLst>
            </p:cNvPr>
            <p:cNvSpPr/>
            <p:nvPr/>
          </p:nvSpPr>
          <p:spPr>
            <a:xfrm>
              <a:off x="0" y="0"/>
              <a:ext cx="704458" cy="168390"/>
            </a:xfrm>
            <a:custGeom>
              <a:avLst/>
              <a:gdLst/>
              <a:ahLst/>
              <a:cxnLst/>
              <a:rect l="l" t="t" r="r" b="b"/>
              <a:pathLst>
                <a:path w="704458" h="168390">
                  <a:moveTo>
                    <a:pt x="84195" y="0"/>
                  </a:moveTo>
                  <a:lnTo>
                    <a:pt x="620263" y="0"/>
                  </a:lnTo>
                  <a:cubicBezTo>
                    <a:pt x="666763" y="0"/>
                    <a:pt x="704458" y="37695"/>
                    <a:pt x="704458" y="84195"/>
                  </a:cubicBezTo>
                  <a:lnTo>
                    <a:pt x="704458" y="84195"/>
                  </a:lnTo>
                  <a:cubicBezTo>
                    <a:pt x="704458" y="106525"/>
                    <a:pt x="695588" y="127940"/>
                    <a:pt x="679798" y="143729"/>
                  </a:cubicBezTo>
                  <a:cubicBezTo>
                    <a:pt x="664009" y="159519"/>
                    <a:pt x="642593" y="168390"/>
                    <a:pt x="620263" y="168390"/>
                  </a:cubicBezTo>
                  <a:lnTo>
                    <a:pt x="84195" y="168390"/>
                  </a:lnTo>
                  <a:cubicBezTo>
                    <a:pt x="37695" y="168390"/>
                    <a:pt x="0" y="130694"/>
                    <a:pt x="0" y="84195"/>
                  </a:cubicBezTo>
                  <a:lnTo>
                    <a:pt x="0" y="84195"/>
                  </a:lnTo>
                  <a:cubicBezTo>
                    <a:pt x="0" y="37695"/>
                    <a:pt x="37695" y="0"/>
                    <a:pt x="84195" y="0"/>
                  </a:cubicBezTo>
                  <a:close/>
                </a:path>
              </a:pathLst>
            </a:custGeom>
            <a:solidFill>
              <a:srgbClr val="52067B"/>
            </a:solidFill>
          </p:spPr>
          <p:txBody>
            <a:bodyPr/>
            <a:lstStyle/>
            <a:p>
              <a:endParaRPr lang="en-ID"/>
            </a:p>
          </p:txBody>
        </p:sp>
        <p:sp>
          <p:nvSpPr>
            <p:cNvPr id="33" name="TextBox 16">
              <a:extLst>
                <a:ext uri="{FF2B5EF4-FFF2-40B4-BE49-F238E27FC236}">
                  <a16:creationId xmlns:a16="http://schemas.microsoft.com/office/drawing/2014/main" id="{BC03E357-5191-EBB8-3A2D-79DADC97D30E}"/>
                </a:ext>
              </a:extLst>
            </p:cNvPr>
            <p:cNvSpPr txBox="1"/>
            <p:nvPr/>
          </p:nvSpPr>
          <p:spPr>
            <a:xfrm>
              <a:off x="0" y="-47625"/>
              <a:ext cx="704458" cy="216015"/>
            </a:xfrm>
            <a:prstGeom prst="rect">
              <a:avLst/>
            </a:prstGeom>
          </p:spPr>
          <p:txBody>
            <a:bodyPr lIns="50800" tIns="50800" rIns="50800" bIns="50800" rtlCol="0" anchor="ctr"/>
            <a:lstStyle/>
            <a:p>
              <a:pPr algn="ctr">
                <a:lnSpc>
                  <a:spcPts val="2239"/>
                </a:lnSpc>
              </a:pPr>
              <a:endParaRPr/>
            </a:p>
          </p:txBody>
        </p:sp>
      </p:grpSp>
      <p:sp>
        <p:nvSpPr>
          <p:cNvPr id="34" name="TextBox 17">
            <a:extLst>
              <a:ext uri="{FF2B5EF4-FFF2-40B4-BE49-F238E27FC236}">
                <a16:creationId xmlns:a16="http://schemas.microsoft.com/office/drawing/2014/main" id="{8394BEB0-AC3E-E1A2-15D5-F12C2CC3D73E}"/>
              </a:ext>
            </a:extLst>
          </p:cNvPr>
          <p:cNvSpPr txBox="1"/>
          <p:nvPr/>
        </p:nvSpPr>
        <p:spPr>
          <a:xfrm>
            <a:off x="7634694" y="6761470"/>
            <a:ext cx="3021568" cy="571823"/>
          </a:xfrm>
          <a:prstGeom prst="rect">
            <a:avLst/>
          </a:prstGeom>
        </p:spPr>
        <p:txBody>
          <a:bodyPr wrap="square" lIns="0" tIns="0" rIns="0" bIns="0" rtlCol="0" anchor="t">
            <a:spAutoFit/>
          </a:bodyPr>
          <a:lstStyle/>
          <a:p>
            <a:pPr algn="ctr">
              <a:lnSpc>
                <a:spcPts val="4903"/>
              </a:lnSpc>
            </a:pPr>
            <a:r>
              <a:rPr lang="en-US" sz="2800" b="1" dirty="0">
                <a:solidFill>
                  <a:srgbClr val="F9F7FF"/>
                </a:solidFill>
                <a:latin typeface="Poppins Bold"/>
                <a:ea typeface="Poppins Bold"/>
                <a:cs typeface="Poppins Bold"/>
                <a:sym typeface="Poppins Bold"/>
              </a:rPr>
              <a:t>Objective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a:extLst>
            <a:ext uri="{FF2B5EF4-FFF2-40B4-BE49-F238E27FC236}">
              <a16:creationId xmlns:a16="http://schemas.microsoft.com/office/drawing/2014/main" id="{ACE9CE21-2E8D-7E7C-BD18-D08853BE71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362E08B-5520-51ED-435F-3C6260FF8D7D}"/>
              </a:ext>
            </a:extLst>
          </p:cNvPr>
          <p:cNvGrpSpPr/>
          <p:nvPr/>
        </p:nvGrpSpPr>
        <p:grpSpPr>
          <a:xfrm>
            <a:off x="-699041" y="-477824"/>
            <a:ext cx="1834360" cy="1834360"/>
            <a:chOff x="0" y="0"/>
            <a:chExt cx="812800" cy="812800"/>
          </a:xfrm>
        </p:grpSpPr>
        <p:sp>
          <p:nvSpPr>
            <p:cNvPr id="3" name="Freeform 3">
              <a:extLst>
                <a:ext uri="{FF2B5EF4-FFF2-40B4-BE49-F238E27FC236}">
                  <a16:creationId xmlns:a16="http://schemas.microsoft.com/office/drawing/2014/main" id="{466B1E02-B805-6DB1-8650-13CD8DA436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a:extLst>
                <a:ext uri="{FF2B5EF4-FFF2-40B4-BE49-F238E27FC236}">
                  <a16:creationId xmlns:a16="http://schemas.microsoft.com/office/drawing/2014/main" id="{855BB992-F7CE-3674-37D6-43D532A1EDD9}"/>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F995E16A-541D-DB8F-DED2-F245749A1193}"/>
              </a:ext>
            </a:extLst>
          </p:cNvPr>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a:extLst>
              <a:ext uri="{FF2B5EF4-FFF2-40B4-BE49-F238E27FC236}">
                <a16:creationId xmlns:a16="http://schemas.microsoft.com/office/drawing/2014/main" id="{9F976BFF-2B0B-FCD6-3F67-CE3CFDA83087}"/>
              </a:ext>
            </a:extLst>
          </p:cNvPr>
          <p:cNvGrpSpPr/>
          <p:nvPr/>
        </p:nvGrpSpPr>
        <p:grpSpPr>
          <a:xfrm>
            <a:off x="17152682" y="8930465"/>
            <a:ext cx="1834360" cy="1834360"/>
            <a:chOff x="0" y="0"/>
            <a:chExt cx="812800" cy="812800"/>
          </a:xfrm>
        </p:grpSpPr>
        <p:sp>
          <p:nvSpPr>
            <p:cNvPr id="7" name="Freeform 7">
              <a:extLst>
                <a:ext uri="{FF2B5EF4-FFF2-40B4-BE49-F238E27FC236}">
                  <a16:creationId xmlns:a16="http://schemas.microsoft.com/office/drawing/2014/main" id="{F78AF541-A574-0F17-391C-77A2555831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a:extLst>
                <a:ext uri="{FF2B5EF4-FFF2-40B4-BE49-F238E27FC236}">
                  <a16:creationId xmlns:a16="http://schemas.microsoft.com/office/drawing/2014/main" id="{7F537122-83E6-44B3-6ED3-985ABBBB9453}"/>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a:extLst>
              <a:ext uri="{FF2B5EF4-FFF2-40B4-BE49-F238E27FC236}">
                <a16:creationId xmlns:a16="http://schemas.microsoft.com/office/drawing/2014/main" id="{26EA3C53-311B-7817-96D8-D33608C0924B}"/>
              </a:ext>
            </a:extLst>
          </p:cNvPr>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a:extLst>
              <a:ext uri="{FF2B5EF4-FFF2-40B4-BE49-F238E27FC236}">
                <a16:creationId xmlns:a16="http://schemas.microsoft.com/office/drawing/2014/main" id="{526052FD-5898-E9DC-5A68-49D64C1E1D78}"/>
              </a:ext>
            </a:extLst>
          </p:cNvPr>
          <p:cNvSpPr txBox="1"/>
          <p:nvPr/>
        </p:nvSpPr>
        <p:spPr>
          <a:xfrm>
            <a:off x="3886758" y="1580689"/>
            <a:ext cx="10514484" cy="1396921"/>
          </a:xfrm>
          <a:prstGeom prst="rect">
            <a:avLst/>
          </a:prstGeom>
        </p:spPr>
        <p:txBody>
          <a:bodyPr wrap="square" lIns="0" tIns="0" rIns="0" bIns="0" rtlCol="0" anchor="t">
            <a:spAutoFit/>
          </a:bodyPr>
          <a:lstStyle/>
          <a:p>
            <a:pPr algn="ctr">
              <a:lnSpc>
                <a:spcPts val="11899"/>
              </a:lnSpc>
            </a:pPr>
            <a:r>
              <a:rPr lang="en-US" sz="8499" b="1" dirty="0">
                <a:solidFill>
                  <a:srgbClr val="28224D"/>
                </a:solidFill>
                <a:latin typeface="Georgia Bold"/>
                <a:ea typeface="Georgia Bold"/>
                <a:cs typeface="Georgia Bold"/>
                <a:sym typeface="Georgia Bold"/>
              </a:rPr>
              <a:t>Literature Review</a:t>
            </a:r>
          </a:p>
        </p:txBody>
      </p:sp>
      <p:sp>
        <p:nvSpPr>
          <p:cNvPr id="11" name="TextBox 11">
            <a:extLst>
              <a:ext uri="{FF2B5EF4-FFF2-40B4-BE49-F238E27FC236}">
                <a16:creationId xmlns:a16="http://schemas.microsoft.com/office/drawing/2014/main" id="{20E19E0F-3CA1-334F-8610-3C5F4896E284}"/>
              </a:ext>
            </a:extLst>
          </p:cNvPr>
          <p:cNvSpPr txBox="1"/>
          <p:nvPr/>
        </p:nvSpPr>
        <p:spPr>
          <a:xfrm>
            <a:off x="3230824" y="3564218"/>
            <a:ext cx="11826352" cy="4690258"/>
          </a:xfrm>
          <a:prstGeom prst="rect">
            <a:avLst/>
          </a:prstGeom>
        </p:spPr>
        <p:txBody>
          <a:bodyPr lIns="0" tIns="0" rIns="0" bIns="0" rtlCol="0" anchor="t">
            <a:spAutoFit/>
          </a:bodyPr>
          <a:lstStyle/>
          <a:p>
            <a:pPr algn="ctr">
              <a:lnSpc>
                <a:spcPts val="4620"/>
              </a:lnSpc>
            </a:pPr>
            <a:r>
              <a:rPr lang="en-US" sz="3300" dirty="0">
                <a:solidFill>
                  <a:srgbClr val="52067B"/>
                </a:solidFill>
                <a:latin typeface="Poppins"/>
                <a:ea typeface="Poppins"/>
                <a:cs typeface="Poppins"/>
                <a:sym typeface="Poppins"/>
              </a:rPr>
              <a:t>A Decision Support System is a computer-based system designed to assist decision-makers in solving semi-structured problems. The Weighted Product method is used because it can evaluate alternatives based on multiple criteria by multiplying attribute values that have been powered by their respective criterion weights. The system development uses Next.js, TypeScript, and PostgreSQL as the main technologies.</a:t>
            </a:r>
          </a:p>
        </p:txBody>
      </p:sp>
      <p:sp>
        <p:nvSpPr>
          <p:cNvPr id="13" name="Freeform 13">
            <a:extLst>
              <a:ext uri="{FF2B5EF4-FFF2-40B4-BE49-F238E27FC236}">
                <a16:creationId xmlns:a16="http://schemas.microsoft.com/office/drawing/2014/main" id="{83990AB3-A3C8-6F2C-8376-5C9067EE3A74}"/>
              </a:ext>
            </a:extLst>
          </p:cNvPr>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a:extLst>
              <a:ext uri="{FF2B5EF4-FFF2-40B4-BE49-F238E27FC236}">
                <a16:creationId xmlns:a16="http://schemas.microsoft.com/office/drawing/2014/main" id="{93BD4BD6-53F9-AE16-7BC0-27AD1F892759}"/>
              </a:ext>
            </a:extLst>
          </p:cNvPr>
          <p:cNvGrpSpPr/>
          <p:nvPr/>
        </p:nvGrpSpPr>
        <p:grpSpPr>
          <a:xfrm>
            <a:off x="8742144" y="346222"/>
            <a:ext cx="8821127" cy="799508"/>
            <a:chOff x="0" y="0"/>
            <a:chExt cx="11761503" cy="1066010"/>
          </a:xfrm>
        </p:grpSpPr>
        <p:sp>
          <p:nvSpPr>
            <p:cNvPr id="15" name="Freeform 15">
              <a:extLst>
                <a:ext uri="{FF2B5EF4-FFF2-40B4-BE49-F238E27FC236}">
                  <a16:creationId xmlns:a16="http://schemas.microsoft.com/office/drawing/2014/main" id="{373DBDA7-81F4-EC8B-E652-C01DADBD3F9C}"/>
                </a:ext>
              </a:extLst>
            </p:cNvPr>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a:extLst>
                <a:ext uri="{FF2B5EF4-FFF2-40B4-BE49-F238E27FC236}">
                  <a16:creationId xmlns:a16="http://schemas.microsoft.com/office/drawing/2014/main" id="{2C9FEAF5-2213-953E-3575-4F292DD1A448}"/>
                </a:ext>
              </a:extLst>
            </p:cNvPr>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a:extLst>
                <a:ext uri="{FF2B5EF4-FFF2-40B4-BE49-F238E27FC236}">
                  <a16:creationId xmlns:a16="http://schemas.microsoft.com/office/drawing/2014/main" id="{14EC82AD-6945-3CB2-E2D6-F1DB1EF24708}"/>
                </a:ext>
              </a:extLst>
            </p:cNvPr>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a:extLst>
                <a:ext uri="{FF2B5EF4-FFF2-40B4-BE49-F238E27FC236}">
                  <a16:creationId xmlns:a16="http://schemas.microsoft.com/office/drawing/2014/main" id="{43ED7F8C-DE5A-DD54-6C67-F72B16A4B048}"/>
                </a:ext>
              </a:extLst>
            </p:cNvPr>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a:extLst>
                <a:ext uri="{FF2B5EF4-FFF2-40B4-BE49-F238E27FC236}">
                  <a16:creationId xmlns:a16="http://schemas.microsoft.com/office/drawing/2014/main" id="{1054C72C-E8B0-BECD-CF91-A51E22EB12A4}"/>
                </a:ext>
              </a:extLst>
            </p:cNvPr>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a:extLst>
                <a:ext uri="{FF2B5EF4-FFF2-40B4-BE49-F238E27FC236}">
                  <a16:creationId xmlns:a16="http://schemas.microsoft.com/office/drawing/2014/main" id="{6AFE2370-E906-53F0-BEE8-B21ABAB342AE}"/>
                </a:ext>
              </a:extLst>
            </p:cNvPr>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a:extLst>
                <a:ext uri="{FF2B5EF4-FFF2-40B4-BE49-F238E27FC236}">
                  <a16:creationId xmlns:a16="http://schemas.microsoft.com/office/drawing/2014/main" id="{80B9673F-53D4-D5B3-F0F2-F565F1BC8E67}"/>
                </a:ext>
              </a:extLst>
            </p:cNvPr>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a:extLst>
                <a:ext uri="{FF2B5EF4-FFF2-40B4-BE49-F238E27FC236}">
                  <a16:creationId xmlns:a16="http://schemas.microsoft.com/office/drawing/2014/main" id="{F5843F45-1089-CF85-C5DF-3AA5B69E0D8D}"/>
                </a:ext>
              </a:extLst>
            </p:cNvPr>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a:extLst>
                <a:ext uri="{FF2B5EF4-FFF2-40B4-BE49-F238E27FC236}">
                  <a16:creationId xmlns:a16="http://schemas.microsoft.com/office/drawing/2014/main" id="{EA82A7C4-674A-C437-6318-B6C686970373}"/>
                </a:ext>
              </a:extLst>
            </p:cNvPr>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a:extLst>
                <a:ext uri="{FF2B5EF4-FFF2-40B4-BE49-F238E27FC236}">
                  <a16:creationId xmlns:a16="http://schemas.microsoft.com/office/drawing/2014/main" id="{E43E411C-DA88-435A-6202-3BC19ECD1488}"/>
                </a:ext>
              </a:extLst>
            </p:cNvPr>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Tree>
    <p:extLst>
      <p:ext uri="{BB962C8B-B14F-4D97-AF65-F5344CB8AC3E}">
        <p14:creationId xmlns:p14="http://schemas.microsoft.com/office/powerpoint/2010/main" val="54541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a:extLst>
            <a:ext uri="{FF2B5EF4-FFF2-40B4-BE49-F238E27FC236}">
              <a16:creationId xmlns:a16="http://schemas.microsoft.com/office/drawing/2014/main" id="{9A0FF31E-75B4-0F81-AA12-A0BD2D8BFA8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EDC0375-C9A0-F0F1-FCBB-6298BE0566BD}"/>
              </a:ext>
            </a:extLst>
          </p:cNvPr>
          <p:cNvGrpSpPr/>
          <p:nvPr/>
        </p:nvGrpSpPr>
        <p:grpSpPr>
          <a:xfrm>
            <a:off x="-699041" y="-477824"/>
            <a:ext cx="1834360" cy="1834360"/>
            <a:chOff x="0" y="0"/>
            <a:chExt cx="812800" cy="812800"/>
          </a:xfrm>
        </p:grpSpPr>
        <p:sp>
          <p:nvSpPr>
            <p:cNvPr id="3" name="Freeform 3">
              <a:extLst>
                <a:ext uri="{FF2B5EF4-FFF2-40B4-BE49-F238E27FC236}">
                  <a16:creationId xmlns:a16="http://schemas.microsoft.com/office/drawing/2014/main" id="{556ED6C1-395C-B23D-7CB1-E6D0F6FC41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a:extLst>
                <a:ext uri="{FF2B5EF4-FFF2-40B4-BE49-F238E27FC236}">
                  <a16:creationId xmlns:a16="http://schemas.microsoft.com/office/drawing/2014/main" id="{1E6EB5EC-99BD-AAA6-3B45-7C44F2D89FB6}"/>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AB216B9B-7310-7084-509A-91AED96EFB36}"/>
              </a:ext>
            </a:extLst>
          </p:cNvPr>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a:extLst>
              <a:ext uri="{FF2B5EF4-FFF2-40B4-BE49-F238E27FC236}">
                <a16:creationId xmlns:a16="http://schemas.microsoft.com/office/drawing/2014/main" id="{4530BC50-7D15-6FCC-C4D9-4E594F85AC03}"/>
              </a:ext>
            </a:extLst>
          </p:cNvPr>
          <p:cNvGrpSpPr/>
          <p:nvPr/>
        </p:nvGrpSpPr>
        <p:grpSpPr>
          <a:xfrm>
            <a:off x="17152682" y="8930465"/>
            <a:ext cx="1834360" cy="1834360"/>
            <a:chOff x="0" y="0"/>
            <a:chExt cx="812800" cy="812800"/>
          </a:xfrm>
        </p:grpSpPr>
        <p:sp>
          <p:nvSpPr>
            <p:cNvPr id="7" name="Freeform 7">
              <a:extLst>
                <a:ext uri="{FF2B5EF4-FFF2-40B4-BE49-F238E27FC236}">
                  <a16:creationId xmlns:a16="http://schemas.microsoft.com/office/drawing/2014/main" id="{4098A2F1-5CEC-3DFC-8457-E7E726DE22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a:extLst>
                <a:ext uri="{FF2B5EF4-FFF2-40B4-BE49-F238E27FC236}">
                  <a16:creationId xmlns:a16="http://schemas.microsoft.com/office/drawing/2014/main" id="{4FCCCB8A-3B52-4CDB-14BC-33B4774418C0}"/>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a:extLst>
              <a:ext uri="{FF2B5EF4-FFF2-40B4-BE49-F238E27FC236}">
                <a16:creationId xmlns:a16="http://schemas.microsoft.com/office/drawing/2014/main" id="{999DEFCA-86FF-D128-D137-3A37E55846B1}"/>
              </a:ext>
            </a:extLst>
          </p:cNvPr>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a:extLst>
              <a:ext uri="{FF2B5EF4-FFF2-40B4-BE49-F238E27FC236}">
                <a16:creationId xmlns:a16="http://schemas.microsoft.com/office/drawing/2014/main" id="{1F3B4A66-3D32-B4F9-399F-12314FB9F45F}"/>
              </a:ext>
            </a:extLst>
          </p:cNvPr>
          <p:cNvSpPr txBox="1"/>
          <p:nvPr/>
        </p:nvSpPr>
        <p:spPr>
          <a:xfrm>
            <a:off x="3886758" y="1580689"/>
            <a:ext cx="10514484" cy="1396921"/>
          </a:xfrm>
          <a:prstGeom prst="rect">
            <a:avLst/>
          </a:prstGeom>
        </p:spPr>
        <p:txBody>
          <a:bodyPr wrap="square" lIns="0" tIns="0" rIns="0" bIns="0" rtlCol="0" anchor="t">
            <a:spAutoFit/>
          </a:bodyPr>
          <a:lstStyle/>
          <a:p>
            <a:pPr algn="ctr">
              <a:lnSpc>
                <a:spcPts val="11899"/>
              </a:lnSpc>
            </a:pPr>
            <a:r>
              <a:rPr lang="en-US" sz="8499" b="1" dirty="0">
                <a:solidFill>
                  <a:srgbClr val="28224D"/>
                </a:solidFill>
                <a:latin typeface="Georgia Bold"/>
                <a:ea typeface="Georgia Bold"/>
                <a:cs typeface="Georgia Bold"/>
                <a:sym typeface="Georgia Bold"/>
              </a:rPr>
              <a:t>Methodology</a:t>
            </a:r>
          </a:p>
        </p:txBody>
      </p:sp>
      <p:sp>
        <p:nvSpPr>
          <p:cNvPr id="11" name="TextBox 11">
            <a:extLst>
              <a:ext uri="{FF2B5EF4-FFF2-40B4-BE49-F238E27FC236}">
                <a16:creationId xmlns:a16="http://schemas.microsoft.com/office/drawing/2014/main" id="{AFF89D6A-136A-4314-5962-F82A44DA3EE7}"/>
              </a:ext>
            </a:extLst>
          </p:cNvPr>
          <p:cNvSpPr txBox="1"/>
          <p:nvPr/>
        </p:nvSpPr>
        <p:spPr>
          <a:xfrm>
            <a:off x="3230824" y="3564218"/>
            <a:ext cx="11826352" cy="5280163"/>
          </a:xfrm>
          <a:prstGeom prst="rect">
            <a:avLst/>
          </a:prstGeom>
        </p:spPr>
        <p:txBody>
          <a:bodyPr lIns="0" tIns="0" rIns="0" bIns="0" rtlCol="0" anchor="t">
            <a:spAutoFit/>
          </a:bodyPr>
          <a:lstStyle/>
          <a:p>
            <a:pPr algn="ctr">
              <a:lnSpc>
                <a:spcPts val="4620"/>
              </a:lnSpc>
            </a:pPr>
            <a:r>
              <a:rPr lang="en-US" sz="3300" dirty="0">
                <a:solidFill>
                  <a:srgbClr val="52067B"/>
                </a:solidFill>
                <a:latin typeface="Poppins"/>
                <a:ea typeface="Poppins"/>
                <a:cs typeface="Poppins"/>
                <a:sym typeface="Poppins"/>
              </a:rPr>
              <a:t>The data collection techniques used in this research include observation, interviews, and literature study. Observation was conducted to understand the existing best student selection process. Interviews were carried out with school representatives to identify the required assessment criteria. Literature study was used to strengthen the theoretical foundation related to Decision Support Systems, the Weighted Product method, RAD, and web-based system development.</a:t>
            </a:r>
          </a:p>
        </p:txBody>
      </p:sp>
      <p:sp>
        <p:nvSpPr>
          <p:cNvPr id="13" name="Freeform 13">
            <a:extLst>
              <a:ext uri="{FF2B5EF4-FFF2-40B4-BE49-F238E27FC236}">
                <a16:creationId xmlns:a16="http://schemas.microsoft.com/office/drawing/2014/main" id="{98C1A0AE-93D2-24E3-AF31-1D995437D795}"/>
              </a:ext>
            </a:extLst>
          </p:cNvPr>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a:extLst>
              <a:ext uri="{FF2B5EF4-FFF2-40B4-BE49-F238E27FC236}">
                <a16:creationId xmlns:a16="http://schemas.microsoft.com/office/drawing/2014/main" id="{1674E8B2-E3C6-76F5-CCA6-19FFB3587E6A}"/>
              </a:ext>
            </a:extLst>
          </p:cNvPr>
          <p:cNvGrpSpPr/>
          <p:nvPr/>
        </p:nvGrpSpPr>
        <p:grpSpPr>
          <a:xfrm>
            <a:off x="8742144" y="346222"/>
            <a:ext cx="8821127" cy="799508"/>
            <a:chOff x="0" y="0"/>
            <a:chExt cx="11761503" cy="1066010"/>
          </a:xfrm>
        </p:grpSpPr>
        <p:sp>
          <p:nvSpPr>
            <p:cNvPr id="15" name="Freeform 15">
              <a:extLst>
                <a:ext uri="{FF2B5EF4-FFF2-40B4-BE49-F238E27FC236}">
                  <a16:creationId xmlns:a16="http://schemas.microsoft.com/office/drawing/2014/main" id="{2A0E5185-7935-BE0D-7E0E-02B7E6F7945F}"/>
                </a:ext>
              </a:extLst>
            </p:cNvPr>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a:extLst>
                <a:ext uri="{FF2B5EF4-FFF2-40B4-BE49-F238E27FC236}">
                  <a16:creationId xmlns:a16="http://schemas.microsoft.com/office/drawing/2014/main" id="{897CE636-53A9-C2DA-9B9B-1E70C23FBE7E}"/>
                </a:ext>
              </a:extLst>
            </p:cNvPr>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a:extLst>
                <a:ext uri="{FF2B5EF4-FFF2-40B4-BE49-F238E27FC236}">
                  <a16:creationId xmlns:a16="http://schemas.microsoft.com/office/drawing/2014/main" id="{91B10080-034D-6E9D-D228-8242B62822F3}"/>
                </a:ext>
              </a:extLst>
            </p:cNvPr>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a:extLst>
                <a:ext uri="{FF2B5EF4-FFF2-40B4-BE49-F238E27FC236}">
                  <a16:creationId xmlns:a16="http://schemas.microsoft.com/office/drawing/2014/main" id="{0D95BB34-F79B-536F-1F4C-F26223FDFCC2}"/>
                </a:ext>
              </a:extLst>
            </p:cNvPr>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a:extLst>
                <a:ext uri="{FF2B5EF4-FFF2-40B4-BE49-F238E27FC236}">
                  <a16:creationId xmlns:a16="http://schemas.microsoft.com/office/drawing/2014/main" id="{CECA1DC9-6844-E639-D569-92E34FBBCDE0}"/>
                </a:ext>
              </a:extLst>
            </p:cNvPr>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a:extLst>
                <a:ext uri="{FF2B5EF4-FFF2-40B4-BE49-F238E27FC236}">
                  <a16:creationId xmlns:a16="http://schemas.microsoft.com/office/drawing/2014/main" id="{B9D90FC1-CB7A-39CD-753A-C01B3CFF12C0}"/>
                </a:ext>
              </a:extLst>
            </p:cNvPr>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a:extLst>
                <a:ext uri="{FF2B5EF4-FFF2-40B4-BE49-F238E27FC236}">
                  <a16:creationId xmlns:a16="http://schemas.microsoft.com/office/drawing/2014/main" id="{11803BBB-9AD9-766C-0DD7-BBE3680C423B}"/>
                </a:ext>
              </a:extLst>
            </p:cNvPr>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a:extLst>
                <a:ext uri="{FF2B5EF4-FFF2-40B4-BE49-F238E27FC236}">
                  <a16:creationId xmlns:a16="http://schemas.microsoft.com/office/drawing/2014/main" id="{B1017AE7-B02D-6C14-4119-DDD86A865481}"/>
                </a:ext>
              </a:extLst>
            </p:cNvPr>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a:extLst>
                <a:ext uri="{FF2B5EF4-FFF2-40B4-BE49-F238E27FC236}">
                  <a16:creationId xmlns:a16="http://schemas.microsoft.com/office/drawing/2014/main" id="{77B32532-7725-75DB-00E3-7575816C0A04}"/>
                </a:ext>
              </a:extLst>
            </p:cNvPr>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a:extLst>
                <a:ext uri="{FF2B5EF4-FFF2-40B4-BE49-F238E27FC236}">
                  <a16:creationId xmlns:a16="http://schemas.microsoft.com/office/drawing/2014/main" id="{7A9693B9-D6F0-0DDA-74C9-5015253755D3}"/>
                </a:ext>
              </a:extLst>
            </p:cNvPr>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Tree>
    <p:extLst>
      <p:ext uri="{BB962C8B-B14F-4D97-AF65-F5344CB8AC3E}">
        <p14:creationId xmlns:p14="http://schemas.microsoft.com/office/powerpoint/2010/main" val="123203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a:extLst>
            <a:ext uri="{FF2B5EF4-FFF2-40B4-BE49-F238E27FC236}">
              <a16:creationId xmlns:a16="http://schemas.microsoft.com/office/drawing/2014/main" id="{826D2E77-D2FF-CC2D-C062-87748CE170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9C41CDA-8DEE-E56B-41E5-329A5D6F0BB6}"/>
              </a:ext>
            </a:extLst>
          </p:cNvPr>
          <p:cNvGrpSpPr/>
          <p:nvPr/>
        </p:nvGrpSpPr>
        <p:grpSpPr>
          <a:xfrm>
            <a:off x="-699041" y="-477824"/>
            <a:ext cx="1834360" cy="1834360"/>
            <a:chOff x="0" y="0"/>
            <a:chExt cx="812800" cy="812800"/>
          </a:xfrm>
        </p:grpSpPr>
        <p:sp>
          <p:nvSpPr>
            <p:cNvPr id="3" name="Freeform 3">
              <a:extLst>
                <a:ext uri="{FF2B5EF4-FFF2-40B4-BE49-F238E27FC236}">
                  <a16:creationId xmlns:a16="http://schemas.microsoft.com/office/drawing/2014/main" id="{8B8D751D-2BD0-973F-1F4B-709CB36F12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a:extLst>
                <a:ext uri="{FF2B5EF4-FFF2-40B4-BE49-F238E27FC236}">
                  <a16:creationId xmlns:a16="http://schemas.microsoft.com/office/drawing/2014/main" id="{31AFB32A-7D5E-41E8-D41D-853E3590A280}"/>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871E9957-1236-EE75-822F-55EEEB80369C}"/>
              </a:ext>
            </a:extLst>
          </p:cNvPr>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a:extLst>
              <a:ext uri="{FF2B5EF4-FFF2-40B4-BE49-F238E27FC236}">
                <a16:creationId xmlns:a16="http://schemas.microsoft.com/office/drawing/2014/main" id="{C626C77A-C541-3B06-1EFE-D7F29FD439D1}"/>
              </a:ext>
            </a:extLst>
          </p:cNvPr>
          <p:cNvGrpSpPr/>
          <p:nvPr/>
        </p:nvGrpSpPr>
        <p:grpSpPr>
          <a:xfrm>
            <a:off x="17152682" y="8930465"/>
            <a:ext cx="1834360" cy="1834360"/>
            <a:chOff x="0" y="0"/>
            <a:chExt cx="812800" cy="812800"/>
          </a:xfrm>
        </p:grpSpPr>
        <p:sp>
          <p:nvSpPr>
            <p:cNvPr id="7" name="Freeform 7">
              <a:extLst>
                <a:ext uri="{FF2B5EF4-FFF2-40B4-BE49-F238E27FC236}">
                  <a16:creationId xmlns:a16="http://schemas.microsoft.com/office/drawing/2014/main" id="{F0466A66-5B50-3DEE-DCE6-5B179BAD720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a:extLst>
                <a:ext uri="{FF2B5EF4-FFF2-40B4-BE49-F238E27FC236}">
                  <a16:creationId xmlns:a16="http://schemas.microsoft.com/office/drawing/2014/main" id="{13AC1B86-3D1E-BCCA-7E14-014E1265EE2D}"/>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a:extLst>
              <a:ext uri="{FF2B5EF4-FFF2-40B4-BE49-F238E27FC236}">
                <a16:creationId xmlns:a16="http://schemas.microsoft.com/office/drawing/2014/main" id="{215446D3-F789-6F8F-9E6A-837E573F6E11}"/>
              </a:ext>
            </a:extLst>
          </p:cNvPr>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a:extLst>
              <a:ext uri="{FF2B5EF4-FFF2-40B4-BE49-F238E27FC236}">
                <a16:creationId xmlns:a16="http://schemas.microsoft.com/office/drawing/2014/main" id="{08084AF0-8FEB-D7D2-C8BE-754DB8DF5841}"/>
              </a:ext>
            </a:extLst>
          </p:cNvPr>
          <p:cNvSpPr txBox="1"/>
          <p:nvPr/>
        </p:nvSpPr>
        <p:spPr>
          <a:xfrm>
            <a:off x="2933979" y="1570216"/>
            <a:ext cx="12420042" cy="1340495"/>
          </a:xfrm>
          <a:prstGeom prst="rect">
            <a:avLst/>
          </a:prstGeom>
        </p:spPr>
        <p:txBody>
          <a:bodyPr wrap="square" lIns="0" tIns="0" rIns="0" bIns="0" rtlCol="0" anchor="t">
            <a:spAutoFit/>
          </a:bodyPr>
          <a:lstStyle/>
          <a:p>
            <a:pPr algn="ctr">
              <a:lnSpc>
                <a:spcPts val="11899"/>
              </a:lnSpc>
            </a:pPr>
            <a:r>
              <a:rPr lang="en-US" sz="6600" b="1" dirty="0">
                <a:solidFill>
                  <a:srgbClr val="28224D"/>
                </a:solidFill>
                <a:latin typeface="Georgia Bold"/>
                <a:ea typeface="Georgia Bold"/>
                <a:cs typeface="Georgia Bold"/>
                <a:sym typeface="Georgia Bold"/>
              </a:rPr>
              <a:t>System Development Model</a:t>
            </a:r>
          </a:p>
        </p:txBody>
      </p:sp>
      <p:sp>
        <p:nvSpPr>
          <p:cNvPr id="11" name="TextBox 11">
            <a:extLst>
              <a:ext uri="{FF2B5EF4-FFF2-40B4-BE49-F238E27FC236}">
                <a16:creationId xmlns:a16="http://schemas.microsoft.com/office/drawing/2014/main" id="{E8C242E6-802F-170F-F1A7-C2C38782BC35}"/>
              </a:ext>
            </a:extLst>
          </p:cNvPr>
          <p:cNvSpPr txBox="1"/>
          <p:nvPr/>
        </p:nvSpPr>
        <p:spPr>
          <a:xfrm>
            <a:off x="3230824" y="6355711"/>
            <a:ext cx="11826352" cy="2902589"/>
          </a:xfrm>
          <a:prstGeom prst="rect">
            <a:avLst/>
          </a:prstGeom>
        </p:spPr>
        <p:txBody>
          <a:bodyPr lIns="0" tIns="0" rIns="0" bIns="0" rtlCol="0" anchor="t">
            <a:spAutoFit/>
          </a:bodyPr>
          <a:lstStyle/>
          <a:p>
            <a:pPr algn="ctr">
              <a:lnSpc>
                <a:spcPts val="4620"/>
              </a:lnSpc>
            </a:pPr>
            <a:r>
              <a:rPr lang="en-US" sz="2800" dirty="0">
                <a:solidFill>
                  <a:srgbClr val="52067B"/>
                </a:solidFill>
                <a:latin typeface="Poppins"/>
                <a:ea typeface="Poppins"/>
                <a:cs typeface="Poppins"/>
                <a:sym typeface="Poppins"/>
              </a:rPr>
              <a:t>This research uses the Rapid Application Development model. The stages include Requirements Planning, User Design, Construction, and Cutover. RAD was selected because it supports fast and iterative system development while involving users in the design refinement process.</a:t>
            </a:r>
          </a:p>
        </p:txBody>
      </p:sp>
      <p:sp>
        <p:nvSpPr>
          <p:cNvPr id="13" name="Freeform 13">
            <a:extLst>
              <a:ext uri="{FF2B5EF4-FFF2-40B4-BE49-F238E27FC236}">
                <a16:creationId xmlns:a16="http://schemas.microsoft.com/office/drawing/2014/main" id="{1B1EEDEA-51E0-2458-4197-6B80BAB03EF5}"/>
              </a:ext>
            </a:extLst>
          </p:cNvPr>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a:extLst>
              <a:ext uri="{FF2B5EF4-FFF2-40B4-BE49-F238E27FC236}">
                <a16:creationId xmlns:a16="http://schemas.microsoft.com/office/drawing/2014/main" id="{804CF218-857A-4332-4C3B-B7FD1EF4446E}"/>
              </a:ext>
            </a:extLst>
          </p:cNvPr>
          <p:cNvGrpSpPr/>
          <p:nvPr/>
        </p:nvGrpSpPr>
        <p:grpSpPr>
          <a:xfrm>
            <a:off x="8742144" y="346222"/>
            <a:ext cx="8821127" cy="799508"/>
            <a:chOff x="0" y="0"/>
            <a:chExt cx="11761503" cy="1066010"/>
          </a:xfrm>
        </p:grpSpPr>
        <p:sp>
          <p:nvSpPr>
            <p:cNvPr id="15" name="Freeform 15">
              <a:extLst>
                <a:ext uri="{FF2B5EF4-FFF2-40B4-BE49-F238E27FC236}">
                  <a16:creationId xmlns:a16="http://schemas.microsoft.com/office/drawing/2014/main" id="{6F08931C-6DF4-4AE0-38EE-9FEE0E70AA90}"/>
                </a:ext>
              </a:extLst>
            </p:cNvPr>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a:extLst>
                <a:ext uri="{FF2B5EF4-FFF2-40B4-BE49-F238E27FC236}">
                  <a16:creationId xmlns:a16="http://schemas.microsoft.com/office/drawing/2014/main" id="{501C05B0-3D51-D127-D732-C3A641FCA099}"/>
                </a:ext>
              </a:extLst>
            </p:cNvPr>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a:extLst>
                <a:ext uri="{FF2B5EF4-FFF2-40B4-BE49-F238E27FC236}">
                  <a16:creationId xmlns:a16="http://schemas.microsoft.com/office/drawing/2014/main" id="{48C1BE64-8DA6-0342-70BA-4B03D3A3096D}"/>
                </a:ext>
              </a:extLst>
            </p:cNvPr>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a:extLst>
                <a:ext uri="{FF2B5EF4-FFF2-40B4-BE49-F238E27FC236}">
                  <a16:creationId xmlns:a16="http://schemas.microsoft.com/office/drawing/2014/main" id="{DE64D325-B750-8314-5E70-3B1E4AC580EC}"/>
                </a:ext>
              </a:extLst>
            </p:cNvPr>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a:extLst>
                <a:ext uri="{FF2B5EF4-FFF2-40B4-BE49-F238E27FC236}">
                  <a16:creationId xmlns:a16="http://schemas.microsoft.com/office/drawing/2014/main" id="{82BFE878-849F-BBD6-F94C-AECBC8397829}"/>
                </a:ext>
              </a:extLst>
            </p:cNvPr>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a:extLst>
                <a:ext uri="{FF2B5EF4-FFF2-40B4-BE49-F238E27FC236}">
                  <a16:creationId xmlns:a16="http://schemas.microsoft.com/office/drawing/2014/main" id="{CB5CF1B3-2003-7C1E-177F-E0090B6D51D4}"/>
                </a:ext>
              </a:extLst>
            </p:cNvPr>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a:extLst>
                <a:ext uri="{FF2B5EF4-FFF2-40B4-BE49-F238E27FC236}">
                  <a16:creationId xmlns:a16="http://schemas.microsoft.com/office/drawing/2014/main" id="{519FE849-CEAA-17F2-8B0F-D5E94C22EDBB}"/>
                </a:ext>
              </a:extLst>
            </p:cNvPr>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a:extLst>
                <a:ext uri="{FF2B5EF4-FFF2-40B4-BE49-F238E27FC236}">
                  <a16:creationId xmlns:a16="http://schemas.microsoft.com/office/drawing/2014/main" id="{B5FCE70E-3FCD-DE35-C35F-CFF0D52BA4B7}"/>
                </a:ext>
              </a:extLst>
            </p:cNvPr>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a:extLst>
                <a:ext uri="{FF2B5EF4-FFF2-40B4-BE49-F238E27FC236}">
                  <a16:creationId xmlns:a16="http://schemas.microsoft.com/office/drawing/2014/main" id="{EB8D9646-8EC1-352D-44E3-0DC45CD4DFBF}"/>
                </a:ext>
              </a:extLst>
            </p:cNvPr>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a:extLst>
                <a:ext uri="{FF2B5EF4-FFF2-40B4-BE49-F238E27FC236}">
                  <a16:creationId xmlns:a16="http://schemas.microsoft.com/office/drawing/2014/main" id="{730CD508-FCFD-820B-8A4A-2AF5DD1DC3ED}"/>
                </a:ext>
              </a:extLst>
            </p:cNvPr>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pic>
        <p:nvPicPr>
          <p:cNvPr id="12" name="Picture 11">
            <a:extLst>
              <a:ext uri="{FF2B5EF4-FFF2-40B4-BE49-F238E27FC236}">
                <a16:creationId xmlns:a16="http://schemas.microsoft.com/office/drawing/2014/main" id="{40040A95-62D3-2F3C-A7AA-4244D21016D7}"/>
              </a:ext>
            </a:extLst>
          </p:cNvPr>
          <p:cNvPicPr>
            <a:picLocks noChangeAspect="1"/>
          </p:cNvPicPr>
          <p:nvPr/>
        </p:nvPicPr>
        <p:blipFill>
          <a:blip r:embed="rId13"/>
          <a:stretch>
            <a:fillRect/>
          </a:stretch>
        </p:blipFill>
        <p:spPr>
          <a:xfrm>
            <a:off x="4939934" y="3311565"/>
            <a:ext cx="8408131" cy="2385489"/>
          </a:xfrm>
          <a:prstGeom prst="rect">
            <a:avLst/>
          </a:prstGeom>
          <a:ln w="38100">
            <a:solidFill>
              <a:schemeClr val="accent4"/>
            </a:solidFill>
          </a:ln>
        </p:spPr>
      </p:pic>
      <p:sp>
        <p:nvSpPr>
          <p:cNvPr id="25" name="TextBox 11">
            <a:extLst>
              <a:ext uri="{FF2B5EF4-FFF2-40B4-BE49-F238E27FC236}">
                <a16:creationId xmlns:a16="http://schemas.microsoft.com/office/drawing/2014/main" id="{A99D8BB2-D382-DAF3-D9BB-179EC18B4660}"/>
              </a:ext>
            </a:extLst>
          </p:cNvPr>
          <p:cNvSpPr txBox="1"/>
          <p:nvPr/>
        </p:nvSpPr>
        <p:spPr>
          <a:xfrm>
            <a:off x="4648200" y="5571557"/>
            <a:ext cx="3048000" cy="492699"/>
          </a:xfrm>
          <a:prstGeom prst="rect">
            <a:avLst/>
          </a:prstGeom>
        </p:spPr>
        <p:txBody>
          <a:bodyPr wrap="square" lIns="0" tIns="0" rIns="0" bIns="0" rtlCol="0" anchor="t">
            <a:spAutoFit/>
          </a:bodyPr>
          <a:lstStyle/>
          <a:p>
            <a:pPr algn="ctr">
              <a:lnSpc>
                <a:spcPts val="4620"/>
              </a:lnSpc>
            </a:pPr>
            <a:r>
              <a:rPr lang="en-US" sz="1400" dirty="0">
                <a:solidFill>
                  <a:srgbClr val="52067B"/>
                </a:solidFill>
                <a:latin typeface="Poppins"/>
                <a:ea typeface="Poppins"/>
                <a:cs typeface="Poppins"/>
                <a:sym typeface="Poppins"/>
              </a:rPr>
              <a:t>Source: [</a:t>
            </a:r>
            <a:r>
              <a:rPr lang="en-US" sz="1400" dirty="0" err="1">
                <a:solidFill>
                  <a:srgbClr val="52067B"/>
                </a:solidFill>
                <a:latin typeface="Poppins"/>
                <a:ea typeface="Poppins"/>
                <a:cs typeface="Poppins"/>
                <a:sym typeface="Poppins"/>
              </a:rPr>
              <a:t>Masaid</a:t>
            </a:r>
            <a:r>
              <a:rPr lang="en-US" sz="1400" dirty="0">
                <a:solidFill>
                  <a:srgbClr val="52067B"/>
                </a:solidFill>
                <a:latin typeface="Poppins"/>
                <a:ea typeface="Poppins"/>
                <a:cs typeface="Poppins"/>
                <a:sym typeface="Poppins"/>
              </a:rPr>
              <a:t> et al., 2024]</a:t>
            </a:r>
          </a:p>
        </p:txBody>
      </p:sp>
    </p:spTree>
    <p:extLst>
      <p:ext uri="{BB962C8B-B14F-4D97-AF65-F5344CB8AC3E}">
        <p14:creationId xmlns:p14="http://schemas.microsoft.com/office/powerpoint/2010/main" val="3359553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a:extLst>
            <a:ext uri="{FF2B5EF4-FFF2-40B4-BE49-F238E27FC236}">
              <a16:creationId xmlns:a16="http://schemas.microsoft.com/office/drawing/2014/main" id="{65D0E1FF-4D17-72F0-11C5-B65D42CB27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BC0E73-2DF3-6CCA-0091-1329CCF58F99}"/>
              </a:ext>
            </a:extLst>
          </p:cNvPr>
          <p:cNvGrpSpPr/>
          <p:nvPr/>
        </p:nvGrpSpPr>
        <p:grpSpPr>
          <a:xfrm>
            <a:off x="-699041" y="-477824"/>
            <a:ext cx="1834360" cy="1834360"/>
            <a:chOff x="0" y="0"/>
            <a:chExt cx="812800" cy="812800"/>
          </a:xfrm>
        </p:grpSpPr>
        <p:sp>
          <p:nvSpPr>
            <p:cNvPr id="3" name="Freeform 3">
              <a:extLst>
                <a:ext uri="{FF2B5EF4-FFF2-40B4-BE49-F238E27FC236}">
                  <a16:creationId xmlns:a16="http://schemas.microsoft.com/office/drawing/2014/main" id="{1BA710B4-22B5-DAB0-BBF5-B22AA45B77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a:extLst>
                <a:ext uri="{FF2B5EF4-FFF2-40B4-BE49-F238E27FC236}">
                  <a16:creationId xmlns:a16="http://schemas.microsoft.com/office/drawing/2014/main" id="{D766CD33-7288-2169-EA77-BFEAE57E19B4}"/>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72D97AC2-FB0B-708A-86A2-2B9C669ACB6B}"/>
              </a:ext>
            </a:extLst>
          </p:cNvPr>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a:extLst>
              <a:ext uri="{FF2B5EF4-FFF2-40B4-BE49-F238E27FC236}">
                <a16:creationId xmlns:a16="http://schemas.microsoft.com/office/drawing/2014/main" id="{FE6BDA43-E6A2-E116-AFD7-43B54990FB06}"/>
              </a:ext>
            </a:extLst>
          </p:cNvPr>
          <p:cNvGrpSpPr/>
          <p:nvPr/>
        </p:nvGrpSpPr>
        <p:grpSpPr>
          <a:xfrm>
            <a:off x="17152682" y="8930465"/>
            <a:ext cx="1834360" cy="1834360"/>
            <a:chOff x="0" y="0"/>
            <a:chExt cx="812800" cy="812800"/>
          </a:xfrm>
        </p:grpSpPr>
        <p:sp>
          <p:nvSpPr>
            <p:cNvPr id="7" name="Freeform 7">
              <a:extLst>
                <a:ext uri="{FF2B5EF4-FFF2-40B4-BE49-F238E27FC236}">
                  <a16:creationId xmlns:a16="http://schemas.microsoft.com/office/drawing/2014/main" id="{FDD9CECA-B2CC-E670-58B8-02B9E643D5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a:extLst>
                <a:ext uri="{FF2B5EF4-FFF2-40B4-BE49-F238E27FC236}">
                  <a16:creationId xmlns:a16="http://schemas.microsoft.com/office/drawing/2014/main" id="{9519E59A-25B5-DD8F-BBA9-3CB4CC9E528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a:extLst>
              <a:ext uri="{FF2B5EF4-FFF2-40B4-BE49-F238E27FC236}">
                <a16:creationId xmlns:a16="http://schemas.microsoft.com/office/drawing/2014/main" id="{D71DD7B6-6C89-A2A7-E140-E9F4FBA1A6C3}"/>
              </a:ext>
            </a:extLst>
          </p:cNvPr>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a:extLst>
              <a:ext uri="{FF2B5EF4-FFF2-40B4-BE49-F238E27FC236}">
                <a16:creationId xmlns:a16="http://schemas.microsoft.com/office/drawing/2014/main" id="{F4666119-6EEE-4C1C-1D2F-015C501E43C3}"/>
              </a:ext>
            </a:extLst>
          </p:cNvPr>
          <p:cNvSpPr txBox="1"/>
          <p:nvPr/>
        </p:nvSpPr>
        <p:spPr>
          <a:xfrm>
            <a:off x="3886758" y="1580689"/>
            <a:ext cx="10514484" cy="1396921"/>
          </a:xfrm>
          <a:prstGeom prst="rect">
            <a:avLst/>
          </a:prstGeom>
        </p:spPr>
        <p:txBody>
          <a:bodyPr wrap="square" lIns="0" tIns="0" rIns="0" bIns="0" rtlCol="0" anchor="t">
            <a:spAutoFit/>
          </a:bodyPr>
          <a:lstStyle/>
          <a:p>
            <a:pPr algn="ctr">
              <a:lnSpc>
                <a:spcPts val="11899"/>
              </a:lnSpc>
            </a:pPr>
            <a:r>
              <a:rPr lang="en-US" sz="8499" b="1" dirty="0">
                <a:solidFill>
                  <a:srgbClr val="28224D"/>
                </a:solidFill>
                <a:latin typeface="Georgia Bold"/>
                <a:ea typeface="Georgia Bold"/>
                <a:cs typeface="Georgia Bold"/>
                <a:sym typeface="Georgia Bold"/>
              </a:rPr>
              <a:t>Weighted Product</a:t>
            </a:r>
          </a:p>
        </p:txBody>
      </p:sp>
      <p:sp>
        <p:nvSpPr>
          <p:cNvPr id="11" name="TextBox 11">
            <a:extLst>
              <a:ext uri="{FF2B5EF4-FFF2-40B4-BE49-F238E27FC236}">
                <a16:creationId xmlns:a16="http://schemas.microsoft.com/office/drawing/2014/main" id="{0977B3F3-A251-CED1-FBF9-43A619653C01}"/>
              </a:ext>
            </a:extLst>
          </p:cNvPr>
          <p:cNvSpPr txBox="1"/>
          <p:nvPr/>
        </p:nvSpPr>
        <p:spPr>
          <a:xfrm>
            <a:off x="3230824" y="5872517"/>
            <a:ext cx="11826352" cy="2888227"/>
          </a:xfrm>
          <a:prstGeom prst="rect">
            <a:avLst/>
          </a:prstGeom>
        </p:spPr>
        <p:txBody>
          <a:bodyPr lIns="0" tIns="0" rIns="0" bIns="0" rtlCol="0" anchor="t">
            <a:spAutoFit/>
          </a:bodyPr>
          <a:lstStyle/>
          <a:p>
            <a:pPr algn="ctr">
              <a:lnSpc>
                <a:spcPts val="4620"/>
              </a:lnSpc>
            </a:pPr>
            <a:r>
              <a:rPr lang="en-US" sz="2400" dirty="0">
                <a:solidFill>
                  <a:srgbClr val="52067B"/>
                </a:solidFill>
                <a:latin typeface="Poppins"/>
                <a:ea typeface="Poppins"/>
                <a:cs typeface="Poppins"/>
                <a:sym typeface="Poppins"/>
              </a:rPr>
              <a:t>The Weighted Product method consists of several stages: determining assessment criteria, assigning score weights, determining criterion and sub-criterion weights, normalizing the weights, calculating the S vector, and calculating the V vector. The final result is a preference value used to rank students from the highest score to the lowest score.</a:t>
            </a:r>
          </a:p>
        </p:txBody>
      </p:sp>
      <p:sp>
        <p:nvSpPr>
          <p:cNvPr id="13" name="Freeform 13">
            <a:extLst>
              <a:ext uri="{FF2B5EF4-FFF2-40B4-BE49-F238E27FC236}">
                <a16:creationId xmlns:a16="http://schemas.microsoft.com/office/drawing/2014/main" id="{12EAF753-8C77-A8D5-48ED-E09BA0B2E05B}"/>
              </a:ext>
            </a:extLst>
          </p:cNvPr>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a:extLst>
              <a:ext uri="{FF2B5EF4-FFF2-40B4-BE49-F238E27FC236}">
                <a16:creationId xmlns:a16="http://schemas.microsoft.com/office/drawing/2014/main" id="{2FA2E1D4-E216-4535-BBE5-995EE21AA910}"/>
              </a:ext>
            </a:extLst>
          </p:cNvPr>
          <p:cNvGrpSpPr/>
          <p:nvPr/>
        </p:nvGrpSpPr>
        <p:grpSpPr>
          <a:xfrm>
            <a:off x="8742144" y="346222"/>
            <a:ext cx="8821127" cy="799508"/>
            <a:chOff x="0" y="0"/>
            <a:chExt cx="11761503" cy="1066010"/>
          </a:xfrm>
        </p:grpSpPr>
        <p:sp>
          <p:nvSpPr>
            <p:cNvPr id="15" name="Freeform 15">
              <a:extLst>
                <a:ext uri="{FF2B5EF4-FFF2-40B4-BE49-F238E27FC236}">
                  <a16:creationId xmlns:a16="http://schemas.microsoft.com/office/drawing/2014/main" id="{8A3D6E01-4AA1-8DAF-A80B-5C8E4E0B2E1F}"/>
                </a:ext>
              </a:extLst>
            </p:cNvPr>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a:extLst>
                <a:ext uri="{FF2B5EF4-FFF2-40B4-BE49-F238E27FC236}">
                  <a16:creationId xmlns:a16="http://schemas.microsoft.com/office/drawing/2014/main" id="{016D835E-7DD2-25ED-BE62-15E8CA351FE2}"/>
                </a:ext>
              </a:extLst>
            </p:cNvPr>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a:extLst>
                <a:ext uri="{FF2B5EF4-FFF2-40B4-BE49-F238E27FC236}">
                  <a16:creationId xmlns:a16="http://schemas.microsoft.com/office/drawing/2014/main" id="{BF3572EC-A047-B8BC-ED40-0076766B669D}"/>
                </a:ext>
              </a:extLst>
            </p:cNvPr>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a:extLst>
                <a:ext uri="{FF2B5EF4-FFF2-40B4-BE49-F238E27FC236}">
                  <a16:creationId xmlns:a16="http://schemas.microsoft.com/office/drawing/2014/main" id="{927DCE8B-5E86-B721-BCDD-13A8E5B21235}"/>
                </a:ext>
              </a:extLst>
            </p:cNvPr>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a:extLst>
                <a:ext uri="{FF2B5EF4-FFF2-40B4-BE49-F238E27FC236}">
                  <a16:creationId xmlns:a16="http://schemas.microsoft.com/office/drawing/2014/main" id="{958A9D61-7BC6-8E3A-7414-3F41C1C87532}"/>
                </a:ext>
              </a:extLst>
            </p:cNvPr>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a:extLst>
                <a:ext uri="{FF2B5EF4-FFF2-40B4-BE49-F238E27FC236}">
                  <a16:creationId xmlns:a16="http://schemas.microsoft.com/office/drawing/2014/main" id="{FDEBF449-2F4A-62FD-7776-E69216372799}"/>
                </a:ext>
              </a:extLst>
            </p:cNvPr>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a:extLst>
                <a:ext uri="{FF2B5EF4-FFF2-40B4-BE49-F238E27FC236}">
                  <a16:creationId xmlns:a16="http://schemas.microsoft.com/office/drawing/2014/main" id="{79DDA337-9634-3E05-F472-23D84E3739AB}"/>
                </a:ext>
              </a:extLst>
            </p:cNvPr>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a:extLst>
                <a:ext uri="{FF2B5EF4-FFF2-40B4-BE49-F238E27FC236}">
                  <a16:creationId xmlns:a16="http://schemas.microsoft.com/office/drawing/2014/main" id="{0210DF2D-DAE8-D9C2-DB4D-D17426D87A5D}"/>
                </a:ext>
              </a:extLst>
            </p:cNvPr>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a:extLst>
                <a:ext uri="{FF2B5EF4-FFF2-40B4-BE49-F238E27FC236}">
                  <a16:creationId xmlns:a16="http://schemas.microsoft.com/office/drawing/2014/main" id="{F3092820-C2D4-4DD7-50D3-0DBF61438C10}"/>
                </a:ext>
              </a:extLst>
            </p:cNvPr>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a:extLst>
                <a:ext uri="{FF2B5EF4-FFF2-40B4-BE49-F238E27FC236}">
                  <a16:creationId xmlns:a16="http://schemas.microsoft.com/office/drawing/2014/main" id="{BE5B51FE-36A3-94C0-E30B-ADA582A520FA}"/>
                </a:ext>
              </a:extLst>
            </p:cNvPr>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pic>
        <p:nvPicPr>
          <p:cNvPr id="25" name="Picture 24">
            <a:extLst>
              <a:ext uri="{FF2B5EF4-FFF2-40B4-BE49-F238E27FC236}">
                <a16:creationId xmlns:a16="http://schemas.microsoft.com/office/drawing/2014/main" id="{DF04C9A0-59C9-D8EF-6D7E-690C01FCC990}"/>
              </a:ext>
            </a:extLst>
          </p:cNvPr>
          <p:cNvPicPr>
            <a:picLocks noChangeAspect="1"/>
          </p:cNvPicPr>
          <p:nvPr/>
        </p:nvPicPr>
        <p:blipFill>
          <a:blip r:embed="rId13"/>
          <a:stretch>
            <a:fillRect/>
          </a:stretch>
        </p:blipFill>
        <p:spPr>
          <a:xfrm>
            <a:off x="2910604" y="3535337"/>
            <a:ext cx="2530879" cy="1608163"/>
          </a:xfrm>
          <a:prstGeom prst="rect">
            <a:avLst/>
          </a:prstGeom>
          <a:ln w="38100">
            <a:solidFill>
              <a:srgbClr val="7030A0"/>
            </a:solidFill>
          </a:ln>
        </p:spPr>
      </p:pic>
      <p:pic>
        <p:nvPicPr>
          <p:cNvPr id="27" name="Picture 26">
            <a:extLst>
              <a:ext uri="{FF2B5EF4-FFF2-40B4-BE49-F238E27FC236}">
                <a16:creationId xmlns:a16="http://schemas.microsoft.com/office/drawing/2014/main" id="{DFDBCE53-138E-DEB5-B0A9-F8EEA37B5592}"/>
              </a:ext>
            </a:extLst>
          </p:cNvPr>
          <p:cNvPicPr>
            <a:picLocks noChangeAspect="1"/>
          </p:cNvPicPr>
          <p:nvPr/>
        </p:nvPicPr>
        <p:blipFill>
          <a:blip r:embed="rId14"/>
          <a:stretch>
            <a:fillRect/>
          </a:stretch>
        </p:blipFill>
        <p:spPr>
          <a:xfrm>
            <a:off x="7423729" y="3568218"/>
            <a:ext cx="2636829" cy="1610732"/>
          </a:xfrm>
          <a:prstGeom prst="rect">
            <a:avLst/>
          </a:prstGeom>
          <a:ln w="38100">
            <a:solidFill>
              <a:srgbClr val="7030A0"/>
            </a:solidFill>
          </a:ln>
        </p:spPr>
      </p:pic>
      <p:pic>
        <p:nvPicPr>
          <p:cNvPr id="29" name="Picture 28">
            <a:extLst>
              <a:ext uri="{FF2B5EF4-FFF2-40B4-BE49-F238E27FC236}">
                <a16:creationId xmlns:a16="http://schemas.microsoft.com/office/drawing/2014/main" id="{5C537068-72C4-C938-75D4-755CC150B8DC}"/>
              </a:ext>
            </a:extLst>
          </p:cNvPr>
          <p:cNvPicPr>
            <a:picLocks noChangeAspect="1"/>
          </p:cNvPicPr>
          <p:nvPr/>
        </p:nvPicPr>
        <p:blipFill>
          <a:blip r:embed="rId15"/>
          <a:stretch>
            <a:fillRect/>
          </a:stretch>
        </p:blipFill>
        <p:spPr>
          <a:xfrm>
            <a:off x="11807437" y="3490473"/>
            <a:ext cx="3569959" cy="1604476"/>
          </a:xfrm>
          <a:prstGeom prst="rect">
            <a:avLst/>
          </a:prstGeom>
          <a:ln w="38100">
            <a:solidFill>
              <a:srgbClr val="7030A0"/>
            </a:solidFill>
          </a:ln>
        </p:spPr>
      </p:pic>
      <p:sp>
        <p:nvSpPr>
          <p:cNvPr id="30" name="Arrow: Right 29">
            <a:extLst>
              <a:ext uri="{FF2B5EF4-FFF2-40B4-BE49-F238E27FC236}">
                <a16:creationId xmlns:a16="http://schemas.microsoft.com/office/drawing/2014/main" id="{11DCE0C3-F4E5-8EAD-4CF0-51AAD4DDEB5D}"/>
              </a:ext>
            </a:extLst>
          </p:cNvPr>
          <p:cNvSpPr/>
          <p:nvPr/>
        </p:nvSpPr>
        <p:spPr>
          <a:xfrm>
            <a:off x="5937306" y="4127090"/>
            <a:ext cx="990600" cy="593411"/>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D"/>
          </a:p>
        </p:txBody>
      </p:sp>
      <p:sp>
        <p:nvSpPr>
          <p:cNvPr id="31" name="Arrow: Right 30">
            <a:extLst>
              <a:ext uri="{FF2B5EF4-FFF2-40B4-BE49-F238E27FC236}">
                <a16:creationId xmlns:a16="http://schemas.microsoft.com/office/drawing/2014/main" id="{1CC1F5A7-6416-9178-DB0C-AE8B6A1CCB49}"/>
              </a:ext>
            </a:extLst>
          </p:cNvPr>
          <p:cNvSpPr/>
          <p:nvPr/>
        </p:nvSpPr>
        <p:spPr>
          <a:xfrm>
            <a:off x="10401028" y="4127090"/>
            <a:ext cx="990600" cy="593411"/>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153455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a:extLst>
            <a:ext uri="{FF2B5EF4-FFF2-40B4-BE49-F238E27FC236}">
              <a16:creationId xmlns:a16="http://schemas.microsoft.com/office/drawing/2014/main" id="{3B6A3214-412B-CDD9-364D-F15AD7AFE6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154566-B6F6-E510-F743-8BFB0E3E4D53}"/>
              </a:ext>
            </a:extLst>
          </p:cNvPr>
          <p:cNvGrpSpPr/>
          <p:nvPr/>
        </p:nvGrpSpPr>
        <p:grpSpPr>
          <a:xfrm>
            <a:off x="-699041" y="-477824"/>
            <a:ext cx="1834360" cy="1834360"/>
            <a:chOff x="0" y="0"/>
            <a:chExt cx="812800" cy="812800"/>
          </a:xfrm>
        </p:grpSpPr>
        <p:sp>
          <p:nvSpPr>
            <p:cNvPr id="3" name="Freeform 3">
              <a:extLst>
                <a:ext uri="{FF2B5EF4-FFF2-40B4-BE49-F238E27FC236}">
                  <a16:creationId xmlns:a16="http://schemas.microsoft.com/office/drawing/2014/main" id="{1DBDC1CE-A074-6B83-0A65-DF6D93D7A3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a:extLst>
                <a:ext uri="{FF2B5EF4-FFF2-40B4-BE49-F238E27FC236}">
                  <a16:creationId xmlns:a16="http://schemas.microsoft.com/office/drawing/2014/main" id="{E49433E9-B2A8-0271-32E2-D7D240CD8144}"/>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9872A359-093B-1F90-BC2A-07BB1A2A1DEC}"/>
              </a:ext>
            </a:extLst>
          </p:cNvPr>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grpSp>
        <p:nvGrpSpPr>
          <p:cNvPr id="6" name="Group 6">
            <a:extLst>
              <a:ext uri="{FF2B5EF4-FFF2-40B4-BE49-F238E27FC236}">
                <a16:creationId xmlns:a16="http://schemas.microsoft.com/office/drawing/2014/main" id="{960E6049-6BA1-9A8E-5770-7B1A7C9F2B4E}"/>
              </a:ext>
            </a:extLst>
          </p:cNvPr>
          <p:cNvGrpSpPr/>
          <p:nvPr/>
        </p:nvGrpSpPr>
        <p:grpSpPr>
          <a:xfrm>
            <a:off x="17152682" y="8930465"/>
            <a:ext cx="1834360" cy="1834360"/>
            <a:chOff x="0" y="0"/>
            <a:chExt cx="812800" cy="812800"/>
          </a:xfrm>
        </p:grpSpPr>
        <p:sp>
          <p:nvSpPr>
            <p:cNvPr id="7" name="Freeform 7">
              <a:extLst>
                <a:ext uri="{FF2B5EF4-FFF2-40B4-BE49-F238E27FC236}">
                  <a16:creationId xmlns:a16="http://schemas.microsoft.com/office/drawing/2014/main" id="{3A424F13-FB57-98AC-EEC1-D82327E66B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8" name="TextBox 8">
              <a:extLst>
                <a:ext uri="{FF2B5EF4-FFF2-40B4-BE49-F238E27FC236}">
                  <a16:creationId xmlns:a16="http://schemas.microsoft.com/office/drawing/2014/main" id="{B8120459-63B3-BCF0-4298-B3C19BB84F24}"/>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9" name="Freeform 9">
            <a:extLst>
              <a:ext uri="{FF2B5EF4-FFF2-40B4-BE49-F238E27FC236}">
                <a16:creationId xmlns:a16="http://schemas.microsoft.com/office/drawing/2014/main" id="{83703E2F-7535-8B48-8390-7BF78BF1324F}"/>
              </a:ext>
            </a:extLst>
          </p:cNvPr>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10" name="TextBox 10">
            <a:extLst>
              <a:ext uri="{FF2B5EF4-FFF2-40B4-BE49-F238E27FC236}">
                <a16:creationId xmlns:a16="http://schemas.microsoft.com/office/drawing/2014/main" id="{36469806-5C44-B47B-082E-C3124B038D43}"/>
              </a:ext>
            </a:extLst>
          </p:cNvPr>
          <p:cNvSpPr txBox="1"/>
          <p:nvPr/>
        </p:nvSpPr>
        <p:spPr>
          <a:xfrm>
            <a:off x="2663896" y="1663264"/>
            <a:ext cx="13119419" cy="1396921"/>
          </a:xfrm>
          <a:prstGeom prst="rect">
            <a:avLst/>
          </a:prstGeom>
        </p:spPr>
        <p:txBody>
          <a:bodyPr wrap="square" lIns="0" tIns="0" rIns="0" bIns="0" rtlCol="0" anchor="t">
            <a:spAutoFit/>
          </a:bodyPr>
          <a:lstStyle/>
          <a:p>
            <a:pPr algn="ctr">
              <a:lnSpc>
                <a:spcPts val="11899"/>
              </a:lnSpc>
            </a:pPr>
            <a:r>
              <a:rPr lang="en-US" sz="8499" b="1" dirty="0">
                <a:solidFill>
                  <a:srgbClr val="28224D"/>
                </a:solidFill>
                <a:latin typeface="Georgia Bold"/>
                <a:ea typeface="Georgia Bold"/>
                <a:cs typeface="Georgia Bold"/>
                <a:sym typeface="Georgia Bold"/>
              </a:rPr>
              <a:t>Research Framework</a:t>
            </a:r>
          </a:p>
        </p:txBody>
      </p:sp>
      <p:sp>
        <p:nvSpPr>
          <p:cNvPr id="11" name="TextBox 11">
            <a:extLst>
              <a:ext uri="{FF2B5EF4-FFF2-40B4-BE49-F238E27FC236}">
                <a16:creationId xmlns:a16="http://schemas.microsoft.com/office/drawing/2014/main" id="{B512E5F0-28CE-C5D8-B201-C99BC683D1A0}"/>
              </a:ext>
            </a:extLst>
          </p:cNvPr>
          <p:cNvSpPr txBox="1"/>
          <p:nvPr/>
        </p:nvSpPr>
        <p:spPr>
          <a:xfrm>
            <a:off x="3230824" y="3564218"/>
            <a:ext cx="11826352" cy="4100353"/>
          </a:xfrm>
          <a:prstGeom prst="rect">
            <a:avLst/>
          </a:prstGeom>
        </p:spPr>
        <p:txBody>
          <a:bodyPr lIns="0" tIns="0" rIns="0" bIns="0" rtlCol="0" anchor="t">
            <a:spAutoFit/>
          </a:bodyPr>
          <a:lstStyle/>
          <a:p>
            <a:pPr algn="ctr">
              <a:lnSpc>
                <a:spcPts val="4620"/>
              </a:lnSpc>
            </a:pPr>
            <a:r>
              <a:rPr lang="en-US" sz="3300" dirty="0">
                <a:solidFill>
                  <a:srgbClr val="52067B"/>
                </a:solidFill>
                <a:latin typeface="Poppins"/>
                <a:ea typeface="Poppins"/>
                <a:cs typeface="Poppins"/>
                <a:sym typeface="Poppins"/>
              </a:rPr>
              <a:t>The research begins with the identification of problems in the current best student selection process. It continues with data collection, requirements planning, user design, system construction, and system implementation. The expected output is a web-based decision support system that produces objective, transparent, and efficient student rankings.</a:t>
            </a:r>
          </a:p>
        </p:txBody>
      </p:sp>
      <p:sp>
        <p:nvSpPr>
          <p:cNvPr id="13" name="Freeform 13">
            <a:extLst>
              <a:ext uri="{FF2B5EF4-FFF2-40B4-BE49-F238E27FC236}">
                <a16:creationId xmlns:a16="http://schemas.microsoft.com/office/drawing/2014/main" id="{6A0BE6FA-4C2A-2140-D582-42D9A2A076E0}"/>
              </a:ext>
            </a:extLst>
          </p:cNvPr>
          <p:cNvSpPr/>
          <p:nvPr/>
        </p:nvSpPr>
        <p:spPr>
          <a:xfrm>
            <a:off x="377791" y="8725102"/>
            <a:ext cx="4388275" cy="1161848"/>
          </a:xfrm>
          <a:custGeom>
            <a:avLst/>
            <a:gdLst/>
            <a:ahLst/>
            <a:cxnLst/>
            <a:rect l="l" t="t" r="r" b="b"/>
            <a:pathLst>
              <a:path w="4388275" h="1161848">
                <a:moveTo>
                  <a:pt x="0" y="0"/>
                </a:moveTo>
                <a:lnTo>
                  <a:pt x="4388275" y="0"/>
                </a:lnTo>
                <a:lnTo>
                  <a:pt x="4388275" y="1161849"/>
                </a:lnTo>
                <a:lnTo>
                  <a:pt x="0" y="1161849"/>
                </a:lnTo>
                <a:lnTo>
                  <a:pt x="0" y="0"/>
                </a:lnTo>
                <a:close/>
              </a:path>
            </a:pathLst>
          </a:custGeom>
          <a:blipFill>
            <a:blip r:embed="rId3">
              <a:alphaModFix amt="19999"/>
            </a:blip>
            <a:stretch>
              <a:fillRect/>
            </a:stretch>
          </a:blipFill>
        </p:spPr>
        <p:txBody>
          <a:bodyPr/>
          <a:lstStyle/>
          <a:p>
            <a:endParaRPr lang="en-ID"/>
          </a:p>
        </p:txBody>
      </p:sp>
      <p:grpSp>
        <p:nvGrpSpPr>
          <p:cNvPr id="14" name="Group 14">
            <a:extLst>
              <a:ext uri="{FF2B5EF4-FFF2-40B4-BE49-F238E27FC236}">
                <a16:creationId xmlns:a16="http://schemas.microsoft.com/office/drawing/2014/main" id="{37829C77-AEC2-8802-46A6-E479FE7B8956}"/>
              </a:ext>
            </a:extLst>
          </p:cNvPr>
          <p:cNvGrpSpPr/>
          <p:nvPr/>
        </p:nvGrpSpPr>
        <p:grpSpPr>
          <a:xfrm>
            <a:off x="8742144" y="346222"/>
            <a:ext cx="8821127" cy="799508"/>
            <a:chOff x="0" y="0"/>
            <a:chExt cx="11761503" cy="1066010"/>
          </a:xfrm>
        </p:grpSpPr>
        <p:sp>
          <p:nvSpPr>
            <p:cNvPr id="15" name="Freeform 15">
              <a:extLst>
                <a:ext uri="{FF2B5EF4-FFF2-40B4-BE49-F238E27FC236}">
                  <a16:creationId xmlns:a16="http://schemas.microsoft.com/office/drawing/2014/main" id="{1287C7B1-CB28-655E-586F-89B7C26AA35D}"/>
                </a:ext>
              </a:extLst>
            </p:cNvPr>
            <p:cNvSpPr/>
            <p:nvPr/>
          </p:nvSpPr>
          <p:spPr>
            <a:xfrm>
              <a:off x="4446423" y="151518"/>
              <a:ext cx="625246" cy="762975"/>
            </a:xfrm>
            <a:custGeom>
              <a:avLst/>
              <a:gdLst/>
              <a:ahLst/>
              <a:cxnLst/>
              <a:rect l="l" t="t" r="r" b="b"/>
              <a:pathLst>
                <a:path w="625246" h="762975">
                  <a:moveTo>
                    <a:pt x="0" y="0"/>
                  </a:moveTo>
                  <a:lnTo>
                    <a:pt x="625246" y="0"/>
                  </a:lnTo>
                  <a:lnTo>
                    <a:pt x="625246" y="762974"/>
                  </a:lnTo>
                  <a:lnTo>
                    <a:pt x="0" y="762974"/>
                  </a:lnTo>
                  <a:lnTo>
                    <a:pt x="0" y="0"/>
                  </a:lnTo>
                  <a:close/>
                </a:path>
              </a:pathLst>
            </a:custGeom>
            <a:blipFill>
              <a:blip r:embed="rId4">
                <a:alphaModFix amt="19999"/>
              </a:blip>
              <a:stretch>
                <a:fillRect/>
              </a:stretch>
            </a:blipFill>
          </p:spPr>
          <p:txBody>
            <a:bodyPr/>
            <a:lstStyle/>
            <a:p>
              <a:endParaRPr lang="en-ID"/>
            </a:p>
          </p:txBody>
        </p:sp>
        <p:sp>
          <p:nvSpPr>
            <p:cNvPr id="16" name="Freeform 16">
              <a:extLst>
                <a:ext uri="{FF2B5EF4-FFF2-40B4-BE49-F238E27FC236}">
                  <a16:creationId xmlns:a16="http://schemas.microsoft.com/office/drawing/2014/main" id="{A27493AA-EC75-E4D9-5E7E-7C6703C04FF1}"/>
                </a:ext>
              </a:extLst>
            </p:cNvPr>
            <p:cNvSpPr/>
            <p:nvPr/>
          </p:nvSpPr>
          <p:spPr>
            <a:xfrm>
              <a:off x="9901229" y="258615"/>
              <a:ext cx="1860274" cy="548781"/>
            </a:xfrm>
            <a:custGeom>
              <a:avLst/>
              <a:gdLst/>
              <a:ahLst/>
              <a:cxnLst/>
              <a:rect l="l" t="t" r="r" b="b"/>
              <a:pathLst>
                <a:path w="1860274" h="548781">
                  <a:moveTo>
                    <a:pt x="0" y="0"/>
                  </a:moveTo>
                  <a:lnTo>
                    <a:pt x="1860274" y="0"/>
                  </a:lnTo>
                  <a:lnTo>
                    <a:pt x="1860274" y="548781"/>
                  </a:lnTo>
                  <a:lnTo>
                    <a:pt x="0" y="548781"/>
                  </a:lnTo>
                  <a:lnTo>
                    <a:pt x="0" y="0"/>
                  </a:lnTo>
                  <a:close/>
                </a:path>
              </a:pathLst>
            </a:custGeom>
            <a:blipFill>
              <a:blip r:embed="rId5">
                <a:alphaModFix amt="19999"/>
              </a:blip>
              <a:stretch>
                <a:fillRect/>
              </a:stretch>
            </a:blipFill>
          </p:spPr>
          <p:txBody>
            <a:bodyPr/>
            <a:lstStyle/>
            <a:p>
              <a:endParaRPr lang="en-ID"/>
            </a:p>
          </p:txBody>
        </p:sp>
        <p:sp>
          <p:nvSpPr>
            <p:cNvPr id="17" name="Freeform 17">
              <a:extLst>
                <a:ext uri="{FF2B5EF4-FFF2-40B4-BE49-F238E27FC236}">
                  <a16:creationId xmlns:a16="http://schemas.microsoft.com/office/drawing/2014/main" id="{9131A8C5-5977-50D2-FD5E-A9D0743BF57F}"/>
                </a:ext>
              </a:extLst>
            </p:cNvPr>
            <p:cNvSpPr/>
            <p:nvPr/>
          </p:nvSpPr>
          <p:spPr>
            <a:xfrm>
              <a:off x="3675252" y="147420"/>
              <a:ext cx="771171" cy="771171"/>
            </a:xfrm>
            <a:custGeom>
              <a:avLst/>
              <a:gdLst/>
              <a:ahLst/>
              <a:cxnLst/>
              <a:rect l="l" t="t" r="r" b="b"/>
              <a:pathLst>
                <a:path w="771171" h="771171">
                  <a:moveTo>
                    <a:pt x="0" y="0"/>
                  </a:moveTo>
                  <a:lnTo>
                    <a:pt x="771171" y="0"/>
                  </a:lnTo>
                  <a:lnTo>
                    <a:pt x="771171" y="771171"/>
                  </a:lnTo>
                  <a:lnTo>
                    <a:pt x="0" y="771171"/>
                  </a:lnTo>
                  <a:lnTo>
                    <a:pt x="0" y="0"/>
                  </a:lnTo>
                  <a:close/>
                </a:path>
              </a:pathLst>
            </a:custGeom>
            <a:blipFill>
              <a:blip r:embed="rId6">
                <a:alphaModFix amt="19999"/>
              </a:blip>
              <a:stretch>
                <a:fillRect/>
              </a:stretch>
            </a:blipFill>
          </p:spPr>
          <p:txBody>
            <a:bodyPr/>
            <a:lstStyle/>
            <a:p>
              <a:endParaRPr lang="en-ID"/>
            </a:p>
          </p:txBody>
        </p:sp>
        <p:sp>
          <p:nvSpPr>
            <p:cNvPr id="18" name="Freeform 18">
              <a:extLst>
                <a:ext uri="{FF2B5EF4-FFF2-40B4-BE49-F238E27FC236}">
                  <a16:creationId xmlns:a16="http://schemas.microsoft.com/office/drawing/2014/main" id="{6DD54B25-7EDB-62BC-93D9-5DBBE34FDB19}"/>
                </a:ext>
              </a:extLst>
            </p:cNvPr>
            <p:cNvSpPr/>
            <p:nvPr/>
          </p:nvSpPr>
          <p:spPr>
            <a:xfrm>
              <a:off x="5160081" y="205566"/>
              <a:ext cx="2180913" cy="654878"/>
            </a:xfrm>
            <a:custGeom>
              <a:avLst/>
              <a:gdLst/>
              <a:ahLst/>
              <a:cxnLst/>
              <a:rect l="l" t="t" r="r" b="b"/>
              <a:pathLst>
                <a:path w="2180913" h="654878">
                  <a:moveTo>
                    <a:pt x="0" y="0"/>
                  </a:moveTo>
                  <a:lnTo>
                    <a:pt x="2180913" y="0"/>
                  </a:lnTo>
                  <a:lnTo>
                    <a:pt x="2180913" y="654878"/>
                  </a:lnTo>
                  <a:lnTo>
                    <a:pt x="0" y="654878"/>
                  </a:lnTo>
                  <a:lnTo>
                    <a:pt x="0" y="0"/>
                  </a:lnTo>
                  <a:close/>
                </a:path>
              </a:pathLst>
            </a:custGeom>
            <a:blipFill>
              <a:blip r:embed="rId7">
                <a:alphaModFix amt="19999"/>
              </a:blip>
              <a:stretch>
                <a:fillRect t="-5771" b="-7179"/>
              </a:stretch>
            </a:blipFill>
          </p:spPr>
          <p:txBody>
            <a:bodyPr/>
            <a:lstStyle/>
            <a:p>
              <a:endParaRPr lang="en-ID"/>
            </a:p>
          </p:txBody>
        </p:sp>
        <p:sp>
          <p:nvSpPr>
            <p:cNvPr id="19" name="Freeform 19">
              <a:extLst>
                <a:ext uri="{FF2B5EF4-FFF2-40B4-BE49-F238E27FC236}">
                  <a16:creationId xmlns:a16="http://schemas.microsoft.com/office/drawing/2014/main" id="{2A17F077-4C41-13C6-2C50-C41316D554F9}"/>
                </a:ext>
              </a:extLst>
            </p:cNvPr>
            <p:cNvSpPr/>
            <p:nvPr/>
          </p:nvSpPr>
          <p:spPr>
            <a:xfrm>
              <a:off x="7429407" y="167628"/>
              <a:ext cx="749491" cy="730754"/>
            </a:xfrm>
            <a:custGeom>
              <a:avLst/>
              <a:gdLst/>
              <a:ahLst/>
              <a:cxnLst/>
              <a:rect l="l" t="t" r="r" b="b"/>
              <a:pathLst>
                <a:path w="749491" h="730754">
                  <a:moveTo>
                    <a:pt x="0" y="0"/>
                  </a:moveTo>
                  <a:lnTo>
                    <a:pt x="749491" y="0"/>
                  </a:lnTo>
                  <a:lnTo>
                    <a:pt x="749491" y="730754"/>
                  </a:lnTo>
                  <a:lnTo>
                    <a:pt x="0" y="730754"/>
                  </a:lnTo>
                  <a:lnTo>
                    <a:pt x="0" y="0"/>
                  </a:lnTo>
                  <a:close/>
                </a:path>
              </a:pathLst>
            </a:custGeom>
            <a:blipFill>
              <a:blip r:embed="rId8">
                <a:alphaModFix amt="19999"/>
              </a:blip>
              <a:stretch>
                <a:fillRect/>
              </a:stretch>
            </a:blipFill>
          </p:spPr>
          <p:txBody>
            <a:bodyPr/>
            <a:lstStyle/>
            <a:p>
              <a:endParaRPr lang="en-ID"/>
            </a:p>
          </p:txBody>
        </p:sp>
        <p:sp>
          <p:nvSpPr>
            <p:cNvPr id="20" name="Freeform 20">
              <a:extLst>
                <a:ext uri="{FF2B5EF4-FFF2-40B4-BE49-F238E27FC236}">
                  <a16:creationId xmlns:a16="http://schemas.microsoft.com/office/drawing/2014/main" id="{F82CFE25-A816-8D34-4247-224FE6471586}"/>
                </a:ext>
              </a:extLst>
            </p:cNvPr>
            <p:cNvSpPr/>
            <p:nvPr/>
          </p:nvSpPr>
          <p:spPr>
            <a:xfrm>
              <a:off x="8267310" y="163800"/>
              <a:ext cx="559402" cy="738411"/>
            </a:xfrm>
            <a:custGeom>
              <a:avLst/>
              <a:gdLst/>
              <a:ahLst/>
              <a:cxnLst/>
              <a:rect l="l" t="t" r="r" b="b"/>
              <a:pathLst>
                <a:path w="559402" h="738411">
                  <a:moveTo>
                    <a:pt x="0" y="0"/>
                  </a:moveTo>
                  <a:lnTo>
                    <a:pt x="559403" y="0"/>
                  </a:lnTo>
                  <a:lnTo>
                    <a:pt x="559403" y="738411"/>
                  </a:lnTo>
                  <a:lnTo>
                    <a:pt x="0" y="738411"/>
                  </a:lnTo>
                  <a:lnTo>
                    <a:pt x="0" y="0"/>
                  </a:lnTo>
                  <a:close/>
                </a:path>
              </a:pathLst>
            </a:custGeom>
            <a:blipFill>
              <a:blip r:embed="rId9">
                <a:alphaModFix amt="19999"/>
              </a:blip>
              <a:stretch>
                <a:fillRect/>
              </a:stretch>
            </a:blipFill>
          </p:spPr>
          <p:txBody>
            <a:bodyPr/>
            <a:lstStyle/>
            <a:p>
              <a:endParaRPr lang="en-ID"/>
            </a:p>
          </p:txBody>
        </p:sp>
        <p:sp>
          <p:nvSpPr>
            <p:cNvPr id="21" name="Freeform 21">
              <a:extLst>
                <a:ext uri="{FF2B5EF4-FFF2-40B4-BE49-F238E27FC236}">
                  <a16:creationId xmlns:a16="http://schemas.microsoft.com/office/drawing/2014/main" id="{9BF63FB5-ED89-6ED2-704E-DCD97DA59022}"/>
                </a:ext>
              </a:extLst>
            </p:cNvPr>
            <p:cNvSpPr/>
            <p:nvPr/>
          </p:nvSpPr>
          <p:spPr>
            <a:xfrm>
              <a:off x="8915125" y="97014"/>
              <a:ext cx="870892" cy="871982"/>
            </a:xfrm>
            <a:custGeom>
              <a:avLst/>
              <a:gdLst/>
              <a:ahLst/>
              <a:cxnLst/>
              <a:rect l="l" t="t" r="r" b="b"/>
              <a:pathLst>
                <a:path w="870892" h="871982">
                  <a:moveTo>
                    <a:pt x="0" y="0"/>
                  </a:moveTo>
                  <a:lnTo>
                    <a:pt x="870892" y="0"/>
                  </a:lnTo>
                  <a:lnTo>
                    <a:pt x="870892" y="871982"/>
                  </a:lnTo>
                  <a:lnTo>
                    <a:pt x="0" y="871982"/>
                  </a:lnTo>
                  <a:lnTo>
                    <a:pt x="0" y="0"/>
                  </a:lnTo>
                  <a:close/>
                </a:path>
              </a:pathLst>
            </a:custGeom>
            <a:blipFill>
              <a:blip r:embed="rId10">
                <a:alphaModFix amt="19999"/>
              </a:blip>
              <a:stretch>
                <a:fillRect/>
              </a:stretch>
            </a:blipFill>
          </p:spPr>
          <p:txBody>
            <a:bodyPr/>
            <a:lstStyle/>
            <a:p>
              <a:endParaRPr lang="en-ID"/>
            </a:p>
          </p:txBody>
        </p:sp>
        <p:sp>
          <p:nvSpPr>
            <p:cNvPr id="22" name="Freeform 22">
              <a:extLst>
                <a:ext uri="{FF2B5EF4-FFF2-40B4-BE49-F238E27FC236}">
                  <a16:creationId xmlns:a16="http://schemas.microsoft.com/office/drawing/2014/main" id="{7715FA79-5608-BFF2-1C5C-04B796B9C4F0}"/>
                </a:ext>
              </a:extLst>
            </p:cNvPr>
            <p:cNvSpPr/>
            <p:nvPr/>
          </p:nvSpPr>
          <p:spPr>
            <a:xfrm>
              <a:off x="3002608" y="0"/>
              <a:ext cx="665212" cy="1066010"/>
            </a:xfrm>
            <a:custGeom>
              <a:avLst/>
              <a:gdLst/>
              <a:ahLst/>
              <a:cxnLst/>
              <a:rect l="l" t="t" r="r" b="b"/>
              <a:pathLst>
                <a:path w="665212" h="1066010">
                  <a:moveTo>
                    <a:pt x="0" y="0"/>
                  </a:moveTo>
                  <a:lnTo>
                    <a:pt x="665213" y="0"/>
                  </a:lnTo>
                  <a:lnTo>
                    <a:pt x="665213" y="1066010"/>
                  </a:lnTo>
                  <a:lnTo>
                    <a:pt x="0" y="1066010"/>
                  </a:lnTo>
                  <a:lnTo>
                    <a:pt x="0" y="0"/>
                  </a:lnTo>
                  <a:close/>
                </a:path>
              </a:pathLst>
            </a:custGeom>
            <a:blipFill>
              <a:blip r:embed="rId11">
                <a:alphaModFix amt="19999"/>
              </a:blip>
              <a:stretch>
                <a:fillRect l="-123525" t="-4141" r="-123525" b="-4141"/>
              </a:stretch>
            </a:blipFill>
          </p:spPr>
          <p:txBody>
            <a:bodyPr/>
            <a:lstStyle/>
            <a:p>
              <a:endParaRPr lang="en-ID"/>
            </a:p>
          </p:txBody>
        </p:sp>
        <p:sp>
          <p:nvSpPr>
            <p:cNvPr id="23" name="Freeform 23">
              <a:extLst>
                <a:ext uri="{FF2B5EF4-FFF2-40B4-BE49-F238E27FC236}">
                  <a16:creationId xmlns:a16="http://schemas.microsoft.com/office/drawing/2014/main" id="{74A9A770-D51A-19B5-47BE-5BF229B60553}"/>
                </a:ext>
              </a:extLst>
            </p:cNvPr>
            <p:cNvSpPr/>
            <p:nvPr/>
          </p:nvSpPr>
          <p:spPr>
            <a:xfrm>
              <a:off x="0" y="212030"/>
              <a:ext cx="641950" cy="641950"/>
            </a:xfrm>
            <a:custGeom>
              <a:avLst/>
              <a:gdLst/>
              <a:ahLst/>
              <a:cxnLst/>
              <a:rect l="l" t="t" r="r" b="b"/>
              <a:pathLst>
                <a:path w="641950" h="641950">
                  <a:moveTo>
                    <a:pt x="0" y="0"/>
                  </a:moveTo>
                  <a:lnTo>
                    <a:pt x="641950" y="0"/>
                  </a:lnTo>
                  <a:lnTo>
                    <a:pt x="641950" y="641950"/>
                  </a:lnTo>
                  <a:lnTo>
                    <a:pt x="0" y="641950"/>
                  </a:lnTo>
                  <a:lnTo>
                    <a:pt x="0" y="0"/>
                  </a:lnTo>
                  <a:close/>
                </a:path>
              </a:pathLst>
            </a:custGeom>
            <a:blipFill>
              <a:blip r:embed="rId12">
                <a:alphaModFix amt="19999"/>
              </a:blip>
              <a:stretch>
                <a:fillRect/>
              </a:stretch>
            </a:blipFill>
          </p:spPr>
          <p:txBody>
            <a:bodyPr/>
            <a:lstStyle/>
            <a:p>
              <a:endParaRPr lang="en-ID"/>
            </a:p>
          </p:txBody>
        </p:sp>
        <p:sp>
          <p:nvSpPr>
            <p:cNvPr id="24" name="TextBox 24">
              <a:extLst>
                <a:ext uri="{FF2B5EF4-FFF2-40B4-BE49-F238E27FC236}">
                  <a16:creationId xmlns:a16="http://schemas.microsoft.com/office/drawing/2014/main" id="{92A3E3B0-C015-28BC-680A-4C35C6AAAA97}"/>
                </a:ext>
              </a:extLst>
            </p:cNvPr>
            <p:cNvSpPr txBox="1"/>
            <p:nvPr/>
          </p:nvSpPr>
          <p:spPr>
            <a:xfrm>
              <a:off x="732476" y="302698"/>
              <a:ext cx="2139770" cy="457952"/>
            </a:xfrm>
            <a:prstGeom prst="rect">
              <a:avLst/>
            </a:prstGeom>
          </p:spPr>
          <p:txBody>
            <a:bodyPr lIns="0" tIns="0" rIns="0" bIns="0" rtlCol="0" anchor="t">
              <a:spAutoFit/>
            </a:bodyPr>
            <a:lstStyle/>
            <a:p>
              <a:pPr algn="l">
                <a:lnSpc>
                  <a:spcPts val="954"/>
                </a:lnSpc>
              </a:pPr>
              <a:r>
                <a:rPr lang="en-US" sz="682" b="1">
                  <a:solidFill>
                    <a:srgbClr val="000000">
                      <a:alpha val="19608"/>
                    </a:srgbClr>
                  </a:solidFill>
                  <a:latin typeface="Rubik Medium Bold"/>
                  <a:ea typeface="Rubik Medium Bold"/>
                  <a:cs typeface="Rubik Medium Bold"/>
                  <a:sym typeface="Rubik Medium Bold"/>
                </a:rPr>
                <a:t>KEMENTERIAN  PENDIDIKAN TINGGI,</a:t>
              </a:r>
            </a:p>
            <a:p>
              <a:pPr algn="l">
                <a:lnSpc>
                  <a:spcPts val="954"/>
                </a:lnSpc>
              </a:pPr>
              <a:r>
                <a:rPr lang="en-US" sz="682" b="1">
                  <a:solidFill>
                    <a:srgbClr val="000000">
                      <a:alpha val="19608"/>
                    </a:srgbClr>
                  </a:solidFill>
                  <a:latin typeface="Rubik Medium Bold"/>
                  <a:ea typeface="Rubik Medium Bold"/>
                  <a:cs typeface="Rubik Medium Bold"/>
                  <a:sym typeface="Rubik Medium Bold"/>
                </a:rPr>
                <a:t>SAINS, DAN TEKNOLOGI</a:t>
              </a:r>
            </a:p>
            <a:p>
              <a:pPr algn="l">
                <a:lnSpc>
                  <a:spcPts val="954"/>
                </a:lnSpc>
                <a:spcBef>
                  <a:spcPct val="0"/>
                </a:spcBef>
              </a:pPr>
              <a:r>
                <a:rPr lang="en-US" sz="682">
                  <a:solidFill>
                    <a:srgbClr val="000000">
                      <a:alpha val="19608"/>
                    </a:srgbClr>
                  </a:solidFill>
                  <a:latin typeface="Rubik Medium"/>
                  <a:ea typeface="Rubik Medium"/>
                  <a:cs typeface="Rubik Medium"/>
                  <a:sym typeface="Rubik Medium"/>
                </a:rPr>
                <a:t>REPUBLIK INDONESIA</a:t>
              </a:r>
            </a:p>
          </p:txBody>
        </p:sp>
      </p:grpSp>
    </p:spTree>
    <p:extLst>
      <p:ext uri="{BB962C8B-B14F-4D97-AF65-F5344CB8AC3E}">
        <p14:creationId xmlns:p14="http://schemas.microsoft.com/office/powerpoint/2010/main" val="61425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7FF"/>
        </a:solidFill>
        <a:effectLst/>
      </p:bgPr>
    </p:bg>
    <p:spTree>
      <p:nvGrpSpPr>
        <p:cNvPr id="1" name=""/>
        <p:cNvGrpSpPr/>
        <p:nvPr/>
      </p:nvGrpSpPr>
      <p:grpSpPr>
        <a:xfrm>
          <a:off x="0" y="0"/>
          <a:ext cx="0" cy="0"/>
          <a:chOff x="0" y="0"/>
          <a:chExt cx="0" cy="0"/>
        </a:xfrm>
      </p:grpSpPr>
      <p:grpSp>
        <p:nvGrpSpPr>
          <p:cNvPr id="2" name="Group 2"/>
          <p:cNvGrpSpPr/>
          <p:nvPr/>
        </p:nvGrpSpPr>
        <p:grpSpPr>
          <a:xfrm>
            <a:off x="-699041" y="-477824"/>
            <a:ext cx="1834360" cy="18343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5" name="Freeform 5"/>
          <p:cNvSpPr/>
          <p:nvPr/>
        </p:nvSpPr>
        <p:spPr>
          <a:xfrm>
            <a:off x="14486828" y="8416772"/>
            <a:ext cx="2208245" cy="794968"/>
          </a:xfrm>
          <a:custGeom>
            <a:avLst/>
            <a:gdLst/>
            <a:ahLst/>
            <a:cxnLst/>
            <a:rect l="l" t="t" r="r" b="b"/>
            <a:pathLst>
              <a:path w="2208245" h="794968">
                <a:moveTo>
                  <a:pt x="0" y="0"/>
                </a:moveTo>
                <a:lnTo>
                  <a:pt x="2208244" y="0"/>
                </a:lnTo>
                <a:lnTo>
                  <a:pt x="2208244" y="794968"/>
                </a:lnTo>
                <a:lnTo>
                  <a:pt x="0" y="79496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6" name="Freeform 6"/>
          <p:cNvSpPr/>
          <p:nvPr/>
        </p:nvSpPr>
        <p:spPr>
          <a:xfrm flipV="1">
            <a:off x="15470128" y="484003"/>
            <a:ext cx="4986229" cy="4109224"/>
          </a:xfrm>
          <a:custGeom>
            <a:avLst/>
            <a:gdLst/>
            <a:ahLst/>
            <a:cxnLst/>
            <a:rect l="l" t="t" r="r" b="b"/>
            <a:pathLst>
              <a:path w="4986229" h="4109224">
                <a:moveTo>
                  <a:pt x="0" y="4109224"/>
                </a:moveTo>
                <a:lnTo>
                  <a:pt x="4986229" y="4109224"/>
                </a:lnTo>
                <a:lnTo>
                  <a:pt x="4986229" y="0"/>
                </a:lnTo>
                <a:lnTo>
                  <a:pt x="0" y="0"/>
                </a:lnTo>
                <a:lnTo>
                  <a:pt x="0" y="410922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7" name="Freeform 7"/>
          <p:cNvSpPr/>
          <p:nvPr/>
        </p:nvSpPr>
        <p:spPr>
          <a:xfrm flipH="1">
            <a:off x="-2168357" y="5693773"/>
            <a:ext cx="4986229" cy="4109224"/>
          </a:xfrm>
          <a:custGeom>
            <a:avLst/>
            <a:gdLst/>
            <a:ahLst/>
            <a:cxnLst/>
            <a:rect l="l" t="t" r="r" b="b"/>
            <a:pathLst>
              <a:path w="4986229" h="4109224">
                <a:moveTo>
                  <a:pt x="4986229" y="0"/>
                </a:moveTo>
                <a:lnTo>
                  <a:pt x="0" y="0"/>
                </a:lnTo>
                <a:lnTo>
                  <a:pt x="0" y="4109224"/>
                </a:lnTo>
                <a:lnTo>
                  <a:pt x="4986229" y="4109224"/>
                </a:lnTo>
                <a:lnTo>
                  <a:pt x="498622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a:p>
        </p:txBody>
      </p:sp>
      <p:sp>
        <p:nvSpPr>
          <p:cNvPr id="8" name="Freeform 8"/>
          <p:cNvSpPr/>
          <p:nvPr/>
        </p:nvSpPr>
        <p:spPr>
          <a:xfrm flipV="1">
            <a:off x="-925318" y="1028700"/>
            <a:ext cx="2207141" cy="1655770"/>
          </a:xfrm>
          <a:custGeom>
            <a:avLst/>
            <a:gdLst/>
            <a:ahLst/>
            <a:cxnLst/>
            <a:rect l="l" t="t" r="r" b="b"/>
            <a:pathLst>
              <a:path w="2207141" h="1655770">
                <a:moveTo>
                  <a:pt x="0" y="1655770"/>
                </a:moveTo>
                <a:lnTo>
                  <a:pt x="2207141" y="1655770"/>
                </a:lnTo>
                <a:lnTo>
                  <a:pt x="2207141" y="0"/>
                </a:lnTo>
                <a:lnTo>
                  <a:pt x="0" y="0"/>
                </a:lnTo>
                <a:lnTo>
                  <a:pt x="0" y="165577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sp>
        <p:nvSpPr>
          <p:cNvPr id="9" name="TextBox 9"/>
          <p:cNvSpPr txBox="1"/>
          <p:nvPr/>
        </p:nvSpPr>
        <p:spPr>
          <a:xfrm>
            <a:off x="3913056" y="4184650"/>
            <a:ext cx="10461888" cy="1717676"/>
          </a:xfrm>
          <a:prstGeom prst="rect">
            <a:avLst/>
          </a:prstGeom>
        </p:spPr>
        <p:txBody>
          <a:bodyPr lIns="0" tIns="0" rIns="0" bIns="0" rtlCol="0" anchor="t">
            <a:spAutoFit/>
          </a:bodyPr>
          <a:lstStyle/>
          <a:p>
            <a:pPr algn="ctr">
              <a:lnSpc>
                <a:spcPts val="13999"/>
              </a:lnSpc>
            </a:pPr>
            <a:r>
              <a:rPr lang="en-US" sz="9999" b="1">
                <a:solidFill>
                  <a:srgbClr val="28224D"/>
                </a:solidFill>
                <a:latin typeface="Georgia Bold"/>
                <a:ea typeface="Georgia Bold"/>
                <a:cs typeface="Georgia Bold"/>
                <a:sym typeface="Georgia Bold"/>
              </a:rPr>
              <a:t>THANK YOU</a:t>
            </a:r>
          </a:p>
        </p:txBody>
      </p:sp>
      <p:grpSp>
        <p:nvGrpSpPr>
          <p:cNvPr id="10" name="Group 10"/>
          <p:cNvGrpSpPr/>
          <p:nvPr/>
        </p:nvGrpSpPr>
        <p:grpSpPr>
          <a:xfrm>
            <a:off x="2119643" y="9165179"/>
            <a:ext cx="1275636" cy="127563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3" name="Group 13"/>
          <p:cNvGrpSpPr/>
          <p:nvPr/>
        </p:nvGrpSpPr>
        <p:grpSpPr>
          <a:xfrm>
            <a:off x="17152682" y="8930465"/>
            <a:ext cx="1834360" cy="183436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16" name="Freeform 16"/>
          <p:cNvSpPr/>
          <p:nvPr/>
        </p:nvSpPr>
        <p:spPr>
          <a:xfrm>
            <a:off x="17006177" y="7602530"/>
            <a:ext cx="2207141" cy="1655770"/>
          </a:xfrm>
          <a:custGeom>
            <a:avLst/>
            <a:gdLst/>
            <a:ahLst/>
            <a:cxnLst/>
            <a:rect l="l" t="t" r="r" b="b"/>
            <a:pathLst>
              <a:path w="2207141" h="1655770">
                <a:moveTo>
                  <a:pt x="0" y="0"/>
                </a:moveTo>
                <a:lnTo>
                  <a:pt x="2207141" y="0"/>
                </a:lnTo>
                <a:lnTo>
                  <a:pt x="2207141" y="1655770"/>
                </a:lnTo>
                <a:lnTo>
                  <a:pt x="0" y="16557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D"/>
          </a:p>
        </p:txBody>
      </p:sp>
      <p:grpSp>
        <p:nvGrpSpPr>
          <p:cNvPr id="17" name="Group 17"/>
          <p:cNvGrpSpPr/>
          <p:nvPr/>
        </p:nvGrpSpPr>
        <p:grpSpPr>
          <a:xfrm>
            <a:off x="14892721" y="-153815"/>
            <a:ext cx="1275636" cy="127563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067B"/>
            </a:solidFill>
          </p:spPr>
          <p:txBody>
            <a:bodyPr/>
            <a:lstStyle/>
            <a:p>
              <a:endParaRPr lang="en-ID"/>
            </a:p>
          </p:txBody>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20" name="Freeform 20"/>
          <p:cNvSpPr/>
          <p:nvPr/>
        </p:nvSpPr>
        <p:spPr>
          <a:xfrm>
            <a:off x="4442107" y="1233584"/>
            <a:ext cx="9403786" cy="623001"/>
          </a:xfrm>
          <a:custGeom>
            <a:avLst/>
            <a:gdLst/>
            <a:ahLst/>
            <a:cxnLst/>
            <a:rect l="l" t="t" r="r" b="b"/>
            <a:pathLst>
              <a:path w="9403786" h="623001">
                <a:moveTo>
                  <a:pt x="0" y="0"/>
                </a:moveTo>
                <a:lnTo>
                  <a:pt x="9403786" y="0"/>
                </a:lnTo>
                <a:lnTo>
                  <a:pt x="9403786" y="623001"/>
                </a:lnTo>
                <a:lnTo>
                  <a:pt x="0" y="623001"/>
                </a:lnTo>
                <a:lnTo>
                  <a:pt x="0" y="0"/>
                </a:lnTo>
                <a:close/>
              </a:path>
            </a:pathLst>
          </a:custGeom>
          <a:blipFill>
            <a:blip r:embed="rId5"/>
            <a:stretch>
              <a:fillRect/>
            </a:stretch>
          </a:blipFill>
        </p:spPr>
        <p:txBody>
          <a:bodyPr/>
          <a:lstStyle/>
          <a:p>
            <a:endParaRPr lang="en-ID"/>
          </a:p>
        </p:txBody>
      </p:sp>
      <p:grpSp>
        <p:nvGrpSpPr>
          <p:cNvPr id="21" name="Group 21"/>
          <p:cNvGrpSpPr/>
          <p:nvPr/>
        </p:nvGrpSpPr>
        <p:grpSpPr>
          <a:xfrm>
            <a:off x="2251451" y="30686"/>
            <a:ext cx="12641271" cy="1145749"/>
            <a:chOff x="0" y="0"/>
            <a:chExt cx="16855028" cy="1527665"/>
          </a:xfrm>
        </p:grpSpPr>
        <p:sp>
          <p:nvSpPr>
            <p:cNvPr id="22" name="Freeform 22"/>
            <p:cNvSpPr/>
            <p:nvPr/>
          </p:nvSpPr>
          <p:spPr>
            <a:xfrm>
              <a:off x="6372025" y="217135"/>
              <a:ext cx="896019" cy="1093394"/>
            </a:xfrm>
            <a:custGeom>
              <a:avLst/>
              <a:gdLst/>
              <a:ahLst/>
              <a:cxnLst/>
              <a:rect l="l" t="t" r="r" b="b"/>
              <a:pathLst>
                <a:path w="896019" h="1093394">
                  <a:moveTo>
                    <a:pt x="0" y="0"/>
                  </a:moveTo>
                  <a:lnTo>
                    <a:pt x="896019" y="0"/>
                  </a:lnTo>
                  <a:lnTo>
                    <a:pt x="896019" y="1093394"/>
                  </a:lnTo>
                  <a:lnTo>
                    <a:pt x="0" y="1093394"/>
                  </a:lnTo>
                  <a:lnTo>
                    <a:pt x="0" y="0"/>
                  </a:lnTo>
                  <a:close/>
                </a:path>
              </a:pathLst>
            </a:custGeom>
            <a:blipFill>
              <a:blip r:embed="rId6"/>
              <a:stretch>
                <a:fillRect/>
              </a:stretch>
            </a:blipFill>
          </p:spPr>
          <p:txBody>
            <a:bodyPr/>
            <a:lstStyle/>
            <a:p>
              <a:endParaRPr lang="en-ID"/>
            </a:p>
          </p:txBody>
        </p:sp>
        <p:sp>
          <p:nvSpPr>
            <p:cNvPr id="23" name="Freeform 23"/>
            <p:cNvSpPr/>
            <p:nvPr/>
          </p:nvSpPr>
          <p:spPr>
            <a:xfrm>
              <a:off x="14189130" y="370612"/>
              <a:ext cx="2665898" cy="786440"/>
            </a:xfrm>
            <a:custGeom>
              <a:avLst/>
              <a:gdLst/>
              <a:ahLst/>
              <a:cxnLst/>
              <a:rect l="l" t="t" r="r" b="b"/>
              <a:pathLst>
                <a:path w="2665898" h="786440">
                  <a:moveTo>
                    <a:pt x="0" y="0"/>
                  </a:moveTo>
                  <a:lnTo>
                    <a:pt x="2665898" y="0"/>
                  </a:lnTo>
                  <a:lnTo>
                    <a:pt x="2665898" y="786440"/>
                  </a:lnTo>
                  <a:lnTo>
                    <a:pt x="0" y="786440"/>
                  </a:lnTo>
                  <a:lnTo>
                    <a:pt x="0" y="0"/>
                  </a:lnTo>
                  <a:close/>
                </a:path>
              </a:pathLst>
            </a:custGeom>
            <a:blipFill>
              <a:blip r:embed="rId7"/>
              <a:stretch>
                <a:fillRect/>
              </a:stretch>
            </a:blipFill>
          </p:spPr>
          <p:txBody>
            <a:bodyPr/>
            <a:lstStyle/>
            <a:p>
              <a:endParaRPr lang="en-ID"/>
            </a:p>
          </p:txBody>
        </p:sp>
        <p:sp>
          <p:nvSpPr>
            <p:cNvPr id="24" name="Freeform 24"/>
            <p:cNvSpPr/>
            <p:nvPr/>
          </p:nvSpPr>
          <p:spPr>
            <a:xfrm>
              <a:off x="5266885" y="211262"/>
              <a:ext cx="1105140" cy="1105140"/>
            </a:xfrm>
            <a:custGeom>
              <a:avLst/>
              <a:gdLst/>
              <a:ahLst/>
              <a:cxnLst/>
              <a:rect l="l" t="t" r="r" b="b"/>
              <a:pathLst>
                <a:path w="1105140" h="1105140">
                  <a:moveTo>
                    <a:pt x="0" y="0"/>
                  </a:moveTo>
                  <a:lnTo>
                    <a:pt x="1105140" y="0"/>
                  </a:lnTo>
                  <a:lnTo>
                    <a:pt x="1105140" y="1105140"/>
                  </a:lnTo>
                  <a:lnTo>
                    <a:pt x="0" y="1105140"/>
                  </a:lnTo>
                  <a:lnTo>
                    <a:pt x="0" y="0"/>
                  </a:lnTo>
                  <a:close/>
                </a:path>
              </a:pathLst>
            </a:custGeom>
            <a:blipFill>
              <a:blip r:embed="rId8"/>
              <a:stretch>
                <a:fillRect/>
              </a:stretch>
            </a:blipFill>
          </p:spPr>
          <p:txBody>
            <a:bodyPr/>
            <a:lstStyle/>
            <a:p>
              <a:endParaRPr lang="en-ID"/>
            </a:p>
          </p:txBody>
        </p:sp>
        <p:sp>
          <p:nvSpPr>
            <p:cNvPr id="25" name="Freeform 25"/>
            <p:cNvSpPr/>
            <p:nvPr/>
          </p:nvSpPr>
          <p:spPr>
            <a:xfrm>
              <a:off x="7394745" y="294590"/>
              <a:ext cx="3125396" cy="938485"/>
            </a:xfrm>
            <a:custGeom>
              <a:avLst/>
              <a:gdLst/>
              <a:ahLst/>
              <a:cxnLst/>
              <a:rect l="l" t="t" r="r" b="b"/>
              <a:pathLst>
                <a:path w="3125396" h="938485">
                  <a:moveTo>
                    <a:pt x="0" y="0"/>
                  </a:moveTo>
                  <a:lnTo>
                    <a:pt x="3125396" y="0"/>
                  </a:lnTo>
                  <a:lnTo>
                    <a:pt x="3125396" y="938485"/>
                  </a:lnTo>
                  <a:lnTo>
                    <a:pt x="0" y="938485"/>
                  </a:lnTo>
                  <a:lnTo>
                    <a:pt x="0" y="0"/>
                  </a:lnTo>
                  <a:close/>
                </a:path>
              </a:pathLst>
            </a:custGeom>
            <a:blipFill>
              <a:blip r:embed="rId9"/>
              <a:stretch>
                <a:fillRect t="-5771" b="-7179"/>
              </a:stretch>
            </a:blipFill>
          </p:spPr>
          <p:txBody>
            <a:bodyPr/>
            <a:lstStyle/>
            <a:p>
              <a:endParaRPr lang="en-ID"/>
            </a:p>
          </p:txBody>
        </p:sp>
        <p:sp>
          <p:nvSpPr>
            <p:cNvPr id="26" name="Freeform 26"/>
            <p:cNvSpPr/>
            <p:nvPr/>
          </p:nvSpPr>
          <p:spPr>
            <a:xfrm>
              <a:off x="10646842" y="240223"/>
              <a:ext cx="1074071" cy="1047220"/>
            </a:xfrm>
            <a:custGeom>
              <a:avLst/>
              <a:gdLst/>
              <a:ahLst/>
              <a:cxnLst/>
              <a:rect l="l" t="t" r="r" b="b"/>
              <a:pathLst>
                <a:path w="1074071" h="1047220">
                  <a:moveTo>
                    <a:pt x="0" y="0"/>
                  </a:moveTo>
                  <a:lnTo>
                    <a:pt x="1074071" y="0"/>
                  </a:lnTo>
                  <a:lnTo>
                    <a:pt x="1074071" y="1047219"/>
                  </a:lnTo>
                  <a:lnTo>
                    <a:pt x="0" y="1047219"/>
                  </a:lnTo>
                  <a:lnTo>
                    <a:pt x="0" y="0"/>
                  </a:lnTo>
                  <a:close/>
                </a:path>
              </a:pathLst>
            </a:custGeom>
            <a:blipFill>
              <a:blip r:embed="rId10"/>
              <a:stretch>
                <a:fillRect/>
              </a:stretch>
            </a:blipFill>
          </p:spPr>
          <p:txBody>
            <a:bodyPr/>
            <a:lstStyle/>
            <a:p>
              <a:endParaRPr lang="en-ID"/>
            </a:p>
          </p:txBody>
        </p:sp>
        <p:sp>
          <p:nvSpPr>
            <p:cNvPr id="27" name="Freeform 27"/>
            <p:cNvSpPr/>
            <p:nvPr/>
          </p:nvSpPr>
          <p:spPr>
            <a:xfrm>
              <a:off x="11847614" y="234736"/>
              <a:ext cx="801661" cy="1058193"/>
            </a:xfrm>
            <a:custGeom>
              <a:avLst/>
              <a:gdLst/>
              <a:ahLst/>
              <a:cxnLst/>
              <a:rect l="l" t="t" r="r" b="b"/>
              <a:pathLst>
                <a:path w="801661" h="1058193">
                  <a:moveTo>
                    <a:pt x="0" y="0"/>
                  </a:moveTo>
                  <a:lnTo>
                    <a:pt x="801661" y="0"/>
                  </a:lnTo>
                  <a:lnTo>
                    <a:pt x="801661" y="1058193"/>
                  </a:lnTo>
                  <a:lnTo>
                    <a:pt x="0" y="1058193"/>
                  </a:lnTo>
                  <a:lnTo>
                    <a:pt x="0" y="0"/>
                  </a:lnTo>
                  <a:close/>
                </a:path>
              </a:pathLst>
            </a:custGeom>
            <a:blipFill>
              <a:blip r:embed="rId11"/>
              <a:stretch>
                <a:fillRect/>
              </a:stretch>
            </a:blipFill>
          </p:spPr>
          <p:txBody>
            <a:bodyPr/>
            <a:lstStyle/>
            <a:p>
              <a:endParaRPr lang="en-ID"/>
            </a:p>
          </p:txBody>
        </p:sp>
        <p:sp>
          <p:nvSpPr>
            <p:cNvPr id="28" name="Freeform 28"/>
            <p:cNvSpPr/>
            <p:nvPr/>
          </p:nvSpPr>
          <p:spPr>
            <a:xfrm>
              <a:off x="12775976" y="139028"/>
              <a:ext cx="1248047" cy="1249609"/>
            </a:xfrm>
            <a:custGeom>
              <a:avLst/>
              <a:gdLst/>
              <a:ahLst/>
              <a:cxnLst/>
              <a:rect l="l" t="t" r="r" b="b"/>
              <a:pathLst>
                <a:path w="1248047" h="1249609">
                  <a:moveTo>
                    <a:pt x="0" y="0"/>
                  </a:moveTo>
                  <a:lnTo>
                    <a:pt x="1248047" y="0"/>
                  </a:lnTo>
                  <a:lnTo>
                    <a:pt x="1248047" y="1249609"/>
                  </a:lnTo>
                  <a:lnTo>
                    <a:pt x="0" y="1249609"/>
                  </a:lnTo>
                  <a:lnTo>
                    <a:pt x="0" y="0"/>
                  </a:lnTo>
                  <a:close/>
                </a:path>
              </a:pathLst>
            </a:custGeom>
            <a:blipFill>
              <a:blip r:embed="rId12"/>
              <a:stretch>
                <a:fillRect/>
              </a:stretch>
            </a:blipFill>
          </p:spPr>
          <p:txBody>
            <a:bodyPr/>
            <a:lstStyle/>
            <a:p>
              <a:endParaRPr lang="en-ID"/>
            </a:p>
          </p:txBody>
        </p:sp>
        <p:sp>
          <p:nvSpPr>
            <p:cNvPr id="29" name="Freeform 29"/>
            <p:cNvSpPr/>
            <p:nvPr/>
          </p:nvSpPr>
          <p:spPr>
            <a:xfrm>
              <a:off x="4302940" y="0"/>
              <a:ext cx="953294" cy="1527665"/>
            </a:xfrm>
            <a:custGeom>
              <a:avLst/>
              <a:gdLst/>
              <a:ahLst/>
              <a:cxnLst/>
              <a:rect l="l" t="t" r="r" b="b"/>
              <a:pathLst>
                <a:path w="953294" h="1527665">
                  <a:moveTo>
                    <a:pt x="0" y="0"/>
                  </a:moveTo>
                  <a:lnTo>
                    <a:pt x="953295" y="0"/>
                  </a:lnTo>
                  <a:lnTo>
                    <a:pt x="953295" y="1527665"/>
                  </a:lnTo>
                  <a:lnTo>
                    <a:pt x="0" y="1527665"/>
                  </a:lnTo>
                  <a:lnTo>
                    <a:pt x="0" y="0"/>
                  </a:lnTo>
                  <a:close/>
                </a:path>
              </a:pathLst>
            </a:custGeom>
            <a:blipFill>
              <a:blip r:embed="rId13"/>
              <a:stretch>
                <a:fillRect l="-123525" t="-4141" r="-123525" b="-4141"/>
              </a:stretch>
            </a:blipFill>
          </p:spPr>
          <p:txBody>
            <a:bodyPr/>
            <a:lstStyle/>
            <a:p>
              <a:endParaRPr lang="en-ID"/>
            </a:p>
          </p:txBody>
        </p:sp>
        <p:sp>
          <p:nvSpPr>
            <p:cNvPr id="30" name="Freeform 30"/>
            <p:cNvSpPr/>
            <p:nvPr/>
          </p:nvSpPr>
          <p:spPr>
            <a:xfrm>
              <a:off x="0" y="303854"/>
              <a:ext cx="919957" cy="919957"/>
            </a:xfrm>
            <a:custGeom>
              <a:avLst/>
              <a:gdLst/>
              <a:ahLst/>
              <a:cxnLst/>
              <a:rect l="l" t="t" r="r" b="b"/>
              <a:pathLst>
                <a:path w="919957" h="919957">
                  <a:moveTo>
                    <a:pt x="0" y="0"/>
                  </a:moveTo>
                  <a:lnTo>
                    <a:pt x="919957" y="0"/>
                  </a:lnTo>
                  <a:lnTo>
                    <a:pt x="919957" y="919957"/>
                  </a:lnTo>
                  <a:lnTo>
                    <a:pt x="0" y="919957"/>
                  </a:lnTo>
                  <a:lnTo>
                    <a:pt x="0" y="0"/>
                  </a:lnTo>
                  <a:close/>
                </a:path>
              </a:pathLst>
            </a:custGeom>
            <a:blipFill>
              <a:blip r:embed="rId14"/>
              <a:stretch>
                <a:fillRect/>
              </a:stretch>
            </a:blipFill>
          </p:spPr>
          <p:txBody>
            <a:bodyPr/>
            <a:lstStyle/>
            <a:p>
              <a:endParaRPr lang="en-ID"/>
            </a:p>
          </p:txBody>
        </p:sp>
        <p:sp>
          <p:nvSpPr>
            <p:cNvPr id="31" name="TextBox 31"/>
            <p:cNvSpPr txBox="1"/>
            <p:nvPr/>
          </p:nvSpPr>
          <p:spPr>
            <a:xfrm>
              <a:off x="1049687" y="442036"/>
              <a:ext cx="3066435" cy="648027"/>
            </a:xfrm>
            <a:prstGeom prst="rect">
              <a:avLst/>
            </a:prstGeom>
          </p:spPr>
          <p:txBody>
            <a:bodyPr lIns="0" tIns="0" rIns="0" bIns="0" rtlCol="0" anchor="t">
              <a:spAutoFit/>
            </a:bodyPr>
            <a:lstStyle/>
            <a:p>
              <a:pPr algn="l">
                <a:lnSpc>
                  <a:spcPts val="1368"/>
                </a:lnSpc>
              </a:pPr>
              <a:r>
                <a:rPr lang="en-US" sz="977" b="1">
                  <a:solidFill>
                    <a:srgbClr val="000000"/>
                  </a:solidFill>
                  <a:latin typeface="Rubik Medium Bold"/>
                  <a:ea typeface="Rubik Medium Bold"/>
                  <a:cs typeface="Rubik Medium Bold"/>
                  <a:sym typeface="Rubik Medium Bold"/>
                </a:rPr>
                <a:t>KEMENTERIAN  PENDIDIKAN TINGGI,</a:t>
              </a:r>
            </a:p>
            <a:p>
              <a:pPr algn="l">
                <a:lnSpc>
                  <a:spcPts val="1368"/>
                </a:lnSpc>
              </a:pPr>
              <a:r>
                <a:rPr lang="en-US" sz="977" b="1">
                  <a:solidFill>
                    <a:srgbClr val="000000"/>
                  </a:solidFill>
                  <a:latin typeface="Rubik Medium Bold"/>
                  <a:ea typeface="Rubik Medium Bold"/>
                  <a:cs typeface="Rubik Medium Bold"/>
                  <a:sym typeface="Rubik Medium Bold"/>
                </a:rPr>
                <a:t>SAINS, DAN TEKNOLOGI</a:t>
              </a:r>
            </a:p>
            <a:p>
              <a:pPr algn="l">
                <a:lnSpc>
                  <a:spcPts val="1368"/>
                </a:lnSpc>
                <a:spcBef>
                  <a:spcPct val="0"/>
                </a:spcBef>
              </a:pPr>
              <a:r>
                <a:rPr lang="en-US" sz="977">
                  <a:solidFill>
                    <a:srgbClr val="000000"/>
                  </a:solidFill>
                  <a:latin typeface="Rubik Medium"/>
                  <a:ea typeface="Rubik Medium"/>
                  <a:cs typeface="Rubik Medium"/>
                  <a:sym typeface="Rubik Medium"/>
                </a:rPr>
                <a:t>REPUBLIK INDONESIA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673</Words>
  <Application>Microsoft Office PowerPoint</Application>
  <PresentationFormat>Custom</PresentationFormat>
  <Paragraphs>67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vt:lpstr>
      <vt:lpstr>Calibri</vt:lpstr>
      <vt:lpstr>Rubik Medium</vt:lpstr>
      <vt:lpstr>Rubik Medium Bold</vt:lpstr>
      <vt:lpstr>Poppins Bold</vt:lpstr>
      <vt:lpstr>Arial</vt:lpstr>
      <vt:lpstr>Georgia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Students Conference</dc:title>
  <cp:lastModifiedBy>Rama Pramudya</cp:lastModifiedBy>
  <cp:revision>13</cp:revision>
  <dcterms:created xsi:type="dcterms:W3CDTF">2006-08-16T00:00:00Z</dcterms:created>
  <dcterms:modified xsi:type="dcterms:W3CDTF">2026-05-19T10:30:41Z</dcterms:modified>
  <dc:identifier>DAHJjf33VwI</dc:identifier>
</cp:coreProperties>
</file>